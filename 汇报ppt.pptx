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74" r:id="rId4"/>
    <p:sldId id="276" r:id="rId5"/>
    <p:sldId id="275" r:id="rId6"/>
    <p:sldId id="284" r:id="rId7"/>
    <p:sldId id="259" r:id="rId8"/>
    <p:sldId id="258" r:id="rId9"/>
    <p:sldId id="281" r:id="rId10"/>
    <p:sldId id="282" r:id="rId11"/>
    <p:sldId id="261" r:id="rId12"/>
    <p:sldId id="262" r:id="rId13"/>
    <p:sldId id="283" r:id="rId14"/>
    <p:sldId id="263" r:id="rId15"/>
    <p:sldId id="270" r:id="rId16"/>
    <p:sldId id="269" r:id="rId17"/>
    <p:sldId id="268" r:id="rId18"/>
    <p:sldId id="271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2CD40-6DB3-4114-876C-0DA25F20C0E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6F96C-83FD-482A-8000-91472315A8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62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6F96C-83FD-482A-8000-91472315A8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08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6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4.png"/><Relationship Id="rId5" Type="http://schemas.microsoft.com/office/2007/relationships/media" Target="../media/media3.mp4"/><Relationship Id="rId10" Type="http://schemas.openxmlformats.org/officeDocument/2006/relationships/image" Target="../media/image3.pn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png"/><Relationship Id="rId1" Type="http://schemas.openxmlformats.org/officeDocument/2006/relationships/tags" Target="../tags/tag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retina_cover.png">
            <a:extLst>
              <a:ext uri="{FF2B5EF4-FFF2-40B4-BE49-F238E27FC236}">
                <a16:creationId xmlns:a16="http://schemas.microsoft.com/office/drawing/2014/main" id="{0636DDAB-3FDA-5A83-4F59-28519A4EB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C116322C-C90C-7085-9FFF-1C74F328B9A3}"/>
              </a:ext>
            </a:extLst>
          </p:cNvPr>
          <p:cNvSpPr txBox="1"/>
          <p:nvPr/>
        </p:nvSpPr>
        <p:spPr>
          <a:xfrm>
            <a:off x="562927" y="1514475"/>
            <a:ext cx="81024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基于视频的视网膜脱离与黄斑状态检测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祝瑞晨 何锐杰</a:t>
            </a:r>
            <a:endParaRPr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rPr>
                <a:solidFill>
                  <a:schemeClr val="bg1"/>
                </a:solidFill>
              </a:rPr>
              <a:t>2026年5月</a:t>
            </a:r>
          </a:p>
        </p:txBody>
      </p:sp>
    </p:spTree>
    <p:extLst>
      <p:ext uri="{BB962C8B-B14F-4D97-AF65-F5344CB8AC3E}">
        <p14:creationId xmlns:p14="http://schemas.microsoft.com/office/powerpoint/2010/main" val="15193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26269" y="495668"/>
            <a:ext cx="117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 / 10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7D3E1D8-7BD0-410A-3D49-AF4FDBFC1420}"/>
              </a:ext>
            </a:extLst>
          </p:cNvPr>
          <p:cNvSpPr txBox="1"/>
          <p:nvPr/>
        </p:nvSpPr>
        <p:spPr>
          <a:xfrm>
            <a:off x="1790962" y="1456733"/>
            <a:ext cx="8929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三、项目安排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四、方法与实现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实验与结果分析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六、未来工作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3ECF-54EC-1161-57D6-3B8CF5EF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ABB796-BA9C-0918-2534-72C9CD37DEC0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29EC3-792E-6080-93C8-3B1661F23C43}"/>
              </a:ext>
            </a:extLst>
          </p:cNvPr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B87E3-3586-B84C-37D3-D881AB3FD56B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73833-55FF-77E4-1693-1BB1AB3FD7FE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4A954-0A0F-7942-A90E-58EBB7E63330}"/>
              </a:ext>
            </a:extLst>
          </p:cNvPr>
          <p:cNvSpPr txBox="1"/>
          <p:nvPr/>
        </p:nvSpPr>
        <p:spPr>
          <a:xfrm>
            <a:off x="1169469" y="145161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解决什么问题？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A8D38-EE9E-BB63-A3F2-D42EF0D44F89}"/>
              </a:ext>
            </a:extLst>
          </p:cNvPr>
          <p:cNvSpPr txBox="1"/>
          <p:nvPr/>
        </p:nvSpPr>
        <p:spPr>
          <a:xfrm>
            <a:off x="1169469" y="3226454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构建什么样的数据集？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9E71F-99F2-E4E8-53F7-9F1C80B520DE}"/>
              </a:ext>
            </a:extLst>
          </p:cNvPr>
          <p:cNvSpPr txBox="1"/>
          <p:nvPr/>
        </p:nvSpPr>
        <p:spPr>
          <a:xfrm>
            <a:off x="1257756" y="1912075"/>
            <a:ext cx="8407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/>
              <a:t>诊断视网膜是否脱离，对于视网膜脱离，进一步诊断黄斑受累情况，判断手术紧迫性。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05DE2-7E16-169B-5CB1-D8FEDC01C1B2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8A30C5-3096-5D46-0966-BA852564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69" y="3899697"/>
            <a:ext cx="8843211" cy="161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0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1511-E78E-BC1C-AB41-04F1C98E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FE256-9618-9FB4-6A73-31684A957770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C8E95-BA1E-0AB2-D5C1-0D2D27745AE7}"/>
              </a:ext>
            </a:extLst>
          </p:cNvPr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2C6F5-4E0F-6A8C-115C-0EEC1F3EF8BE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DECBB-740B-C077-80FC-C9DB9C78D0D2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8FC0D-266D-541A-D609-E6866CE72003}"/>
              </a:ext>
            </a:extLst>
          </p:cNvPr>
          <p:cNvSpPr txBox="1"/>
          <p:nvPr/>
        </p:nvSpPr>
        <p:spPr>
          <a:xfrm>
            <a:off x="868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ERDES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1D343-96AB-6F94-1F8C-E21B072BB18D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F4C5FBE-7D1D-286C-C0B3-5B2F59F4702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9157"/>
          <a:stretch>
            <a:fillRect/>
          </a:stretch>
        </p:blipFill>
        <p:spPr>
          <a:xfrm>
            <a:off x="534203" y="2370865"/>
            <a:ext cx="2969394" cy="3343491"/>
          </a:xfrm>
          <a:prstGeom prst="rect">
            <a:avLst/>
          </a:prstGeom>
        </p:spPr>
      </p:pic>
      <p:sp>
        <p:nvSpPr>
          <p:cNvPr id="10" name="TextBox 3"/>
          <p:cNvSpPr txBox="1"/>
          <p:nvPr/>
        </p:nvSpPr>
        <p:spPr>
          <a:xfrm>
            <a:off x="6918158" y="1299169"/>
            <a:ext cx="1691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Normal （正常）</a:t>
            </a:r>
          </a:p>
        </p:txBody>
      </p:sp>
      <p:pic>
        <p:nvPicPr>
          <p:cNvPr id="12" name="Normal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918158" y="1591778"/>
            <a:ext cx="1691640" cy="169164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6918158" y="331085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</a:defRPr>
            </a:pPr>
            <a:r>
              <a:t>4233 clips (78.7%)  |  无需处理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6918158" y="353945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</a:defRPr>
            </a:pPr>
            <a:r>
              <a:t>视网膜紧贴眼球后壁，呈光滑纤细的高回声线，无膜状回声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8774390" y="129916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PVD （玻璃体后脱离）</a:t>
            </a:r>
          </a:p>
        </p:txBody>
      </p:sp>
      <p:pic>
        <p:nvPicPr>
          <p:cNvPr id="17" name="PV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774390" y="1591778"/>
            <a:ext cx="1691640" cy="1691640"/>
          </a:xfrm>
          <a:prstGeom prst="rect">
            <a:avLst/>
          </a:prstGeom>
        </p:spPr>
      </p:pic>
      <p:sp>
        <p:nvSpPr>
          <p:cNvPr id="18" name="TextBox 9"/>
          <p:cNvSpPr txBox="1"/>
          <p:nvPr/>
        </p:nvSpPr>
        <p:spPr>
          <a:xfrm>
            <a:off x="8774390" y="331085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498DB"/>
                </a:solidFill>
              </a:defRPr>
            </a:pPr>
            <a:r>
              <a:t>646 clips (12.0%)  |  定期随访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8774390" y="353945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</a:defRPr>
            </a:pPr>
            <a:r>
              <a:t>纤细可移动膜状回声，不锚定于视神经，随眼球运动摆动明显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6796398" y="3874651"/>
            <a:ext cx="19779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Macula Detached （黄斑脱离）</a:t>
            </a:r>
          </a:p>
        </p:txBody>
      </p:sp>
      <p:pic>
        <p:nvPicPr>
          <p:cNvPr id="21" name="Macula_Detached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918158" y="4167260"/>
            <a:ext cx="1691640" cy="1691640"/>
          </a:xfrm>
          <a:prstGeom prst="rect">
            <a:avLst/>
          </a:prstGeom>
        </p:spPr>
      </p:pic>
      <p:sp>
        <p:nvSpPr>
          <p:cNvPr id="22" name="TextBox 13"/>
          <p:cNvSpPr txBox="1"/>
          <p:nvPr/>
        </p:nvSpPr>
        <p:spPr>
          <a:xfrm>
            <a:off x="6918158" y="5886332"/>
            <a:ext cx="1768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74C3C"/>
                </a:solidFill>
              </a:defRPr>
            </a:pPr>
            <a:r>
              <a:t>303 clips (5.6%)  |  1-2周内择期手术</a:t>
            </a:r>
          </a:p>
        </p:txBody>
      </p:sp>
      <p:sp>
        <p:nvSpPr>
          <p:cNvPr id="23" name="TextBox 14"/>
          <p:cNvSpPr txBox="1"/>
          <p:nvPr/>
        </p:nvSpPr>
        <p:spPr>
          <a:xfrm>
            <a:off x="6918158" y="6114932"/>
            <a:ext cx="17686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</a:defRPr>
            </a:pPr>
            <a:r>
              <a:t>明亮的V/Y形高回声膜，锚定于视盘，已延伸至黄斑区</a:t>
            </a:r>
          </a:p>
        </p:txBody>
      </p:sp>
      <p:sp>
        <p:nvSpPr>
          <p:cNvPr id="24" name="TextBox 15"/>
          <p:cNvSpPr txBox="1"/>
          <p:nvPr/>
        </p:nvSpPr>
        <p:spPr>
          <a:xfrm>
            <a:off x="8774390" y="3874651"/>
            <a:ext cx="18615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Macula Intact （黄斑未脱离）</a:t>
            </a:r>
          </a:p>
        </p:txBody>
      </p:sp>
      <p:pic>
        <p:nvPicPr>
          <p:cNvPr id="25" name="Macula_Intact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774390" y="4167260"/>
            <a:ext cx="1691640" cy="1691640"/>
          </a:xfrm>
          <a:prstGeom prst="rect">
            <a:avLst/>
          </a:prstGeom>
        </p:spPr>
      </p:pic>
      <p:sp>
        <p:nvSpPr>
          <p:cNvPr id="26" name="TextBox 17"/>
          <p:cNvSpPr txBox="1"/>
          <p:nvPr/>
        </p:nvSpPr>
        <p:spPr>
          <a:xfrm>
            <a:off x="8774390" y="58863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7E22"/>
                </a:solidFill>
              </a:defRPr>
            </a:pPr>
            <a:r>
              <a:t>199 clips (3.7%)  |  24h内急诊手术</a:t>
            </a:r>
          </a:p>
        </p:txBody>
      </p:sp>
      <p:sp>
        <p:nvSpPr>
          <p:cNvPr id="27" name="TextBox 18"/>
          <p:cNvSpPr txBox="1"/>
          <p:nvPr/>
        </p:nvSpPr>
        <p:spPr>
          <a:xfrm>
            <a:off x="8774390" y="6114932"/>
            <a:ext cx="17793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</a:defRPr>
            </a:pPr>
            <a:r>
              <a:t>明亮的V/Y形高回声膜，锚定于视盘，尚未延伸至黄斑区</a:t>
            </a:r>
          </a:p>
        </p:txBody>
      </p:sp>
      <p:sp>
        <p:nvSpPr>
          <p:cNvPr id="29" name="Rounded Rectangle 20"/>
          <p:cNvSpPr/>
          <p:nvPr/>
        </p:nvSpPr>
        <p:spPr>
          <a:xfrm>
            <a:off x="3561349" y="3312053"/>
            <a:ext cx="2011680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全部数据 (5,381)</a:t>
            </a:r>
          </a:p>
        </p:txBody>
      </p:sp>
      <p:sp>
        <p:nvSpPr>
          <p:cNvPr id="30" name="Rounded Rectangle 21"/>
          <p:cNvSpPr/>
          <p:nvPr/>
        </p:nvSpPr>
        <p:spPr>
          <a:xfrm>
            <a:off x="3503597" y="3807754"/>
            <a:ext cx="972151" cy="32004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00000"/>
                </a:solidFill>
              </a:defRPr>
            </a:pPr>
            <a:r>
              <a:t>Non-RD (4,879</a:t>
            </a:r>
            <a:r>
              <a:rPr lang="en-US"/>
              <a:t>,90.7%</a:t>
            </a:r>
            <a:r>
              <a:t>)</a:t>
            </a:r>
          </a:p>
        </p:txBody>
      </p:sp>
      <p:sp>
        <p:nvSpPr>
          <p:cNvPr id="31" name="Rounded Rectangle 22"/>
          <p:cNvSpPr/>
          <p:nvPr/>
        </p:nvSpPr>
        <p:spPr>
          <a:xfrm>
            <a:off x="4677879" y="3807754"/>
            <a:ext cx="943275" cy="32004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00000"/>
                </a:solidFill>
              </a:defRPr>
            </a:pPr>
            <a:r>
              <a:t>RD (502</a:t>
            </a:r>
            <a:r>
              <a:rPr lang="en-US"/>
              <a:t>,9.3%</a:t>
            </a:r>
            <a:r>
              <a:t>)</a:t>
            </a:r>
          </a:p>
        </p:txBody>
      </p:sp>
      <p:sp>
        <p:nvSpPr>
          <p:cNvPr id="32" name="Rounded Rectangle 23"/>
          <p:cNvSpPr/>
          <p:nvPr/>
        </p:nvSpPr>
        <p:spPr>
          <a:xfrm>
            <a:off x="3503597" y="4356394"/>
            <a:ext cx="972151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Normal: 4,233</a:t>
            </a:r>
            <a:r>
              <a:rPr lang="en-US"/>
              <a:t>,78.7%</a:t>
            </a:r>
            <a:endParaRPr/>
          </a:p>
        </p:txBody>
      </p:sp>
      <p:sp>
        <p:nvSpPr>
          <p:cNvPr id="33" name="Rounded Rectangle 24"/>
          <p:cNvSpPr/>
          <p:nvPr/>
        </p:nvSpPr>
        <p:spPr>
          <a:xfrm>
            <a:off x="3503597" y="4722154"/>
            <a:ext cx="972151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PVD: 646</a:t>
            </a:r>
            <a:r>
              <a:rPr lang="en-US"/>
              <a:t>,12.0%</a:t>
            </a:r>
            <a:endParaRPr/>
          </a:p>
        </p:txBody>
      </p:sp>
      <p:sp>
        <p:nvSpPr>
          <p:cNvPr id="34" name="Rounded Rectangle 25"/>
          <p:cNvSpPr/>
          <p:nvPr/>
        </p:nvSpPr>
        <p:spPr>
          <a:xfrm>
            <a:off x="4677879" y="4356394"/>
            <a:ext cx="943275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M. Detached: 303</a:t>
            </a:r>
            <a:r>
              <a:rPr lang="en-US"/>
              <a:t>,5.6%</a:t>
            </a:r>
            <a:endParaRPr/>
          </a:p>
        </p:txBody>
      </p:sp>
      <p:sp>
        <p:nvSpPr>
          <p:cNvPr id="35" name="Rounded Rectangle 26"/>
          <p:cNvSpPr/>
          <p:nvPr/>
        </p:nvSpPr>
        <p:spPr>
          <a:xfrm>
            <a:off x="4677879" y="4722154"/>
            <a:ext cx="943275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M. Intact: 199</a:t>
            </a:r>
            <a:r>
              <a:rPr lang="en-US"/>
              <a:t>,3.7%</a:t>
            </a:r>
            <a:endParaRPr/>
          </a:p>
        </p:txBody>
      </p:sp>
      <p:sp>
        <p:nvSpPr>
          <p:cNvPr id="37" name="Rounded Rectangle 28"/>
          <p:cNvSpPr/>
          <p:nvPr/>
        </p:nvSpPr>
        <p:spPr>
          <a:xfrm>
            <a:off x="694944" y="5714356"/>
            <a:ext cx="5235181" cy="82296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t>⭐  关键事实：极度类别不平衡 — RD 仅占 9.3%，但它是临床最需要检出的类别。</a:t>
            </a:r>
            <a:br/>
            <a:r>
              <a:t>⭐  PVD 与 RD 在超声图像上极为相似（均呈膜状回声），是最容易混淆的类别对。</a:t>
            </a:r>
            <a:br/>
            <a:r>
              <a:t>⭐  数据分布反映真实急诊场景：大多数就诊者无 RD，少数确诊 RD 中黄斑脱离占多数。</a:t>
            </a:r>
          </a:p>
        </p:txBody>
      </p:sp>
    </p:spTree>
    <p:extLst>
      <p:ext uri="{BB962C8B-B14F-4D97-AF65-F5344CB8AC3E}">
        <p14:creationId xmlns:p14="http://schemas.microsoft.com/office/powerpoint/2010/main" val="3592531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E9BC-C453-DF60-53E1-01F396A5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F05333-5E43-DE2C-5128-BD749BEC916B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8EEC6-85BC-52AA-4663-612A1D25C5C8}"/>
              </a:ext>
            </a:extLst>
          </p:cNvPr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271F3-8FBB-19DB-9363-D5752AD78463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113FA3-85DB-F54C-4A8D-65E636F73DAC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2C96B-9E7E-CE9D-A99E-1BCFC26A4A43}"/>
              </a:ext>
            </a:extLst>
          </p:cNvPr>
          <p:cNvSpPr txBox="1"/>
          <p:nvPr/>
        </p:nvSpPr>
        <p:spPr>
          <a:xfrm>
            <a:off x="868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为什么是超声视频？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6169C-EDFA-E78E-4D0A-3B7FFBB66D56}"/>
              </a:ext>
            </a:extLst>
          </p:cNvPr>
          <p:cNvSpPr txBox="1"/>
          <p:nvPr/>
        </p:nvSpPr>
        <p:spPr>
          <a:xfrm>
            <a:off x="868679" y="1920240"/>
            <a:ext cx="6913179" cy="1684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15000"/>
              </a:lnSpc>
              <a:buFont typeface="+mj-lt"/>
              <a:buAutoNum type="alphaLcParenR"/>
            </a:pPr>
            <a:r>
              <a:rPr lang="en-US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Why </a:t>
            </a:r>
            <a:r>
              <a:rPr lang="zh-CN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超声？</a:t>
            </a:r>
            <a:r>
              <a:rPr lang="zh-CN" altLang="en-US"/>
              <a:t>超声是浑浊介质下唯一有效的眼底检查手段</a:t>
            </a:r>
          </a:p>
          <a:p>
            <a:pPr marL="742950" lvl="1" indent="-285750">
              <a:lnSpc>
                <a:spcPct val="115000"/>
              </a:lnSpc>
              <a:buFont typeface="+mj-lt"/>
              <a:buAutoNum type="alphaLcParenR"/>
            </a:pPr>
            <a:r>
              <a:rPr lang="zh-CN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超声充满瞬时噪声</a:t>
            </a:r>
          </a:p>
          <a:p>
            <a:pPr marL="742950" lvl="1" indent="-285750">
              <a:lnSpc>
                <a:spcPct val="115000"/>
              </a:lnSpc>
              <a:buFont typeface="+mj-lt"/>
              <a:buAutoNum type="alphaLcParenR"/>
            </a:pPr>
            <a:r>
              <a:rPr lang="zh-CN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捕捉运动特征（</a:t>
            </a:r>
            <a:r>
              <a:rPr lang="en-US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RDvsPVD</a:t>
            </a:r>
            <a:r>
              <a:rPr lang="zh-CN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zh-CN" altLang="zh-CN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捕捉轨迹特征（黄斑判定高度依赖） 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D2FC6E-E5F0-14D1-F25B-3EB4936AE0D6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371421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FB73D-CEB0-946D-F398-FB42909A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2DB8A5-3E79-ADC8-DFF1-71B50D37B382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D70E4-18FF-0486-DA6E-37459269E99E}"/>
              </a:ext>
            </a:extLst>
          </p:cNvPr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FF147-EC9A-44C0-C699-FF8A8613F1AA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E977B9-32F8-ABDB-BEE8-D64583A85849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17504-7476-B59C-66A4-1A1634794CE0}"/>
              </a:ext>
            </a:extLst>
          </p:cNvPr>
          <p:cNvSpPr txBox="1"/>
          <p:nvPr/>
        </p:nvSpPr>
        <p:spPr>
          <a:xfrm>
            <a:off x="868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任务定义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960E4-CEBA-4157-7E23-408F515473F0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801172A3-6A40-DA09-7F22-CAD7C4DCB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76247"/>
              </p:ext>
            </p:extLst>
          </p:nvPr>
        </p:nvGraphicFramePr>
        <p:xfrm>
          <a:off x="5096510" y="1508760"/>
          <a:ext cx="6126480" cy="238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正类 (1)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负类 (0)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样本量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难点分析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non_rd_vs_rd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Non-RD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(Normal+PVD)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5,384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极度不平衡 (RD仅9.3%)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正类样本极少，易过拟合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macula_detached</a:t>
                      </a:r>
                    </a:p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_vs_intact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Macula Intact</a:t>
                      </a:r>
                    </a:p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(黄斑未脱离)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Macula Detached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(黄斑脱离)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样本量最少 (仅502 RD)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RD内部细粒度区分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normal_vs_pvd  ★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PVD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4,879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★ 最难任务！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PVD回声弱、帧间可见性低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需时序选择性池化策略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normal_vs_rd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4,738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PVD被排除，信号纯净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不平衡 (RD仅10.6%)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pvd_vs_rd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PVD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临床最重要鉴别诊断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PVD/RD超声表现高度相似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4">
            <a:extLst>
              <a:ext uri="{FF2B5EF4-FFF2-40B4-BE49-F238E27FC236}">
                <a16:creationId xmlns:a16="http://schemas.microsoft.com/office/drawing/2014/main" id="{97524B4F-3778-B954-44D7-13C77CCD0C53}"/>
              </a:ext>
            </a:extLst>
          </p:cNvPr>
          <p:cNvSpPr txBox="1"/>
          <p:nvPr/>
        </p:nvSpPr>
        <p:spPr>
          <a:xfrm>
            <a:off x="5050790" y="421386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rPr sz="1300"/>
              <a:t>诊断管线 (Diagnostic Pipeline)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535E701-4FD9-94FA-8EAE-7584BA85EC78}"/>
              </a:ext>
            </a:extLst>
          </p:cNvPr>
          <p:cNvSpPr/>
          <p:nvPr/>
        </p:nvSpPr>
        <p:spPr>
          <a:xfrm>
            <a:off x="5050790" y="4579620"/>
            <a:ext cx="137160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00000"/>
                </a:solidFill>
              </a:defRPr>
            </a:pPr>
            <a:r>
              <a:rPr sz="1000"/>
              <a:t>输入 B超视频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143888EC-5CB8-AA88-152E-C912E045B6C0}"/>
              </a:ext>
            </a:extLst>
          </p:cNvPr>
          <p:cNvSpPr/>
          <p:nvPr/>
        </p:nvSpPr>
        <p:spPr>
          <a:xfrm>
            <a:off x="6696710" y="4579620"/>
            <a:ext cx="2011680" cy="457200"/>
          </a:xfrm>
          <a:prstGeom prst="round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</a:defRPr>
            </a:pPr>
            <a:r>
              <a:rPr sz="900"/>
              <a:t>Stage 1: non_rd_vs_rd</a:t>
            </a:r>
            <a:br>
              <a:rPr sz="900"/>
            </a:br>
            <a:r>
              <a:rPr sz="900"/>
              <a:t>Sensitivity 0.939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9712F240-7124-5416-9CD5-86B140AA6839}"/>
              </a:ext>
            </a:extLst>
          </p:cNvPr>
          <p:cNvSpPr/>
          <p:nvPr/>
        </p:nvSpPr>
        <p:spPr>
          <a:xfrm>
            <a:off x="6879590" y="5219700"/>
            <a:ext cx="1645920" cy="320040"/>
          </a:xfrm>
          <a:prstGeom prst="round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000000"/>
                </a:solidFill>
              </a:defRPr>
            </a:pPr>
            <a:r>
              <a:rPr sz="900"/>
              <a:t>→ Non-RD: 报告无RD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498AE711-A5C4-7452-8C0C-EC8025690528}"/>
              </a:ext>
            </a:extLst>
          </p:cNvPr>
          <p:cNvSpPr/>
          <p:nvPr/>
        </p:nvSpPr>
        <p:spPr>
          <a:xfrm>
            <a:off x="8982710" y="4579620"/>
            <a:ext cx="2011680" cy="4572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00"/>
                </a:solidFill>
              </a:defRPr>
            </a:pPr>
            <a:r>
              <a:rPr sz="900"/>
              <a:t>Stage 2: macula_detached</a:t>
            </a:r>
            <a:br>
              <a:rPr sz="900"/>
            </a:br>
            <a:r>
              <a:rPr sz="900"/>
              <a:t>_vs_intact  Sens 0.899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576397AF-FDDC-144F-85AC-6C18720A8979}"/>
              </a:ext>
            </a:extLst>
          </p:cNvPr>
          <p:cNvSpPr/>
          <p:nvPr/>
        </p:nvSpPr>
        <p:spPr>
          <a:xfrm>
            <a:off x="9165590" y="5219700"/>
            <a:ext cx="1645920" cy="320040"/>
          </a:xfrm>
          <a:prstGeom prst="round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</a:defRPr>
            </a:pPr>
            <a:r>
              <a:rPr sz="800"/>
              <a:t>→ Macula Detached: 择期手术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F1E162DD-26BA-EE43-436D-CBB6C7708BFA}"/>
              </a:ext>
            </a:extLst>
          </p:cNvPr>
          <p:cNvSpPr/>
          <p:nvPr/>
        </p:nvSpPr>
        <p:spPr>
          <a:xfrm>
            <a:off x="9165590" y="5631180"/>
            <a:ext cx="1645920" cy="320040"/>
          </a:xfrm>
          <a:prstGeom prst="round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</a:defRPr>
            </a:pPr>
            <a:r>
              <a:rPr sz="800"/>
              <a:t>→ Macula Intact: 急诊手术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2416D6DE-7AFE-CEEC-0E95-6C6DA1EC8220}"/>
              </a:ext>
            </a:extLst>
          </p:cNvPr>
          <p:cNvSpPr/>
          <p:nvPr/>
        </p:nvSpPr>
        <p:spPr>
          <a:xfrm>
            <a:off x="5050790" y="5951220"/>
            <a:ext cx="3291840" cy="3200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2C3E50"/>
                </a:solidFill>
              </a:defRPr>
            </a:pPr>
            <a:r>
              <a:rPr sz="1100"/>
              <a:t>端到端 Sensitivity: 0.844 (= 0.939 × 0.899)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D3D616-79E2-C880-BB53-64AF0393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252"/>
          <a:stretch>
            <a:fillRect/>
          </a:stretch>
        </p:blipFill>
        <p:spPr>
          <a:xfrm>
            <a:off x="1067979" y="2024888"/>
            <a:ext cx="2801801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0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相关工作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6130" y="2092960"/>
            <a:ext cx="3429000" cy="2560320"/>
          </a:xfrm>
          <a:prstGeom prst="rect">
            <a:avLst/>
          </a:prstGeom>
          <a:solidFill>
            <a:srgbClr val="F0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730" y="22575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9A"/>
                </a:solidFill>
                <a:latin typeface="Microsoft YaHei"/>
              </a:defRPr>
            </a:pPr>
            <a:r>
              <a:t>CV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730" y="26233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手工特征时代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730" y="30988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SIFT、HOG等传统算子</a:t>
            </a:r>
            <a:br/>
            <a:r>
              <a:t>依赖专家经验设计</a:t>
            </a:r>
            <a:br/>
            <a:r>
              <a:t>泛化能力有限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60850" y="3190240"/>
            <a:ext cx="320040" cy="274320"/>
          </a:xfrm>
          <a:prstGeom prst="rightArrow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0890" y="2092960"/>
            <a:ext cx="3429000" cy="2560320"/>
          </a:xfrm>
          <a:prstGeom prst="rect">
            <a:avLst/>
          </a:prstGeom>
          <a:solidFill>
            <a:srgbClr val="F0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490" y="22575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9A"/>
                </a:solidFill>
                <a:latin typeface="Microsoft YaHei"/>
              </a:defRPr>
            </a:pPr>
            <a:r>
              <a:t>CV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490" y="26233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空间分割时代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490" y="30988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U-Net为核心的编解码架构</a:t>
            </a:r>
            <a:br/>
            <a:r>
              <a:t>跳跃连接实现多尺度融合</a:t>
            </a:r>
            <a:br/>
            <a:r>
              <a:t>医学图像分割新范式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55610" y="3190240"/>
            <a:ext cx="320040" cy="274320"/>
          </a:xfrm>
          <a:prstGeom prst="rightArrow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75650" y="2092960"/>
            <a:ext cx="3429000" cy="2560320"/>
          </a:xfrm>
          <a:prstGeom prst="rect">
            <a:avLst/>
          </a:prstGeom>
          <a:solidFill>
            <a:srgbClr val="F0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250" y="22575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9A"/>
                </a:solidFill>
                <a:latin typeface="Microsoft YaHei"/>
              </a:defRPr>
            </a:pPr>
            <a:r>
              <a:t>CV 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250" y="26233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时空建模时代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250" y="30988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3D-CNN / Transformer</a:t>
            </a:r>
            <a:br/>
            <a:r>
              <a:t>同时捕获空间+时间特征</a:t>
            </a:r>
            <a:br/>
            <a:r>
              <a:t>视频理解能力大幅提升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461254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/>
              <a:t>模型架构维度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4 / 10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2BE28C9E-A203-CFBC-8333-1549093A4CDD}"/>
              </a:ext>
            </a:extLst>
          </p:cNvPr>
          <p:cNvSpPr txBox="1"/>
          <p:nvPr/>
        </p:nvSpPr>
        <p:spPr>
          <a:xfrm>
            <a:off x="868680" y="496189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/>
              <a:t>医学影像维度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16" y="1472655"/>
            <a:ext cx="5779293" cy="5065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254" y="305488"/>
            <a:ext cx="2432685" cy="2137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994" y="443960"/>
            <a:ext cx="2960084" cy="6429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</a:pPr>
            <a:r>
              <a:rPr sz="45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数据集概况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9838" y="1860708"/>
            <a:ext cx="1038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视频规模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3413" y="2227326"/>
            <a:ext cx="1245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Non-RD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838" y="2228088"/>
            <a:ext cx="4262818" cy="5955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5,381个超声视频片段(约5小时10分钟)</a:t>
            </a:r>
          </a:p>
          <a:p>
            <a:pPr>
              <a:spcBef>
                <a:spcPts val="130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时长范围0.12s~25.52s,中位数3.1s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3413" y="2625280"/>
            <a:ext cx="4498752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4,879 (正常4,233+PVD 646)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422904"/>
            <a:ext cx="1037463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采集设备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3413" y="3574446"/>
            <a:ext cx="115766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RD</a:t>
            </a:r>
            <a:r>
              <a:rPr lang="en-US"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171" y="3758088"/>
            <a:ext cx="4680585" cy="62769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Mindray/Zonare ~45%|Philips ~30%|</a:t>
            </a:r>
          </a:p>
          <a:p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GE~20%| Sonosite~5%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7073" y="4385691"/>
            <a:ext cx="2593752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←黄斑未脱离199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838" y="4952904"/>
            <a:ext cx="1038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40404"/>
                </a:solidFill>
                <a:latin typeface="Noto Sans SC" panose="020B0200000000000000" charset="-122"/>
                <a:ea typeface="Noto Sans SC" panose="020B0200000000000000" charset="-122"/>
              </a:rPr>
              <a:t>标注流程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7200" y="5289677"/>
            <a:ext cx="2445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←</a:t>
            </a:r>
            <a:r>
              <a:rPr lang="en-US" sz="21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  </a:t>
            </a:r>
            <a:r>
              <a:rPr sz="21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黄斑脱离303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838" y="5289708"/>
            <a:ext cx="4342542" cy="62617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3位临床专家独立标注+第4位专家质控</a:t>
            </a:r>
          </a:p>
          <a:p>
            <a:pPr>
              <a:spcBef>
                <a:spcPts val="375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72%训练/8%验证/20%测试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49" y="1427511"/>
            <a:ext cx="2738998" cy="23245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626" y="1432462"/>
            <a:ext cx="2734913" cy="23251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595" y="1443588"/>
            <a:ext cx="2747105" cy="230909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375" y="1443418"/>
            <a:ext cx="2680293" cy="231371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5415" y="2452807"/>
            <a:ext cx="350234" cy="3123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029" y="2451619"/>
            <a:ext cx="346233" cy="3130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1018" y="2464038"/>
            <a:ext cx="349853" cy="3025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346" y="383476"/>
            <a:ext cx="3896487" cy="6107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数据预处理流程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918" y="1614963"/>
            <a:ext cx="864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1113B"/>
                </a:solidFill>
                <a:latin typeface="Noto Sans SC" panose="020B0200000000000000" charset="-122"/>
                <a:ea typeface="Noto Sans SC" panose="020B0200000000000000" charset="-122"/>
              </a:rPr>
              <a:t>步骤1: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9581" y="1614963"/>
            <a:ext cx="864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1123E"/>
                </a:solidFill>
                <a:latin typeface="Noto Sans SC" panose="020B0200000000000000" charset="-122"/>
                <a:ea typeface="Noto Sans SC" panose="020B0200000000000000" charset="-122"/>
              </a:rPr>
              <a:t>步骤2: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9002" y="1614963"/>
            <a:ext cx="89392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1143F"/>
                </a:solidFill>
                <a:latin typeface="Noto Sans SC" panose="020B0200000000000000" charset="-122"/>
                <a:ea typeface="Noto Sans SC" panose="020B0200000000000000" charset="-122"/>
              </a:rPr>
              <a:t>步骤3: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9087" y="1614963"/>
            <a:ext cx="864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1123B"/>
                </a:solidFill>
                <a:latin typeface="Noto Sans SC" panose="020B0200000000000000" charset="-122"/>
                <a:ea typeface="Noto Sans SC" panose="020B0200000000000000" charset="-122"/>
              </a:rPr>
              <a:t>步骤4: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680" y="1921954"/>
            <a:ext cx="2365295" cy="15131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「去标识化」</a:t>
            </a:r>
          </a:p>
          <a:p>
            <a:pPr marL="635">
              <a:spcBef>
                <a:spcPts val="2065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Qpath平台台自动移除</a:t>
            </a:r>
          </a:p>
          <a:p>
            <a:pPr marL="30480">
              <a:spcBef>
                <a:spcPts val="150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PHI信息</a:t>
            </a:r>
          </a:p>
          <a:p>
            <a:pPr marL="635">
              <a:spcBef>
                <a:spcPts val="1595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符合HIPAA隐私保护规范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0515" y="1922716"/>
            <a:ext cx="2310288" cy="15430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just">
              <a:spcBef>
                <a:spcPts val="0"/>
              </a:spcBef>
              <a:spcAft>
                <a:spcPts val="0"/>
              </a:spcAft>
            </a:pPr>
            <a:r>
              <a:rPr sz="16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「训练预处理」灰度转换</a:t>
            </a:r>
          </a:p>
          <a:p>
            <a:pPr marL="29210">
              <a:spcBef>
                <a:spcPts val="1110"/>
              </a:spcBef>
            </a:pPr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→零填充至正方形</a:t>
            </a:r>
          </a:p>
          <a:p>
            <a:pPr marL="29845">
              <a:spcBef>
                <a:spcPts val="150"/>
              </a:spcBef>
            </a:pPr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→三线性插值缩放</a:t>
            </a:r>
          </a:p>
          <a:p>
            <a:pPr marL="28575">
              <a:spcBef>
                <a:spcPts val="865"/>
              </a:spcBef>
            </a:pPr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→强度归一化输出格式</a:t>
            </a:r>
          </a:p>
          <a:p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CxDxHxW(96帧/片段)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673" y="1923764"/>
            <a:ext cx="1911238" cy="89906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步骤「16对齐填充」</a:t>
            </a:r>
          </a:p>
          <a:p>
            <a:pPr marL="635">
              <a:spcBef>
                <a:spcPts val="950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裁剪尺寸非16倍数日</a:t>
            </a:r>
          </a:p>
          <a:p>
            <a:pPr marL="1905"/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时黑边填充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105" y="1924145"/>
            <a:ext cx="2310288" cy="14191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7305" algn="just">
              <a:spcBef>
                <a:spcPts val="0"/>
              </a:spcBef>
              <a:spcAft>
                <a:spcPts val="0"/>
              </a:spcAft>
            </a:pPr>
            <a:r>
              <a:rPr sz="16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ROI裁剪「ROI裁剪」</a:t>
            </a:r>
          </a:p>
          <a:p>
            <a:pPr>
              <a:spcBef>
                <a:spcPts val="970"/>
              </a:spcBef>
            </a:pPr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YOLOv8检测眼球区域</a:t>
            </a:r>
          </a:p>
          <a:p>
            <a:pPr marL="635">
              <a:spcBef>
                <a:spcPts val="390"/>
              </a:spcBef>
            </a:pPr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Precision 0.998,</a:t>
            </a:r>
          </a:p>
          <a:p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mAP@50 0.995</a:t>
            </a:r>
          </a:p>
          <a:p>
            <a:r>
              <a:rPr lang="zh-CN" sz="1625">
                <a:latin typeface="Noto Sans SC" panose="020B0200000000000000" charset="-122"/>
                <a:ea typeface="Noto Sans SC" panose="020B0200000000000000" charset="-122"/>
              </a:rPr>
              <a:t>取全局最高置信度框裁剪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9006" y="3207829"/>
            <a:ext cx="2181987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适配ViT的16x16patch</a:t>
            </a:r>
          </a:p>
        </p:txBody>
      </p:sp>
      <p:pic>
        <p:nvPicPr>
          <p:cNvPr id="21" name="Picture 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79" y="3948049"/>
            <a:ext cx="2883110" cy="1945862"/>
          </a:xfrm>
          <a:prstGeom prst="rect">
            <a:avLst/>
          </a:prstGeom>
        </p:spPr>
      </p:pic>
      <p:pic>
        <p:nvPicPr>
          <p:cNvPr id="22" name="Picture 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2128" y="3945985"/>
            <a:ext cx="2867164" cy="1947957"/>
          </a:xfrm>
          <a:prstGeom prst="rect">
            <a:avLst/>
          </a:prstGeom>
        </p:spPr>
      </p:pic>
      <p:pic>
        <p:nvPicPr>
          <p:cNvPr id="23" name="Picture 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1385" y="3947956"/>
            <a:ext cx="2866739" cy="1952430"/>
          </a:xfrm>
          <a:prstGeom prst="rect">
            <a:avLst/>
          </a:prstGeom>
        </p:spPr>
      </p:pic>
      <p:pic>
        <p:nvPicPr>
          <p:cNvPr id="24" name="Picture 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5341" y="3946187"/>
            <a:ext cx="2872359" cy="1948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17" y="1033461"/>
            <a:ext cx="5273040" cy="4749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882" y="1032605"/>
            <a:ext cx="5232476" cy="47511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66" y="3680555"/>
            <a:ext cx="4498487" cy="20659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4913" y="4524565"/>
            <a:ext cx="2592186" cy="1170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20705" y="293941"/>
            <a:ext cx="4009263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8种时空网络架构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9171" y="1308830"/>
            <a:ext cx="112833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CNN类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596" y="1309592"/>
            <a:ext cx="2328481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Transformer类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4178" y="2137029"/>
            <a:ext cx="3937992" cy="13892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Swin-UNETR</a:t>
            </a:r>
            <a:r>
              <a:rPr lang="en-US"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en-US"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: </a:t>
            </a:r>
            <a:r>
              <a:rPr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Swin Transformer编码器</a:t>
            </a:r>
          </a:p>
          <a:p>
            <a:pPr marL="635">
              <a:spcBef>
                <a:spcPts val="1115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UNETR</a:t>
            </a:r>
            <a:r>
              <a:rPr lang="en-US" altLang="zh-CN" sz="1610">
                <a:latin typeface="Noto Sans SC" panose="020B0200000000000000" charset="-122"/>
                <a:ea typeface="Noto Sans SC" panose="020B0200000000000000" charset="-122"/>
              </a:rPr>
              <a:t> :  </a:t>
            </a: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ViT编码器+U-Net解码器</a:t>
            </a:r>
          </a:p>
          <a:p>
            <a:pPr>
              <a:spcBef>
                <a:spcPts val="1115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VIT</a:t>
            </a:r>
            <a:r>
              <a:rPr lang="en-US" altLang="zh-CN" sz="161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altLang="zh-CN" sz="161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ViT编码器+U-Net解码器</a:t>
            </a:r>
          </a:p>
          <a:p>
            <a:pPr marL="635">
              <a:spcBef>
                <a:spcPts val="1115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ViT</a:t>
            </a:r>
            <a:r>
              <a:rPr lang="en-US" altLang="zh-CN" sz="161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altLang="zh-CN" sz="1610">
                <a:latin typeface="Noto Sans SC" panose="020B0200000000000000" charset="-122"/>
                <a:ea typeface="Noto Sans SC" panose="020B0200000000000000" charset="-122"/>
              </a:rPr>
              <a:t>  </a:t>
            </a: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纯Vision Transformer分类器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277" y="2168366"/>
            <a:ext cx="5236654" cy="22464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just">
              <a:spcBef>
                <a:spcPts val="1360"/>
              </a:spcBef>
            </a:pP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3D ResNet</a:t>
            </a:r>
            <a:r>
              <a:rPr lang="en-US" altLang="zh-CN" sz="1595"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3D残差网络,最佳RD检测器</a:t>
            </a:r>
          </a:p>
          <a:p>
            <a:pPr marL="28575" algn="just">
              <a:spcBef>
                <a:spcPts val="1355"/>
              </a:spcBef>
            </a:pP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3DU-Net</a:t>
            </a:r>
            <a:r>
              <a:rPr lang="en-US" altLang="zh-CN" sz="1595"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编码器-解码器+跳跃连接,最佳黄斑分类器</a:t>
            </a:r>
          </a:p>
          <a:p>
            <a:pPr algn="just">
              <a:spcBef>
                <a:spcPts val="1115"/>
              </a:spcBef>
            </a:pP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V-Net:体积分割网络</a:t>
            </a:r>
          </a:p>
          <a:p>
            <a:pPr marL="29210" algn="just">
              <a:spcBef>
                <a:spcPts val="1360"/>
              </a:spcBef>
            </a:pP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UNet++</a:t>
            </a:r>
            <a:r>
              <a:rPr lang="en-US" altLang="zh-CN" sz="1595"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嵌套U-Net,密集跳跃连接</a:t>
            </a:r>
          </a:p>
          <a:p>
            <a:pPr marL="28575" algn="just">
              <a:spcBef>
                <a:spcPts val="1355"/>
              </a:spcBef>
            </a:pP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SENet154</a:t>
            </a:r>
            <a:r>
              <a:rPr lang="en-US" altLang="zh-CN" sz="1595"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lang="zh-CN" sz="1595">
                <a:latin typeface="Noto Sans SC" panose="020B0200000000000000" charset="-122"/>
                <a:ea typeface="Noto Sans SC" panose="020B0200000000000000" charset="-122"/>
              </a:rPr>
              <a:t>挤压-激励注意力网络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1534" y="3791807"/>
            <a:ext cx="301847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DFBFB"/>
                </a:solidFill>
                <a:latin typeface="Noto Sans SC" panose="020B0200000000000000" charset="-122"/>
                <a:ea typeface="Noto Sans SC" panose="020B0200000000000000" charset="-122"/>
              </a:rPr>
              <a:t>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4790" y="5445823"/>
            <a:ext cx="1560671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Transformer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5930360"/>
            <a:ext cx="8839200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5个二分类任务,共训练40个模型(8架构×5任务x5任务)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00" y="1453610"/>
            <a:ext cx="11643155" cy="17652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" y="3443744"/>
            <a:ext cx="11666124" cy="8904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396" y="1911667"/>
            <a:ext cx="5082257" cy="946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2526" y="4735639"/>
            <a:ext cx="2424112" cy="1238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398" y="4735163"/>
            <a:ext cx="2380160" cy="12399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59" y="4733726"/>
            <a:ext cx="2306478" cy="124121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6345" y="4734972"/>
            <a:ext cx="2248416" cy="12432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7005" y="1915012"/>
            <a:ext cx="1925859" cy="94628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356" y="1907897"/>
            <a:ext cx="1697164" cy="95823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7293" y="1915953"/>
            <a:ext cx="1035525" cy="95002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5310" y="2798933"/>
            <a:ext cx="450913" cy="68348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2544" y="5239219"/>
            <a:ext cx="608742" cy="26156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9395" y="5246941"/>
            <a:ext cx="616912" cy="2534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88525" y="2247900"/>
            <a:ext cx="560396" cy="270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04896" y="2243328"/>
            <a:ext cx="543111" cy="27632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9429" y="2250763"/>
            <a:ext cx="548640" cy="267163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5495" y="5248734"/>
            <a:ext cx="581787" cy="24320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1517" y="4278296"/>
            <a:ext cx="247650" cy="495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83202" y="4273984"/>
            <a:ext cx="245364" cy="49544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84909" y="4278725"/>
            <a:ext cx="233272" cy="49510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01794" y="4276506"/>
            <a:ext cx="232981" cy="4897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5034" y="347471"/>
            <a:ext cx="7101268" cy="8358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75" b="1" i="0">
                <a:solidFill>
                  <a:srgbClr val="050505"/>
                </a:solidFill>
                <a:latin typeface="Noto Sans SC" panose="020B0200000000000000" charset="-122"/>
                <a:ea typeface="Noto Sans SC" panose="020B0200000000000000" charset="-122"/>
              </a:rPr>
              <a:t>两阶段级联诊断流程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5178" y="2106358"/>
            <a:ext cx="2737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Sensitivity 0.939 | Specificity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94" y="2228850"/>
            <a:ext cx="1301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60707"/>
                </a:solidFill>
                <a:latin typeface="Noto Sans SC" panose="020B0200000000000000" charset="-122"/>
                <a:ea typeface="Noto Sans SC" panose="020B0200000000000000" charset="-122"/>
              </a:rPr>
              <a:t>超声视频输入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7263" y="2228850"/>
            <a:ext cx="451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60606"/>
                </a:solidFill>
                <a:latin typeface="Noto Sans SC" panose="020B0200000000000000" charset="-122"/>
                <a:ea typeface="Noto Sans SC" panose="020B0200000000000000" charset="-122"/>
              </a:rPr>
              <a:t>结束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6263" y="2259425"/>
            <a:ext cx="1594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Stage 1:RD检测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9519" y="2260187"/>
            <a:ext cx="103603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Roboto"/>
                <a:ea typeface="Roboto"/>
              </a:rPr>
              <a:t>3D ResNet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7600" y="2412587"/>
            <a:ext cx="215122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0.978|Accuracy 0.974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475" y="3708654"/>
            <a:ext cx="3037713" cy="3564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Stage2:黄斑状态分类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025" y="4923853"/>
            <a:ext cx="144637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分支2:RD概率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5856" y="4923853"/>
            <a:ext cx="91878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3DU-Net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596" y="5045487"/>
            <a:ext cx="1918144" cy="62541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845"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分支A:黄斑未脱离</a:t>
            </a:r>
          </a:p>
          <a:p>
            <a:pPr>
              <a:spcBef>
                <a:spcPts val="620"/>
              </a:spcBef>
            </a:pPr>
            <a:r>
              <a:rPr lang="zh-CN" sz="1760">
                <a:latin typeface="Noto Sans SC" panose="020B0200000000000000" charset="-122"/>
                <a:ea typeface="Noto Sans SC" panose="020B0200000000000000" charset="-122"/>
              </a:rPr>
              <a:t>→紧急手术(24h内)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5021" y="5045487"/>
            <a:ext cx="1656207" cy="5939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分支B:黄斑脱离</a:t>
            </a:r>
          </a:p>
          <a:p>
            <a:pPr marL="175895">
              <a:spcBef>
                <a:spcPts val="625"/>
              </a:spcBef>
            </a:pPr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→择期手术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7852" y="5229987"/>
            <a:ext cx="1272158" cy="56254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47320" algn="just">
              <a:spcBef>
                <a:spcPts val="0"/>
              </a:spcBef>
              <a:spcAft>
                <a:spcPts val="0"/>
              </a:spcAft>
            </a:pPr>
            <a:r>
              <a:rPr lang="en-US"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&gt;= </a:t>
            </a: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0.5→</a:t>
            </a:r>
          </a:p>
          <a:p>
            <a:pPr>
              <a:spcBef>
                <a:spcPts val="630"/>
              </a:spcBef>
            </a:pPr>
            <a:r>
              <a:rPr lang="zh-CN" sz="1725">
                <a:latin typeface="Noto Sans SC" panose="020B0200000000000000" charset="-122"/>
                <a:ea typeface="Noto Sans SC" panose="020B0200000000000000" charset="-122"/>
              </a:rPr>
              <a:t>进入Stage2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9781" y="5261197"/>
            <a:ext cx="2694836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Sensitivity 0.899|Specificity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0.870 |Accuracy 0.882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045" y="477488"/>
            <a:ext cx="4491832" cy="29120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30824" y="3707765"/>
            <a:ext cx="5981394" cy="17987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624568"/>
            <a:ext cx="5461254" cy="12331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893" y="5620464"/>
            <a:ext cx="5985319" cy="9951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445" y="1667635"/>
            <a:ext cx="4835556" cy="11529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161" y="4582858"/>
            <a:ext cx="4813167" cy="106641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825" y="2891943"/>
            <a:ext cx="4841652" cy="82360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004" y="5704332"/>
            <a:ext cx="4295608" cy="9133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760" y="3726465"/>
            <a:ext cx="4788829" cy="74514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8485" y="6109500"/>
            <a:ext cx="2973514" cy="74814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8848" y="0"/>
            <a:ext cx="2137817" cy="4988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4642" y="2492883"/>
            <a:ext cx="611482" cy="91011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3466" y="4886343"/>
            <a:ext cx="272224" cy="1910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7678" y="407193"/>
            <a:ext cx="6078378" cy="9001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25" b="1" i="0">
                <a:solidFill>
                  <a:srgbClr val="070606"/>
                </a:solidFill>
                <a:latin typeface="Noto Sans SC" panose="020B0200000000000000" charset="-122"/>
                <a:ea typeface="Noto Sans SC" panose="020B0200000000000000" charset="-122"/>
              </a:rPr>
              <a:t>选择性时序池化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006" y="1799462"/>
            <a:ext cx="657987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7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「问题」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596" y="2197512"/>
            <a:ext cx="353015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PVD在较少帧中表现为低回声薄膜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0175" y="3115913"/>
            <a:ext cx="2973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DFDFE"/>
                </a:solidFill>
                <a:latin typeface="Noto Sans SC" panose="020B0200000000000000" charset="-122"/>
                <a:ea typeface="Noto Sans SC" panose="020B0200000000000000" charset="-122"/>
              </a:rPr>
              <a:t>全局平均池化会稀释诊断信号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5515" y="3790283"/>
            <a:ext cx="1154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保留70%段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7431" y="3790283"/>
            <a:ext cx="1154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保留50%段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37151" y="3790283"/>
            <a:ext cx="744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最佳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0937" y="3943350"/>
            <a:ext cx="2825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DFBF7"/>
                </a:solidFill>
                <a:latin typeface="Noto Sans SC" panose="020B0200000000000000" charset="-122"/>
                <a:ea typeface="Noto Sans SC" panose="020B0200000000000000" charset="-122"/>
              </a:rPr>
              <a:t>Normal vs. PVD是困难任务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1519" y="4188999"/>
            <a:ext cx="920115" cy="120481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r=0.7</a:t>
            </a:r>
          </a:p>
          <a:p>
            <a:pPr>
              <a:spcBef>
                <a:spcPts val="64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r=0.5</a:t>
            </a:r>
          </a:p>
          <a:p>
            <a:pPr>
              <a:spcBef>
                <a:spcPts val="88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r=0.5</a:t>
            </a:r>
          </a:p>
          <a:p>
            <a:pPr>
              <a:spcBef>
                <a:spcPts val="88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r=0.3」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8603" y="4188999"/>
            <a:ext cx="479202" cy="86791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70%</a:t>
            </a:r>
          </a:p>
          <a:p>
            <a:pPr>
              <a:spcBef>
                <a:spcPts val="64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50%</a:t>
            </a:r>
          </a:p>
          <a:p>
            <a:pPr>
              <a:spcBef>
                <a:spcPts val="88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9856" y="4495228"/>
            <a:ext cx="449865" cy="56168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50%</a:t>
            </a:r>
          </a:p>
          <a:p>
            <a:pPr>
              <a:spcBef>
                <a:spcPts val="880"/>
              </a:spcBef>
            </a:pPr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31" y="4739354"/>
            <a:ext cx="4173378" cy="62455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方法</a:t>
            </a:r>
          </a:p>
          <a:p>
            <a:pPr>
              <a:spcBef>
                <a:spcPts val="865"/>
              </a:spcBef>
            </a:pPr>
            <a:r>
              <a:rPr lang="zh-CN" sz="1760">
                <a:latin typeface="Noto Sans SC" panose="020B0200000000000000" charset="-122"/>
                <a:ea typeface="Noto Sans SC" panose="020B0200000000000000" charset="-122"/>
              </a:rPr>
              <a:t>「方法」对backbone输出的D个时序段打分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4852" y="5137404"/>
            <a:ext cx="1066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保留30%段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4259" y="5811678"/>
            <a:ext cx="6039754" cy="6246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30480"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最佳结果:3D</a:t>
            </a:r>
            <a:r>
              <a:rPr lang="en-US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U-Net</a:t>
            </a:r>
            <a:r>
              <a:rPr lang="en-US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+</a:t>
            </a:r>
            <a:r>
              <a:rPr lang="en-US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r=0.3</a:t>
            </a:r>
          </a:p>
          <a:p>
            <a:pPr>
              <a:spcBef>
                <a:spcPts val="865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Sensitivity 0.807 | Specificity 0.977 | Accuracy 0.955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7090" y="5871400"/>
            <a:ext cx="276815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仅保留得分最高的top-k个段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090" y="6177533"/>
            <a:ext cx="1449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2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k = ceil(D * 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80" y="3804493"/>
            <a:ext cx="9431940" cy="8332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655" y="4742021"/>
            <a:ext cx="9403162" cy="8327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978" y="1943435"/>
            <a:ext cx="9438132" cy="819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743" y="2875478"/>
            <a:ext cx="9410128" cy="81433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5239" y="1019841"/>
            <a:ext cx="9394181" cy="81295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0850" y="5077443"/>
            <a:ext cx="2179034" cy="17032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8997" y="2885420"/>
            <a:ext cx="2040731" cy="79626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5058" y="2063016"/>
            <a:ext cx="1207484" cy="109814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62620" y="5786800"/>
            <a:ext cx="693705" cy="63668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2849" y="2099976"/>
            <a:ext cx="524368" cy="50530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7452" y="3028092"/>
            <a:ext cx="520875" cy="50653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2858" y="3967200"/>
            <a:ext cx="517969" cy="5084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8287" y="4898898"/>
            <a:ext cx="510825" cy="510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37049" y="1174506"/>
            <a:ext cx="516255" cy="501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10812" y="296227"/>
            <a:ext cx="3741134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各任务最佳模型汇总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0838" y="1125950"/>
            <a:ext cx="1170146" cy="53263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10103"/>
                </a:solidFill>
                <a:latin typeface="Noto Sans SC" panose="020B0200000000000000" charset="-122"/>
                <a:ea typeface="Noto Sans SC" panose="020B0200000000000000" charset="-122"/>
              </a:rPr>
              <a:t>Spe 0.978</a:t>
            </a:r>
          </a:p>
          <a:p>
            <a:pPr marL="1270">
              <a:spcBef>
                <a:spcPts val="14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Acc 0.974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515" y="1126712"/>
            <a:ext cx="118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3D ResNet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0343" y="1126712"/>
            <a:ext cx="1170146" cy="5639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 0.939</a:t>
            </a:r>
          </a:p>
          <a:p>
            <a:pPr>
              <a:spcBef>
                <a:spcPts val="135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Spe 0.978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0" y="1279779"/>
            <a:ext cx="1682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10104"/>
                </a:solidFill>
                <a:latin typeface="Noto Sans SC" panose="020B0200000000000000" charset="-122"/>
                <a:ea typeface="Noto Sans SC" panose="020B0200000000000000" charset="-122"/>
              </a:rPr>
              <a:t>Non-RD vs.RD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6212" y="1282065"/>
            <a:ext cx="153828" cy="2526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0838" y="2075021"/>
            <a:ext cx="1170146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10103"/>
                </a:solidFill>
                <a:latin typeface="Noto Sans SC" panose="020B0200000000000000" charset="-122"/>
                <a:ea typeface="Noto Sans SC" panose="020B0200000000000000" charset="-122"/>
              </a:rPr>
              <a:t>Spe 0.870</a:t>
            </a:r>
          </a:p>
          <a:p>
            <a:pPr marL="635"/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Acc 0.882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277" y="2076545"/>
            <a:ext cx="106537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Roboto"/>
                <a:ea typeface="Roboto"/>
              </a:rPr>
              <a:t>3DU-Net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0343" y="2076545"/>
            <a:ext cx="1170146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270"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 0.899</a:t>
            </a:r>
          </a:p>
          <a:p>
            <a:pPr>
              <a:spcBef>
                <a:spcPts val="38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Spe 0.890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5446" y="2199036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"/>
                <a:ea typeface="Roboto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4362" y="2229612"/>
            <a:ext cx="3058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Roboto"/>
                <a:ea typeface="Roboto"/>
              </a:rPr>
              <a:t>Macula-Detached vs. Intact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0838" y="2993516"/>
            <a:ext cx="1156144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10103"/>
                </a:solidFill>
                <a:latin typeface="Noto Sans SC" panose="020B0200000000000000" charset="-122"/>
                <a:ea typeface="Noto Sans SC" panose="020B0200000000000000" charset="-122"/>
              </a:rPr>
              <a:t>Spe 0.996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515" y="2994279"/>
            <a:ext cx="1066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10104"/>
                </a:solidFill>
                <a:latin typeface="Roboto"/>
                <a:ea typeface="Roboto"/>
              </a:rPr>
              <a:t>3D U-Net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1768" y="2994279"/>
            <a:ext cx="1170146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 0.950</a:t>
            </a:r>
          </a:p>
          <a:p>
            <a:pPr marL="29210">
              <a:spcBef>
                <a:spcPts val="385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Spe 0.996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4362" y="3148107"/>
            <a:ext cx="1622202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10103"/>
                </a:solidFill>
                <a:latin typeface="Roboto"/>
                <a:ea typeface="Roboto"/>
              </a:rPr>
              <a:t>Normal vs. 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5450" y="3148869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CFDFC"/>
                </a:solidFill>
                <a:latin typeface="Roboto"/>
                <a:ea typeface="Robot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2362" y="3301174"/>
            <a:ext cx="1094613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0103"/>
                </a:solidFill>
                <a:latin typeface="Noto Sans SC" panose="020B0200000000000000" charset="-122"/>
                <a:ea typeface="Noto Sans SC" panose="020B0200000000000000" charset="-122"/>
              </a:rPr>
              <a:t>Acc 0.991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1277" y="3944112"/>
            <a:ext cx="88944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10104"/>
                </a:solidFill>
                <a:latin typeface="Roboto"/>
                <a:ea typeface="Roboto"/>
              </a:rPr>
              <a:t>UNet++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1772" y="3944112"/>
            <a:ext cx="1094613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 0.921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1600" y="3944112"/>
            <a:ext cx="1170146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10103"/>
                </a:solidFill>
                <a:latin typeface="Noto Sans SC" panose="020B0200000000000000" charset="-122"/>
                <a:ea typeface="Noto Sans SC" panose="020B0200000000000000" charset="-122"/>
              </a:rPr>
              <a:t>Sen 0.820</a:t>
            </a:r>
          </a:p>
          <a:p>
            <a:pPr>
              <a:spcBef>
                <a:spcPts val="390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Acc 0.887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3600" y="4065841"/>
            <a:ext cx="1271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10103"/>
                </a:solidFill>
                <a:latin typeface="Roboto"/>
                <a:ea typeface="Roboto"/>
              </a:rPr>
              <a:t>PVD vs. 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6212" y="4068127"/>
            <a:ext cx="153828" cy="2526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FCFD"/>
                </a:solidFill>
                <a:latin typeface="Roboto"/>
                <a:ea typeface="Robot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0343" y="4218146"/>
            <a:ext cx="1126902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Spe 0.860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515" y="4861845"/>
            <a:ext cx="2574321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3D U-Net</a:t>
            </a:r>
          </a:p>
          <a:p>
            <a:pPr marL="29210">
              <a:spcBef>
                <a:spcPts val="385"/>
              </a:spcBef>
            </a:pP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8343" y="4875657"/>
            <a:ext cx="1170146" cy="5809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Sen 0.807</a:t>
            </a:r>
          </a:p>
          <a:p>
            <a:pPr marL="1905">
              <a:spcBef>
                <a:spcPts val="370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Spe 0.977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4362" y="5015674"/>
            <a:ext cx="1768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0105"/>
                </a:solidFill>
                <a:latin typeface="Noto Sans SC" panose="020B0200000000000000" charset="-122"/>
                <a:ea typeface="Noto Sans SC" panose="020B0200000000000000" charset="-122"/>
              </a:rPr>
              <a:t>Normal vs.PVD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5450" y="5016436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BFDFC"/>
                </a:solidFill>
                <a:latin typeface="Noto Sans SC" panose="020B0200000000000000" charset="-122"/>
                <a:ea typeface="Noto Sans SC" panose="020B0200000000000000" charset="-122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2362" y="5168741"/>
            <a:ext cx="1123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Acc 0.955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4903" y="5869876"/>
            <a:ext cx="980484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训练配置-MONAI+PyTorch Lightning +Hydra | AdamW lr=1.5e-5| BCEWithLogitsLoss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13669" y="6177533"/>
            <a:ext cx="376456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|50 epochs|3xA6000|从零训练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实验与结果分析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Experiments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C60AE341-5718-6D2D-21E0-0638DBA6AFE9}"/>
              </a:ext>
            </a:extLst>
          </p:cNvPr>
          <p:cNvSpPr txBox="1"/>
          <p:nvPr/>
        </p:nvSpPr>
        <p:spPr>
          <a:xfrm>
            <a:off x="645159" y="141665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数据集类别分布情况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F4130D6-DB4F-280D-7E2F-A03DC1DAB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90" y="1475045"/>
            <a:ext cx="8148560" cy="214609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067C02B3-D10D-4BD2-A143-EAD082488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090" y="3856092"/>
            <a:ext cx="7683895" cy="2654436"/>
          </a:xfrm>
          <a:prstGeom prst="rect">
            <a:avLst/>
          </a:prstGeom>
        </p:spPr>
      </p:pic>
      <p:sp>
        <p:nvSpPr>
          <p:cNvPr id="50" name="TextBox 5">
            <a:extLst>
              <a:ext uri="{FF2B5EF4-FFF2-40B4-BE49-F238E27FC236}">
                <a16:creationId xmlns:a16="http://schemas.microsoft.com/office/drawing/2014/main" id="{0A7EC0C8-977F-BAD9-D10E-1DD5D352A9CB}"/>
              </a:ext>
            </a:extLst>
          </p:cNvPr>
          <p:cNvSpPr txBox="1"/>
          <p:nvPr/>
        </p:nvSpPr>
        <p:spPr>
          <a:xfrm>
            <a:off x="581659" y="3982051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数据集帧数与帧速率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分布情况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078C-2421-D4AD-B6B8-6250FDF5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4158D8-C16F-964C-8359-04A79F3A6923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D38FD-7856-CA8A-42A5-634AA8B5B96A}"/>
              </a:ext>
            </a:extLst>
          </p:cNvPr>
          <p:cNvSpPr txBox="1"/>
          <p:nvPr/>
        </p:nvSpPr>
        <p:spPr>
          <a:xfrm>
            <a:off x="86868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实验与结果分析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50771-E11E-F223-30F4-BAA529A6E37B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Experiments &amp;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7470E3-87F6-23BC-BB03-AB49A4D07836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8A8CB-CBC3-A9A2-1BC3-94D6406EC4F6}"/>
              </a:ext>
            </a:extLst>
          </p:cNvPr>
          <p:cNvSpPr txBox="1"/>
          <p:nvPr/>
        </p:nvSpPr>
        <p:spPr>
          <a:xfrm>
            <a:off x="8686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t>实验设置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51AC5-70B7-F445-F815-88B3C45A7005}"/>
              </a:ext>
            </a:extLst>
          </p:cNvPr>
          <p:cNvSpPr txBox="1"/>
          <p:nvPr/>
        </p:nvSpPr>
        <p:spPr>
          <a:xfrm>
            <a:off x="86868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数据集：ERDES（5,381个超声视频片段）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输入尺寸：96 × 128 × 128 (D × H × W)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优化器：AdamW，学习率 1.5 × 10⁻⁵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评估指标：Accuracy / Sensitivity / Specificity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训练策略：5折交叉验证，固定随机种子保证可复现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F3559-0CD6-B527-3AD7-298E057793E3}"/>
              </a:ext>
            </a:extLst>
          </p:cNvPr>
          <p:cNvSpPr txBox="1"/>
          <p:nvPr/>
        </p:nvSpPr>
        <p:spPr>
          <a:xfrm>
            <a:off x="86868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t>核心结果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D29554-2455-1BCD-BB2C-712AA4AF5AF6}"/>
              </a:ext>
            </a:extLst>
          </p:cNvPr>
          <p:cNvSpPr/>
          <p:nvPr/>
        </p:nvSpPr>
        <p:spPr>
          <a:xfrm>
            <a:off x="868680" y="3886200"/>
            <a:ext cx="1463040" cy="365760"/>
          </a:xfrm>
          <a:prstGeom prst="rect">
            <a:avLst/>
          </a:prstGeom>
          <a:solidFill>
            <a:srgbClr val="1A569A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3C4EE-1273-040A-A12D-2D4E5DC5BDA0}"/>
              </a:ext>
            </a:extLst>
          </p:cNvPr>
          <p:cNvSpPr/>
          <p:nvPr/>
        </p:nvSpPr>
        <p:spPr>
          <a:xfrm>
            <a:off x="2331720" y="3886200"/>
            <a:ext cx="1645920" cy="365760"/>
          </a:xfrm>
          <a:prstGeom prst="rect">
            <a:avLst/>
          </a:prstGeom>
          <a:solidFill>
            <a:srgbClr val="1A569A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最佳模型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C8292C-112C-0E05-BC01-2E4BFA817F87}"/>
              </a:ext>
            </a:extLst>
          </p:cNvPr>
          <p:cNvSpPr/>
          <p:nvPr/>
        </p:nvSpPr>
        <p:spPr>
          <a:xfrm>
            <a:off x="3977640" y="3886200"/>
            <a:ext cx="1005840" cy="365760"/>
          </a:xfrm>
          <a:prstGeom prst="rect">
            <a:avLst/>
          </a:prstGeom>
          <a:solidFill>
            <a:srgbClr val="1A569A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灵敏度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76DF48-C35A-64EB-B124-E3B6539A08E0}"/>
              </a:ext>
            </a:extLst>
          </p:cNvPr>
          <p:cNvSpPr/>
          <p:nvPr/>
        </p:nvSpPr>
        <p:spPr>
          <a:xfrm>
            <a:off x="4983480" y="3886200"/>
            <a:ext cx="1005840" cy="365760"/>
          </a:xfrm>
          <a:prstGeom prst="rect">
            <a:avLst/>
          </a:prstGeom>
          <a:solidFill>
            <a:srgbClr val="1A569A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特异度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1707DB-8122-EADE-8B5A-F36E7ECD2FC1}"/>
              </a:ext>
            </a:extLst>
          </p:cNvPr>
          <p:cNvSpPr/>
          <p:nvPr/>
        </p:nvSpPr>
        <p:spPr>
          <a:xfrm>
            <a:off x="5989320" y="3886200"/>
            <a:ext cx="914400" cy="365760"/>
          </a:xfrm>
          <a:prstGeom prst="rect">
            <a:avLst/>
          </a:prstGeom>
          <a:solidFill>
            <a:srgbClr val="1A569A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准确率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3336D-CE6D-B220-43D5-AD0720B7B000}"/>
              </a:ext>
            </a:extLst>
          </p:cNvPr>
          <p:cNvSpPr/>
          <p:nvPr/>
        </p:nvSpPr>
        <p:spPr>
          <a:xfrm>
            <a:off x="868680" y="425196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Non-RD vs 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46056B-69FA-D515-F0E2-4378FDB04F5A}"/>
              </a:ext>
            </a:extLst>
          </p:cNvPr>
          <p:cNvSpPr/>
          <p:nvPr/>
        </p:nvSpPr>
        <p:spPr>
          <a:xfrm>
            <a:off x="2331720" y="42519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3D ResNet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DB44C-3AE2-F83A-12EB-125A8EA38988}"/>
              </a:ext>
            </a:extLst>
          </p:cNvPr>
          <p:cNvSpPr/>
          <p:nvPr/>
        </p:nvSpPr>
        <p:spPr>
          <a:xfrm>
            <a:off x="3977640" y="42519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0.939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0383A-4B38-91A9-A469-F846827AF9F2}"/>
              </a:ext>
            </a:extLst>
          </p:cNvPr>
          <p:cNvSpPr/>
          <p:nvPr/>
        </p:nvSpPr>
        <p:spPr>
          <a:xfrm>
            <a:off x="4983480" y="42519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0.978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E13FB-4F5D-2399-06E4-83146B867448}"/>
              </a:ext>
            </a:extLst>
          </p:cNvPr>
          <p:cNvSpPr/>
          <p:nvPr/>
        </p:nvSpPr>
        <p:spPr>
          <a:xfrm>
            <a:off x="5989320" y="425196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0.974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DB7325-E30B-E95E-5969-52EE0AAD503A}"/>
              </a:ext>
            </a:extLst>
          </p:cNvPr>
          <p:cNvSpPr/>
          <p:nvPr/>
        </p:nvSpPr>
        <p:spPr>
          <a:xfrm>
            <a:off x="868680" y="4617720"/>
            <a:ext cx="14630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Normal vs 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2A30DA-D525-3AA8-C328-6BF8E0222861}"/>
              </a:ext>
            </a:extLst>
          </p:cNvPr>
          <p:cNvSpPr/>
          <p:nvPr/>
        </p:nvSpPr>
        <p:spPr>
          <a:xfrm>
            <a:off x="2331720" y="4617720"/>
            <a:ext cx="164592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3D U-Net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18E0D7-9C36-B18A-042B-E49033DE34E4}"/>
              </a:ext>
            </a:extLst>
          </p:cNvPr>
          <p:cNvSpPr/>
          <p:nvPr/>
        </p:nvSpPr>
        <p:spPr>
          <a:xfrm>
            <a:off x="3977640" y="4617720"/>
            <a:ext cx="10058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0.950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CB7610-A40F-6752-101A-26DEF13FA141}"/>
              </a:ext>
            </a:extLst>
          </p:cNvPr>
          <p:cNvSpPr/>
          <p:nvPr/>
        </p:nvSpPr>
        <p:spPr>
          <a:xfrm>
            <a:off x="4983480" y="4617720"/>
            <a:ext cx="10058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0.996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E186A7-CF3C-31A7-D9BD-09E8C7CE0776}"/>
              </a:ext>
            </a:extLst>
          </p:cNvPr>
          <p:cNvSpPr/>
          <p:nvPr/>
        </p:nvSpPr>
        <p:spPr>
          <a:xfrm>
            <a:off x="5989320" y="4617720"/>
            <a:ext cx="91440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0.991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EB8263-3738-B22B-DEFD-07BADA0D4365}"/>
              </a:ext>
            </a:extLst>
          </p:cNvPr>
          <p:cNvSpPr/>
          <p:nvPr/>
        </p:nvSpPr>
        <p:spPr>
          <a:xfrm>
            <a:off x="868680" y="498348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PVD vs 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0EC4EA-ED2A-08C8-3A69-9256445E6E38}"/>
              </a:ext>
            </a:extLst>
          </p:cNvPr>
          <p:cNvSpPr/>
          <p:nvPr/>
        </p:nvSpPr>
        <p:spPr>
          <a:xfrm>
            <a:off x="2331720" y="498348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UNet++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9553EC-1653-B54E-3C38-63743FC8878C}"/>
              </a:ext>
            </a:extLst>
          </p:cNvPr>
          <p:cNvSpPr/>
          <p:nvPr/>
        </p:nvSpPr>
        <p:spPr>
          <a:xfrm>
            <a:off x="3977640" y="498348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2ADDB9-51E2-3D50-EF40-2D5E49DD2BB8}"/>
              </a:ext>
            </a:extLst>
          </p:cNvPr>
          <p:cNvSpPr/>
          <p:nvPr/>
        </p:nvSpPr>
        <p:spPr>
          <a:xfrm>
            <a:off x="4983480" y="498348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0.860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3283BC-7462-1A7E-8657-55990C9C8A9F}"/>
              </a:ext>
            </a:extLst>
          </p:cNvPr>
          <p:cNvSpPr/>
          <p:nvPr/>
        </p:nvSpPr>
        <p:spPr>
          <a:xfrm>
            <a:off x="5989320" y="498348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0.887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192BFF-3887-442F-CD97-288E72BD0282}"/>
              </a:ext>
            </a:extLst>
          </p:cNvPr>
          <p:cNvSpPr/>
          <p:nvPr/>
        </p:nvSpPr>
        <p:spPr>
          <a:xfrm>
            <a:off x="868680" y="5349240"/>
            <a:ext cx="14630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Macula 判定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D5CEA5-5E23-85BD-B176-AEE29C6AD278}"/>
              </a:ext>
            </a:extLst>
          </p:cNvPr>
          <p:cNvSpPr/>
          <p:nvPr/>
        </p:nvSpPr>
        <p:spPr>
          <a:xfrm>
            <a:off x="2331720" y="5349240"/>
            <a:ext cx="164592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3D U-Net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CC96A2-57FE-8F14-020E-0D3117DD4BF1}"/>
              </a:ext>
            </a:extLst>
          </p:cNvPr>
          <p:cNvSpPr/>
          <p:nvPr/>
        </p:nvSpPr>
        <p:spPr>
          <a:xfrm>
            <a:off x="3977640" y="5349240"/>
            <a:ext cx="10058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0.899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64188D-4E66-9DC2-ACAB-441A8E27FB93}"/>
              </a:ext>
            </a:extLst>
          </p:cNvPr>
          <p:cNvSpPr/>
          <p:nvPr/>
        </p:nvSpPr>
        <p:spPr>
          <a:xfrm>
            <a:off x="4983480" y="5349240"/>
            <a:ext cx="100584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0.870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AB0FCC-1D0C-A8F2-93E2-44A80B334D60}"/>
              </a:ext>
            </a:extLst>
          </p:cNvPr>
          <p:cNvSpPr/>
          <p:nvPr/>
        </p:nvSpPr>
        <p:spPr>
          <a:xfrm>
            <a:off x="5989320" y="5349240"/>
            <a:ext cx="914400" cy="365760"/>
          </a:xfrm>
          <a:prstGeom prst="rect">
            <a:avLst/>
          </a:prstGeom>
          <a:solidFill>
            <a:srgbClr val="F0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0.882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B29CE6-C0DB-4624-FD9F-1B2AD382BFE8}"/>
              </a:ext>
            </a:extLst>
          </p:cNvPr>
          <p:cNvSpPr/>
          <p:nvPr/>
        </p:nvSpPr>
        <p:spPr>
          <a:xfrm>
            <a:off x="868680" y="571500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Normal vs PVD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FDE50F-AFB4-F420-544F-EEA77D225283}"/>
              </a:ext>
            </a:extLst>
          </p:cNvPr>
          <p:cNvSpPr/>
          <p:nvPr/>
        </p:nvSpPr>
        <p:spPr>
          <a:xfrm>
            <a:off x="2331720" y="57150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3D U-Net (r=30%)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E40B77-106A-1879-8F08-7937CF1DE0E6}"/>
              </a:ext>
            </a:extLst>
          </p:cNvPr>
          <p:cNvSpPr/>
          <p:nvPr/>
        </p:nvSpPr>
        <p:spPr>
          <a:xfrm>
            <a:off x="3977640" y="571500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0.807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51739C-168D-9FEF-8864-D7916374D58D}"/>
              </a:ext>
            </a:extLst>
          </p:cNvPr>
          <p:cNvSpPr/>
          <p:nvPr/>
        </p:nvSpPr>
        <p:spPr>
          <a:xfrm>
            <a:off x="4983480" y="571500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0.977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757741-D406-D4B9-09E6-E55886DE251B}"/>
              </a:ext>
            </a:extLst>
          </p:cNvPr>
          <p:cNvSpPr/>
          <p:nvPr/>
        </p:nvSpPr>
        <p:spPr>
          <a:xfrm>
            <a:off x="5989320" y="571500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0.955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019330-50A3-4B72-6609-2E9AAFC2B18C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3358177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F64B-D10B-7320-21CD-FF40403C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7477E5-7FB4-F4A3-7B8D-430132896DC9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21C21-3C31-8A5A-5384-F2F26E5C6992}"/>
              </a:ext>
            </a:extLst>
          </p:cNvPr>
          <p:cNvSpPr txBox="1"/>
          <p:nvPr/>
        </p:nvSpPr>
        <p:spPr>
          <a:xfrm>
            <a:off x="86868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实验与结果分析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F4152-ECBE-5D9E-F7CD-728D3F0408A8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Experiments &amp;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C7C5A-2085-9387-136F-9B2E9657B21B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5FC108-D59C-3B42-6265-4CB6A13FCFF0}"/>
              </a:ext>
            </a:extLst>
          </p:cNvPr>
          <p:cNvSpPr txBox="1"/>
          <p:nvPr/>
        </p:nvSpPr>
        <p:spPr>
          <a:xfrm>
            <a:off x="9448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t>结果分析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9D506-01E4-30B4-D877-B51A86E591E3}"/>
              </a:ext>
            </a:extLst>
          </p:cNvPr>
          <p:cNvSpPr txBox="1"/>
          <p:nvPr/>
        </p:nvSpPr>
        <p:spPr>
          <a:xfrm>
            <a:off x="944880" y="1644344"/>
            <a:ext cx="466344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69A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PVD（玻璃体后脱离）识别在各项中表现最弱</a:t>
            </a:r>
          </a:p>
          <a:p>
            <a:pPr>
              <a:spcAft>
                <a:spcPts val="6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原因：PVD具有「高动态、低回声」特性，对瞬时特征捕捉能力要求更高</a:t>
            </a:r>
          </a:p>
          <a:p>
            <a:pPr>
              <a:spcAft>
                <a:spcPts val="6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当前3D CNN在长程时序建模上存在局限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C65512-C00C-A85A-E2D7-C55633CD36E2}"/>
              </a:ext>
            </a:extLst>
          </p:cNvPr>
          <p:cNvSpPr txBox="1"/>
          <p:nvPr/>
        </p:nvSpPr>
        <p:spPr>
          <a:xfrm>
            <a:off x="868680" y="3470165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t>采样策略的启示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选择性采样比例 r 对性能影响显著</a:t>
            </a:r>
          </a:p>
          <a:p>
            <a:pPr>
              <a:spcAft>
                <a:spcPts val="6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Normal vs PVD 中 unet3d 不同 r 的对比：</a:t>
            </a:r>
          </a:p>
          <a:p>
            <a:pPr>
              <a:spcAft>
                <a:spcPts val="6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r=30% 准确率 0.955 &gt; r=100% 准确率</a:t>
            </a:r>
          </a:p>
          <a:p>
            <a:pPr>
              <a:spcAft>
                <a:spcPts val="600"/>
              </a:spcAft>
              <a:defRPr sz="1400" b="0">
                <a:solidFill>
                  <a:srgbClr val="1A569A"/>
                </a:solidFill>
                <a:latin typeface="Microsoft YaHei"/>
              </a:defRPr>
            </a:pPr>
            <a:r>
              <a:t>→ 全量视频帧 ≠ 最大信息量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720989-3EBF-97AA-5290-2A4CD85421F3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334263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4E93-52E6-E1E4-0FC8-145E88B8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531951-01CC-6AC3-5C3F-2C8925E43CCB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9C5F6-C3BB-2C36-2D1F-F49F1A5962D4}"/>
              </a:ext>
            </a:extLst>
          </p:cNvPr>
          <p:cNvSpPr txBox="1"/>
          <p:nvPr/>
        </p:nvSpPr>
        <p:spPr>
          <a:xfrm>
            <a:off x="86868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实验与结果分析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84A74-6B95-A869-5990-9D632C52C792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Experiments &amp;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A1E90-CCF9-9F70-B385-BCA31C1FF720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EDB14-23CB-AB85-3959-3073CB11D842}"/>
              </a:ext>
            </a:extLst>
          </p:cNvPr>
          <p:cNvSpPr txBox="1"/>
          <p:nvPr/>
        </p:nvSpPr>
        <p:spPr>
          <a:xfrm>
            <a:off x="868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en-US"/>
              <a:t>Failure Case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A691C-F6B6-F865-02C9-ABB5E8BBEFDB}"/>
              </a:ext>
            </a:extLst>
          </p:cNvPr>
          <p:cNvSpPr txBox="1"/>
          <p:nvPr/>
        </p:nvSpPr>
        <p:spPr>
          <a:xfrm>
            <a:off x="868680" y="347472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en-US"/>
              <a:t>Grad-Cam</a:t>
            </a: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863244-DC2B-6647-D6E4-CF7C2428B83D}"/>
              </a:ext>
            </a:extLst>
          </p:cNvPr>
          <p:cNvSpPr txBox="1"/>
          <p:nvPr/>
        </p:nvSpPr>
        <p:spPr>
          <a:xfrm>
            <a:off x="6583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en-US" altLang="zh-CN" b="1"/>
              <a:t>Sampling Analysis</a:t>
            </a: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953DB4-070E-88B4-7AA8-EC318D534A02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17324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AE9F-F71C-F0D9-C816-3709D7B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0E4868-1486-663F-7A97-BC073B8F020A}"/>
              </a:ext>
            </a:extLst>
          </p:cNvPr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DC71A-B020-ECF8-DED6-40E457F38934}"/>
              </a:ext>
            </a:extLst>
          </p:cNvPr>
          <p:cNvSpPr txBox="1"/>
          <p:nvPr/>
        </p:nvSpPr>
        <p:spPr>
          <a:xfrm>
            <a:off x="86868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实验与结果分析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73323-5AF7-FB09-A8BD-AC633F86789C}"/>
              </a:ext>
            </a:extLst>
          </p:cNvPr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Experiments &amp;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A19D3-22C3-451A-6055-3182F06BA256}"/>
              </a:ext>
            </a:extLst>
          </p:cNvPr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56BB5-B7FF-2862-1ACC-311562912E0D}"/>
              </a:ext>
            </a:extLst>
          </p:cNvPr>
          <p:cNvSpPr txBox="1"/>
          <p:nvPr/>
        </p:nvSpPr>
        <p:spPr>
          <a:xfrm>
            <a:off x="868680" y="15087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9A"/>
                </a:solidFill>
                <a:latin typeface="Microsoft YaHei"/>
              </a:defRPr>
            </a:pPr>
            <a:r>
              <a:rPr lang="en-US" altLang="zh-CN" b="1"/>
              <a:t>Bottleneck Summary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3CC73-33CB-1969-B209-CE5A44087851}"/>
              </a:ext>
            </a:extLst>
          </p:cNvPr>
          <p:cNvSpPr txBox="1"/>
          <p:nvPr/>
        </p:nvSpPr>
        <p:spPr>
          <a:xfrm>
            <a:off x="868680" y="1920240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/>
              <a:t>关键区域定位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/>
              <a:t>医学样本少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/>
              <a:t>针对黄斑相对视神经偏移的长程依赖</a:t>
            </a:r>
          </a:p>
          <a:p>
            <a:pPr lvl="0"/>
            <a:endParaRPr lang="zh-CN" altLang="zh-C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3643F1-A6BF-BA50-2850-22DE90C81212}"/>
              </a:ext>
            </a:extLst>
          </p:cNvPr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81836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438912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lang="zh-CN" altLang="en-US"/>
              <a:t>未来工作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 / 10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5B08C5-4D10-26B2-2A6C-2B30FF660C4D}"/>
              </a:ext>
            </a:extLst>
          </p:cNvPr>
          <p:cNvSpPr txBox="1"/>
          <p:nvPr/>
        </p:nvSpPr>
        <p:spPr>
          <a:xfrm>
            <a:off x="793750" y="1672591"/>
            <a:ext cx="9271000" cy="230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数据关键帧选取（对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来说选择平均池化还是部分池化，目前手动设定提取比例，考虑引入自注意力机制，可学习的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医学样本数量少，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video transformer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需要训练的数据量大，考虑预训练学习医学领域的普遍特征，（零样本学习，对比学习，自监督预训练）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新架构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mamba</a:t>
            </a:r>
            <a:r>
              <a:rPr lang="en-US" altLang="zh-CN" sz="1600" b="1" kern="100">
                <a:effectLst/>
                <a:latin typeface="Noto Sans" panose="020B0502040504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SSM (State Space Model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，状态空间模型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),Selective Mechanism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（选择性机制）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进一步区分不同亚组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32.6,&quot;width&quot;:9419.5181102362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B258B7-6C4A-44CA-9B6E-F5C886244F44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7087</TotalTime>
  <Words>1368</Words>
  <Application>Microsoft Office PowerPoint</Application>
  <PresentationFormat>宽屏</PresentationFormat>
  <Paragraphs>330</Paragraphs>
  <Slides>19</Slides>
  <Notes>1</Notes>
  <HiddenSlides>0</HiddenSlides>
  <MMClips>4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Noto Sans SC</vt:lpstr>
      <vt:lpstr>等线</vt:lpstr>
      <vt:lpstr>微软雅黑</vt:lpstr>
      <vt:lpstr>Arial</vt:lpstr>
      <vt:lpstr>Calibri</vt:lpstr>
      <vt:lpstr>Noto Sans</vt:lpstr>
      <vt:lpstr>Roboto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Ruichen Zhu</cp:lastModifiedBy>
  <cp:revision>4</cp:revision>
  <dcterms:created xsi:type="dcterms:W3CDTF">2013-01-27T09:14:16Z</dcterms:created>
  <dcterms:modified xsi:type="dcterms:W3CDTF">2026-06-02T12:58:16Z</dcterms:modified>
  <cp:category/>
</cp:coreProperties>
</file>