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9418320" cy="1371600"/>
          </a:xfrm>
          <a:prstGeom prst="rect">
            <a:avLst/>
          </a:prstGeom>
          <a:noFill/>
        </p:spPr>
        <p:txBody>
          <a:bodyPr wrap="square">
            <a:spAutoFit/>
          </a:bodyPr>
          <a:lstStyle/>
          <a:p>
            <a:pPr algn="ctr">
              <a:defRPr sz="4200" b="1">
                <a:solidFill>
                  <a:srgbClr val="FFFFFF"/>
                </a:solidFill>
                <a:latin typeface="Microsoft YaHei"/>
              </a:defRPr>
            </a:pPr>
            <a:r>
              <a:t>基于视频的视网膜脱离</a:t>
            </a:r>
            <a:br/>
            <a:r>
              <a:t>和黄斑状态监测</a:t>
            </a:r>
          </a:p>
        </p:txBody>
      </p:sp>
      <p:sp>
        <p:nvSpPr>
          <p:cNvPr id="5" name="Rectangle 4"/>
          <p:cNvSpPr/>
          <p:nvPr/>
        </p:nvSpPr>
        <p:spPr>
          <a:xfrm>
            <a:off x="4114800" y="3017520"/>
            <a:ext cx="393192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291840"/>
            <a:ext cx="9418320" cy="731520"/>
          </a:xfrm>
          <a:prstGeom prst="rect">
            <a:avLst/>
          </a:prstGeom>
          <a:noFill/>
        </p:spPr>
        <p:txBody>
          <a:bodyPr wrap="square">
            <a:spAutoFit/>
          </a:bodyPr>
          <a:lstStyle/>
          <a:p>
            <a:pPr algn="ctr">
              <a:defRPr sz="1800" b="0">
                <a:solidFill>
                  <a:srgbClr val="BBBBBB"/>
                </a:solidFill>
                <a:latin typeface="Microsoft YaHei"/>
              </a:defRPr>
            </a:pPr>
            <a:r>
              <a:t>Video-based Retinal Detachment and Macula Status Monitoring</a:t>
            </a:r>
            <a:br/>
            <a:r>
              <a:t>基于3D深度学习的眼部超声视频智能诊断系统</a:t>
            </a:r>
          </a:p>
        </p:txBody>
      </p:sp>
      <p:sp>
        <p:nvSpPr>
          <p:cNvPr id="7" name="Rectangle 6"/>
          <p:cNvSpPr/>
          <p:nvPr/>
        </p:nvSpPr>
        <p:spPr>
          <a:xfrm>
            <a:off x="2743200" y="4754880"/>
            <a:ext cx="6675120" cy="1463040"/>
          </a:xfrm>
          <a:prstGeom prst="rect">
            <a:avLst/>
          </a:prstGeom>
          <a:solidFill>
            <a:srgbClr val="24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4892040"/>
            <a:ext cx="6126480" cy="1188720"/>
          </a:xfrm>
          <a:prstGeom prst="rect">
            <a:avLst/>
          </a:prstGeom>
          <a:noFill/>
        </p:spPr>
        <p:txBody>
          <a:bodyPr wrap="square">
            <a:spAutoFit/>
          </a:bodyPr>
          <a:lstStyle/>
          <a:p>
            <a:pPr algn="ctr">
              <a:defRPr sz="1400" b="0">
                <a:solidFill>
                  <a:srgbClr val="AAAAAA"/>
                </a:solidFill>
                <a:latin typeface="Microsoft YaHei"/>
              </a:defRPr>
            </a:pPr>
            <a:r>
              <a:t>ERDES: Eye Retinal DEtachment UltraSound</a:t>
            </a:r>
            <a:br/>
            <a:r>
              <a:t>项目地址: github.com/OSUPCVLab/ERDES  |  arXiv: 2508.04735</a:t>
            </a:r>
            <a:br/>
            <a:r>
              <a:t>报告日期: 2026年5月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目录  CONTENTS</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548640" cy="457200"/>
          </a:xfrm>
          <a:prstGeom prst="rect">
            <a:avLst/>
          </a:prstGeom>
          <a:noFill/>
        </p:spPr>
        <p:txBody>
          <a:bodyPr wrap="square">
            <a:spAutoFit/>
          </a:bodyPr>
          <a:lstStyle/>
          <a:p>
            <a:pPr algn="l">
              <a:defRPr sz="2800" b="1">
                <a:solidFill>
                  <a:srgbClr val="2E86C1"/>
                </a:solidFill>
                <a:latin typeface="Microsoft YaHei"/>
              </a:defRPr>
            </a:pPr>
            <a:r>
              <a:t>01</a:t>
            </a:r>
          </a:p>
        </p:txBody>
      </p:sp>
      <p:sp>
        <p:nvSpPr>
          <p:cNvPr id="6" name="TextBox 5"/>
          <p:cNvSpPr txBox="1"/>
          <p:nvPr/>
        </p:nvSpPr>
        <p:spPr>
          <a:xfrm>
            <a:off x="1737360" y="1828800"/>
            <a:ext cx="3657600" cy="320040"/>
          </a:xfrm>
          <a:prstGeom prst="rect">
            <a:avLst/>
          </a:prstGeom>
          <a:noFill/>
        </p:spPr>
        <p:txBody>
          <a:bodyPr wrap="square">
            <a:spAutoFit/>
          </a:bodyPr>
          <a:lstStyle/>
          <a:p>
            <a:pPr algn="l">
              <a:defRPr sz="2000" b="1">
                <a:solidFill>
                  <a:srgbClr val="1B2A4A"/>
                </a:solidFill>
                <a:latin typeface="Microsoft YaHei"/>
              </a:defRPr>
            </a:pPr>
            <a:r>
              <a:t>研究背景与意义</a:t>
            </a:r>
          </a:p>
        </p:txBody>
      </p:sp>
      <p:sp>
        <p:nvSpPr>
          <p:cNvPr id="7" name="TextBox 6"/>
          <p:cNvSpPr txBox="1"/>
          <p:nvPr/>
        </p:nvSpPr>
        <p:spPr>
          <a:xfrm>
            <a:off x="1737360" y="2103120"/>
            <a:ext cx="5486400" cy="274320"/>
          </a:xfrm>
          <a:prstGeom prst="rect">
            <a:avLst/>
          </a:prstGeom>
          <a:noFill/>
        </p:spPr>
        <p:txBody>
          <a:bodyPr wrap="square">
            <a:spAutoFit/>
          </a:bodyPr>
          <a:lstStyle/>
          <a:p>
            <a:pPr algn="l">
              <a:defRPr sz="1200" b="0">
                <a:solidFill>
                  <a:srgbClr val="999999"/>
                </a:solidFill>
                <a:latin typeface="Microsoft YaHei"/>
              </a:defRPr>
            </a:pPr>
            <a:r>
              <a:t>视网膜脱离的临床挑战与AI诊断需求</a:t>
            </a:r>
          </a:p>
        </p:txBody>
      </p:sp>
      <p:sp>
        <p:nvSpPr>
          <p:cNvPr id="8" name="Rectangle 7"/>
          <p:cNvSpPr/>
          <p:nvPr/>
        </p:nvSpPr>
        <p:spPr>
          <a:xfrm>
            <a:off x="1097280" y="2423160"/>
            <a:ext cx="9601200" cy="381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514600"/>
            <a:ext cx="548640" cy="457200"/>
          </a:xfrm>
          <a:prstGeom prst="rect">
            <a:avLst/>
          </a:prstGeom>
          <a:noFill/>
        </p:spPr>
        <p:txBody>
          <a:bodyPr wrap="square">
            <a:spAutoFit/>
          </a:bodyPr>
          <a:lstStyle/>
          <a:p>
            <a:pPr algn="l">
              <a:defRPr sz="2800" b="1">
                <a:solidFill>
                  <a:srgbClr val="2E86C1"/>
                </a:solidFill>
                <a:latin typeface="Microsoft YaHei"/>
              </a:defRPr>
            </a:pPr>
            <a:r>
              <a:t>02</a:t>
            </a:r>
          </a:p>
        </p:txBody>
      </p:sp>
      <p:sp>
        <p:nvSpPr>
          <p:cNvPr id="10" name="TextBox 9"/>
          <p:cNvSpPr txBox="1"/>
          <p:nvPr/>
        </p:nvSpPr>
        <p:spPr>
          <a:xfrm>
            <a:off x="1737360" y="2514600"/>
            <a:ext cx="3657600" cy="320040"/>
          </a:xfrm>
          <a:prstGeom prst="rect">
            <a:avLst/>
          </a:prstGeom>
          <a:noFill/>
        </p:spPr>
        <p:txBody>
          <a:bodyPr wrap="square">
            <a:spAutoFit/>
          </a:bodyPr>
          <a:lstStyle/>
          <a:p>
            <a:pPr algn="l">
              <a:defRPr sz="2000" b="1">
                <a:solidFill>
                  <a:srgbClr val="1B2A4A"/>
                </a:solidFill>
                <a:latin typeface="Microsoft YaHei"/>
              </a:defRPr>
            </a:pPr>
            <a:r>
              <a:t>ERDES 项目概述</a:t>
            </a:r>
          </a:p>
        </p:txBody>
      </p:sp>
      <p:sp>
        <p:nvSpPr>
          <p:cNvPr id="11" name="TextBox 10"/>
          <p:cNvSpPr txBox="1"/>
          <p:nvPr/>
        </p:nvSpPr>
        <p:spPr>
          <a:xfrm>
            <a:off x="1737360" y="2788920"/>
            <a:ext cx="5486400" cy="274320"/>
          </a:xfrm>
          <a:prstGeom prst="rect">
            <a:avLst/>
          </a:prstGeom>
          <a:noFill/>
        </p:spPr>
        <p:txBody>
          <a:bodyPr wrap="square">
            <a:spAutoFit/>
          </a:bodyPr>
          <a:lstStyle/>
          <a:p>
            <a:pPr algn="l">
              <a:defRPr sz="1200" b="0">
                <a:solidFill>
                  <a:srgbClr val="999999"/>
                </a:solidFill>
                <a:latin typeface="Microsoft YaHei"/>
              </a:defRPr>
            </a:pPr>
            <a:r>
              <a:t>首个眼部超声视频开放基准数据集</a:t>
            </a:r>
          </a:p>
        </p:txBody>
      </p:sp>
      <p:sp>
        <p:nvSpPr>
          <p:cNvPr id="12" name="Rectangle 11"/>
          <p:cNvSpPr/>
          <p:nvPr/>
        </p:nvSpPr>
        <p:spPr>
          <a:xfrm>
            <a:off x="1097280" y="3108960"/>
            <a:ext cx="9601200" cy="381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200400"/>
            <a:ext cx="548640" cy="457200"/>
          </a:xfrm>
          <a:prstGeom prst="rect">
            <a:avLst/>
          </a:prstGeom>
          <a:noFill/>
        </p:spPr>
        <p:txBody>
          <a:bodyPr wrap="square">
            <a:spAutoFit/>
          </a:bodyPr>
          <a:lstStyle/>
          <a:p>
            <a:pPr algn="l">
              <a:defRPr sz="2800" b="1">
                <a:solidFill>
                  <a:srgbClr val="2E86C1"/>
                </a:solidFill>
                <a:latin typeface="Microsoft YaHei"/>
              </a:defRPr>
            </a:pPr>
            <a:r>
              <a:t>03</a:t>
            </a:r>
          </a:p>
        </p:txBody>
      </p:sp>
      <p:sp>
        <p:nvSpPr>
          <p:cNvPr id="14" name="TextBox 13"/>
          <p:cNvSpPr txBox="1"/>
          <p:nvPr/>
        </p:nvSpPr>
        <p:spPr>
          <a:xfrm>
            <a:off x="1737360" y="3200400"/>
            <a:ext cx="3657600" cy="320040"/>
          </a:xfrm>
          <a:prstGeom prst="rect">
            <a:avLst/>
          </a:prstGeom>
          <a:noFill/>
        </p:spPr>
        <p:txBody>
          <a:bodyPr wrap="square">
            <a:spAutoFit/>
          </a:bodyPr>
          <a:lstStyle/>
          <a:p>
            <a:pPr algn="l">
              <a:defRPr sz="2000" b="1">
                <a:solidFill>
                  <a:srgbClr val="1B2A4A"/>
                </a:solidFill>
                <a:latin typeface="Microsoft YaHei"/>
              </a:defRPr>
            </a:pPr>
            <a:r>
              <a:t>数据集与预处理</a:t>
            </a:r>
          </a:p>
        </p:txBody>
      </p:sp>
      <p:sp>
        <p:nvSpPr>
          <p:cNvPr id="15" name="TextBox 14"/>
          <p:cNvSpPr txBox="1"/>
          <p:nvPr/>
        </p:nvSpPr>
        <p:spPr>
          <a:xfrm>
            <a:off x="1737360" y="3474720"/>
            <a:ext cx="5486400" cy="274320"/>
          </a:xfrm>
          <a:prstGeom prst="rect">
            <a:avLst/>
          </a:prstGeom>
          <a:noFill/>
        </p:spPr>
        <p:txBody>
          <a:bodyPr wrap="square">
            <a:spAutoFit/>
          </a:bodyPr>
          <a:lstStyle/>
          <a:p>
            <a:pPr algn="l">
              <a:defRPr sz="1200" b="0">
                <a:solidFill>
                  <a:srgbClr val="999999"/>
                </a:solidFill>
                <a:latin typeface="Microsoft YaHei"/>
              </a:defRPr>
            </a:pPr>
            <a:r>
              <a:t>5,381个视频片段，标准化预处理流程</a:t>
            </a:r>
          </a:p>
        </p:txBody>
      </p:sp>
      <p:sp>
        <p:nvSpPr>
          <p:cNvPr id="16" name="Rectangle 15"/>
          <p:cNvSpPr/>
          <p:nvPr/>
        </p:nvSpPr>
        <p:spPr>
          <a:xfrm>
            <a:off x="1097280" y="3794760"/>
            <a:ext cx="9601200" cy="381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886200"/>
            <a:ext cx="548640" cy="457200"/>
          </a:xfrm>
          <a:prstGeom prst="rect">
            <a:avLst/>
          </a:prstGeom>
          <a:noFill/>
        </p:spPr>
        <p:txBody>
          <a:bodyPr wrap="square">
            <a:spAutoFit/>
          </a:bodyPr>
          <a:lstStyle/>
          <a:p>
            <a:pPr algn="l">
              <a:defRPr sz="2800" b="1">
                <a:solidFill>
                  <a:srgbClr val="2E86C1"/>
                </a:solidFill>
                <a:latin typeface="Microsoft YaHei"/>
              </a:defRPr>
            </a:pPr>
            <a:r>
              <a:t>04</a:t>
            </a:r>
          </a:p>
        </p:txBody>
      </p:sp>
      <p:sp>
        <p:nvSpPr>
          <p:cNvPr id="18" name="TextBox 17"/>
          <p:cNvSpPr txBox="1"/>
          <p:nvPr/>
        </p:nvSpPr>
        <p:spPr>
          <a:xfrm>
            <a:off x="1737360" y="3886200"/>
            <a:ext cx="3657600" cy="320040"/>
          </a:xfrm>
          <a:prstGeom prst="rect">
            <a:avLst/>
          </a:prstGeom>
          <a:noFill/>
        </p:spPr>
        <p:txBody>
          <a:bodyPr wrap="square">
            <a:spAutoFit/>
          </a:bodyPr>
          <a:lstStyle/>
          <a:p>
            <a:pPr algn="l">
              <a:defRPr sz="2000" b="1">
                <a:solidFill>
                  <a:srgbClr val="1B2A4A"/>
                </a:solidFill>
                <a:latin typeface="Microsoft YaHei"/>
              </a:defRPr>
            </a:pPr>
            <a:r>
              <a:t>模型架构</a:t>
            </a:r>
          </a:p>
        </p:txBody>
      </p:sp>
      <p:sp>
        <p:nvSpPr>
          <p:cNvPr id="19" name="TextBox 18"/>
          <p:cNvSpPr txBox="1"/>
          <p:nvPr/>
        </p:nvSpPr>
        <p:spPr>
          <a:xfrm>
            <a:off x="1737360" y="4160520"/>
            <a:ext cx="5486400" cy="274320"/>
          </a:xfrm>
          <a:prstGeom prst="rect">
            <a:avLst/>
          </a:prstGeom>
          <a:noFill/>
        </p:spPr>
        <p:txBody>
          <a:bodyPr wrap="square">
            <a:spAutoFit/>
          </a:bodyPr>
          <a:lstStyle/>
          <a:p>
            <a:pPr algn="l">
              <a:defRPr sz="1200" b="0">
                <a:solidFill>
                  <a:srgbClr val="999999"/>
                </a:solidFill>
                <a:latin typeface="Microsoft YaHei"/>
              </a:defRPr>
            </a:pPr>
            <a:r>
              <a:t>8种3D深度学习架构对比</a:t>
            </a:r>
          </a:p>
        </p:txBody>
      </p:sp>
      <p:sp>
        <p:nvSpPr>
          <p:cNvPr id="20" name="Rectangle 19"/>
          <p:cNvSpPr/>
          <p:nvPr/>
        </p:nvSpPr>
        <p:spPr>
          <a:xfrm>
            <a:off x="1097280" y="4480560"/>
            <a:ext cx="9601200" cy="381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572000"/>
            <a:ext cx="548640" cy="457200"/>
          </a:xfrm>
          <a:prstGeom prst="rect">
            <a:avLst/>
          </a:prstGeom>
          <a:noFill/>
        </p:spPr>
        <p:txBody>
          <a:bodyPr wrap="square">
            <a:spAutoFit/>
          </a:bodyPr>
          <a:lstStyle/>
          <a:p>
            <a:pPr algn="l">
              <a:defRPr sz="2800" b="1">
                <a:solidFill>
                  <a:srgbClr val="2E86C1"/>
                </a:solidFill>
                <a:latin typeface="Microsoft YaHei"/>
              </a:defRPr>
            </a:pPr>
            <a:r>
              <a:t>05</a:t>
            </a:r>
          </a:p>
        </p:txBody>
      </p:sp>
      <p:sp>
        <p:nvSpPr>
          <p:cNvPr id="22" name="TextBox 21"/>
          <p:cNvSpPr txBox="1"/>
          <p:nvPr/>
        </p:nvSpPr>
        <p:spPr>
          <a:xfrm>
            <a:off x="1737360" y="4572000"/>
            <a:ext cx="3657600" cy="320040"/>
          </a:xfrm>
          <a:prstGeom prst="rect">
            <a:avLst/>
          </a:prstGeom>
          <a:noFill/>
        </p:spPr>
        <p:txBody>
          <a:bodyPr wrap="square">
            <a:spAutoFit/>
          </a:bodyPr>
          <a:lstStyle/>
          <a:p>
            <a:pPr algn="l">
              <a:defRPr sz="2000" b="1">
                <a:solidFill>
                  <a:srgbClr val="1B2A4A"/>
                </a:solidFill>
                <a:latin typeface="Microsoft YaHei"/>
              </a:defRPr>
            </a:pPr>
            <a:r>
              <a:t>两阶段诊断流程</a:t>
            </a:r>
          </a:p>
        </p:txBody>
      </p:sp>
      <p:sp>
        <p:nvSpPr>
          <p:cNvPr id="23" name="TextBox 22"/>
          <p:cNvSpPr txBox="1"/>
          <p:nvPr/>
        </p:nvSpPr>
        <p:spPr>
          <a:xfrm>
            <a:off x="1737360" y="4846320"/>
            <a:ext cx="5486400" cy="274320"/>
          </a:xfrm>
          <a:prstGeom prst="rect">
            <a:avLst/>
          </a:prstGeom>
          <a:noFill/>
        </p:spPr>
        <p:txBody>
          <a:bodyPr wrap="square">
            <a:spAutoFit/>
          </a:bodyPr>
          <a:lstStyle/>
          <a:p>
            <a:pPr algn="l">
              <a:defRPr sz="1200" b="0">
                <a:solidFill>
                  <a:srgbClr val="999999"/>
                </a:solidFill>
                <a:latin typeface="Microsoft YaHei"/>
              </a:defRPr>
            </a:pPr>
            <a:r>
              <a:t>RD检测 → 黄斑状态分类</a:t>
            </a:r>
          </a:p>
        </p:txBody>
      </p:sp>
      <p:sp>
        <p:nvSpPr>
          <p:cNvPr id="24" name="Rectangle 23"/>
          <p:cNvSpPr/>
          <p:nvPr/>
        </p:nvSpPr>
        <p:spPr>
          <a:xfrm>
            <a:off x="1097280" y="5166360"/>
            <a:ext cx="9601200" cy="381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257800"/>
            <a:ext cx="548640" cy="457200"/>
          </a:xfrm>
          <a:prstGeom prst="rect">
            <a:avLst/>
          </a:prstGeom>
          <a:noFill/>
        </p:spPr>
        <p:txBody>
          <a:bodyPr wrap="square">
            <a:spAutoFit/>
          </a:bodyPr>
          <a:lstStyle/>
          <a:p>
            <a:pPr algn="l">
              <a:defRPr sz="2800" b="1">
                <a:solidFill>
                  <a:srgbClr val="2E86C1"/>
                </a:solidFill>
                <a:latin typeface="Microsoft YaHei"/>
              </a:defRPr>
            </a:pPr>
            <a:r>
              <a:t>06</a:t>
            </a:r>
          </a:p>
        </p:txBody>
      </p:sp>
      <p:sp>
        <p:nvSpPr>
          <p:cNvPr id="26" name="TextBox 25"/>
          <p:cNvSpPr txBox="1"/>
          <p:nvPr/>
        </p:nvSpPr>
        <p:spPr>
          <a:xfrm>
            <a:off x="1737360" y="5257800"/>
            <a:ext cx="3657600" cy="320040"/>
          </a:xfrm>
          <a:prstGeom prst="rect">
            <a:avLst/>
          </a:prstGeom>
          <a:noFill/>
        </p:spPr>
        <p:txBody>
          <a:bodyPr wrap="square">
            <a:spAutoFit/>
          </a:bodyPr>
          <a:lstStyle/>
          <a:p>
            <a:pPr algn="l">
              <a:defRPr sz="2000" b="1">
                <a:solidFill>
                  <a:srgbClr val="1B2A4A"/>
                </a:solidFill>
                <a:latin typeface="Microsoft YaHei"/>
              </a:defRPr>
            </a:pPr>
            <a:r>
              <a:t>分类任务与实验结果</a:t>
            </a:r>
          </a:p>
        </p:txBody>
      </p:sp>
      <p:sp>
        <p:nvSpPr>
          <p:cNvPr id="27" name="TextBox 26"/>
          <p:cNvSpPr txBox="1"/>
          <p:nvPr/>
        </p:nvSpPr>
        <p:spPr>
          <a:xfrm>
            <a:off x="1737360" y="5532120"/>
            <a:ext cx="5486400" cy="274320"/>
          </a:xfrm>
          <a:prstGeom prst="rect">
            <a:avLst/>
          </a:prstGeom>
          <a:noFill/>
        </p:spPr>
        <p:txBody>
          <a:bodyPr wrap="square">
            <a:spAutoFit/>
          </a:bodyPr>
          <a:lstStyle/>
          <a:p>
            <a:pPr algn="l">
              <a:defRPr sz="1200" b="0">
                <a:solidFill>
                  <a:srgbClr val="999999"/>
                </a:solidFill>
                <a:latin typeface="Microsoft YaHei"/>
              </a:defRPr>
            </a:pPr>
            <a:r>
              <a:t>5个分类任务，最佳模型性能</a:t>
            </a:r>
          </a:p>
        </p:txBody>
      </p:sp>
      <p:sp>
        <p:nvSpPr>
          <p:cNvPr id="28" name="Rectangle 27"/>
          <p:cNvSpPr/>
          <p:nvPr/>
        </p:nvSpPr>
        <p:spPr>
          <a:xfrm>
            <a:off x="1097280" y="5852160"/>
            <a:ext cx="9601200" cy="381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943600"/>
            <a:ext cx="548640" cy="457200"/>
          </a:xfrm>
          <a:prstGeom prst="rect">
            <a:avLst/>
          </a:prstGeom>
          <a:noFill/>
        </p:spPr>
        <p:txBody>
          <a:bodyPr wrap="square">
            <a:spAutoFit/>
          </a:bodyPr>
          <a:lstStyle/>
          <a:p>
            <a:pPr algn="l">
              <a:defRPr sz="2800" b="1">
                <a:solidFill>
                  <a:srgbClr val="2E86C1"/>
                </a:solidFill>
                <a:latin typeface="Microsoft YaHei"/>
              </a:defRPr>
            </a:pPr>
            <a:r>
              <a:t>07</a:t>
            </a:r>
          </a:p>
        </p:txBody>
      </p:sp>
      <p:sp>
        <p:nvSpPr>
          <p:cNvPr id="30" name="TextBox 29"/>
          <p:cNvSpPr txBox="1"/>
          <p:nvPr/>
        </p:nvSpPr>
        <p:spPr>
          <a:xfrm>
            <a:off x="1737360" y="5943600"/>
            <a:ext cx="3657600" cy="320040"/>
          </a:xfrm>
          <a:prstGeom prst="rect">
            <a:avLst/>
          </a:prstGeom>
          <a:noFill/>
        </p:spPr>
        <p:txBody>
          <a:bodyPr wrap="square">
            <a:spAutoFit/>
          </a:bodyPr>
          <a:lstStyle/>
          <a:p>
            <a:pPr algn="l">
              <a:defRPr sz="2000" b="1">
                <a:solidFill>
                  <a:srgbClr val="1B2A4A"/>
                </a:solidFill>
                <a:latin typeface="Microsoft YaHei"/>
              </a:defRPr>
            </a:pPr>
            <a:r>
              <a:t>创新贡献与展望</a:t>
            </a:r>
          </a:p>
        </p:txBody>
      </p:sp>
      <p:sp>
        <p:nvSpPr>
          <p:cNvPr id="31" name="TextBox 30"/>
          <p:cNvSpPr txBox="1"/>
          <p:nvPr/>
        </p:nvSpPr>
        <p:spPr>
          <a:xfrm>
            <a:off x="1737360" y="6217920"/>
            <a:ext cx="5486400" cy="274320"/>
          </a:xfrm>
          <a:prstGeom prst="rect">
            <a:avLst/>
          </a:prstGeom>
          <a:noFill/>
        </p:spPr>
        <p:txBody>
          <a:bodyPr wrap="square">
            <a:spAutoFit/>
          </a:bodyPr>
          <a:lstStyle/>
          <a:p>
            <a:pPr algn="l">
              <a:defRPr sz="1200" b="0">
                <a:solidFill>
                  <a:srgbClr val="999999"/>
                </a:solidFill>
                <a:latin typeface="Microsoft YaHei"/>
              </a:defRPr>
            </a:pPr>
            <a:r>
              <a:t>项目亮点与未来方向</a:t>
            </a:r>
          </a:p>
        </p:txBody>
      </p:sp>
      <p:sp>
        <p:nvSpPr>
          <p:cNvPr id="32" name="Rectangle 31"/>
          <p:cNvSpPr/>
          <p:nvPr/>
        </p:nvSpPr>
        <p:spPr>
          <a:xfrm>
            <a:off x="1097280" y="6537960"/>
            <a:ext cx="9601200" cy="381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研究背景与意义</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BACKGROUND &amp; SIGNIFICANCE</a:t>
            </a:r>
          </a:p>
        </p:txBody>
      </p:sp>
      <p:sp>
        <p:nvSpPr>
          <p:cNvPr id="6" name="Rectangle 5"/>
          <p:cNvSpPr/>
          <p:nvPr/>
        </p:nvSpPr>
        <p:spPr>
          <a:xfrm>
            <a:off x="457200" y="1645920"/>
            <a:ext cx="5303520" cy="22860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4754880" cy="365760"/>
          </a:xfrm>
          <a:prstGeom prst="rect">
            <a:avLst/>
          </a:prstGeom>
          <a:noFill/>
        </p:spPr>
        <p:txBody>
          <a:bodyPr wrap="square">
            <a:spAutoFit/>
          </a:bodyPr>
          <a:lstStyle/>
          <a:p>
            <a:pPr algn="l">
              <a:defRPr sz="2000" b="1">
                <a:solidFill>
                  <a:srgbClr val="C0392B"/>
                </a:solidFill>
                <a:latin typeface="Microsoft YaHei"/>
              </a:defRPr>
            </a:pPr>
            <a:r>
              <a:t>临床挑战</a:t>
            </a:r>
          </a:p>
        </p:txBody>
      </p:sp>
      <p:sp>
        <p:nvSpPr>
          <p:cNvPr id="8" name="TextBox 7"/>
          <p:cNvSpPr txBox="1"/>
          <p:nvPr/>
        </p:nvSpPr>
        <p:spPr>
          <a:xfrm>
            <a:off x="731520" y="2194560"/>
            <a:ext cx="4754880" cy="1645920"/>
          </a:xfrm>
          <a:prstGeom prst="rect">
            <a:avLst/>
          </a:prstGeom>
          <a:noFill/>
        </p:spPr>
        <p:txBody>
          <a:bodyPr wrap="square">
            <a:spAutoFit/>
          </a:bodyPr>
          <a:lstStyle/>
          <a:p>
            <a:pPr>
              <a:spcAft>
                <a:spcPts val="1120"/>
              </a:spcAft>
              <a:defRPr sz="1400" b="1">
                <a:solidFill>
                  <a:srgbClr val="2C3E50"/>
                </a:solidFill>
                <a:latin typeface="Microsoft YaHei"/>
              </a:defRPr>
            </a:pPr>
            <a:r>
              <a:t>• 视网膜脱离(RD)是眼科急症，延误治疗可致永久性视力丧失</a:t>
            </a:r>
          </a:p>
          <a:p>
            <a:pPr>
              <a:spcAft>
                <a:spcPts val="1120"/>
              </a:spcAft>
              <a:defRPr sz="1400">
                <a:solidFill>
                  <a:srgbClr val="2C3E50"/>
                </a:solidFill>
                <a:latin typeface="Microsoft YaHei"/>
              </a:defRPr>
            </a:pPr>
            <a:r>
              <a:t>• 眼部超声是评估视网膜脱离的重要影像学手段</a:t>
            </a:r>
          </a:p>
          <a:p>
            <a:pPr>
              <a:spcAft>
                <a:spcPts val="1120"/>
              </a:spcAft>
              <a:defRPr sz="1400">
                <a:solidFill>
                  <a:srgbClr val="2C3E50"/>
                </a:solidFill>
                <a:latin typeface="Microsoft YaHei"/>
              </a:defRPr>
            </a:pPr>
            <a:r>
              <a:t>• 传统诊断依赖医生经验，存在主观性和误诊风险</a:t>
            </a:r>
          </a:p>
          <a:p>
            <a:pPr>
              <a:spcAft>
                <a:spcPts val="1120"/>
              </a:spcAft>
              <a:defRPr sz="1400">
                <a:solidFill>
                  <a:srgbClr val="2C3E50"/>
                </a:solidFill>
                <a:latin typeface="Microsoft YaHei"/>
              </a:defRPr>
            </a:pPr>
            <a:r>
              <a:t>• 深度学习辅助诊断可提高效率和准确率</a:t>
            </a:r>
          </a:p>
        </p:txBody>
      </p:sp>
      <p:sp>
        <p:nvSpPr>
          <p:cNvPr id="9" name="Rectangle 8"/>
          <p:cNvSpPr/>
          <p:nvPr/>
        </p:nvSpPr>
        <p:spPr>
          <a:xfrm>
            <a:off x="6217920" y="1645920"/>
            <a:ext cx="5303520" cy="22860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37360"/>
            <a:ext cx="4754880" cy="365760"/>
          </a:xfrm>
          <a:prstGeom prst="rect">
            <a:avLst/>
          </a:prstGeom>
          <a:noFill/>
        </p:spPr>
        <p:txBody>
          <a:bodyPr wrap="square">
            <a:spAutoFit/>
          </a:bodyPr>
          <a:lstStyle/>
          <a:p>
            <a:pPr algn="l">
              <a:defRPr sz="2000" b="1">
                <a:solidFill>
                  <a:srgbClr val="27AE60"/>
                </a:solidFill>
                <a:latin typeface="Microsoft YaHei"/>
              </a:defRPr>
            </a:pPr>
            <a:r>
              <a:t>AI解决方案</a:t>
            </a:r>
          </a:p>
        </p:txBody>
      </p:sp>
      <p:sp>
        <p:nvSpPr>
          <p:cNvPr id="11" name="TextBox 10"/>
          <p:cNvSpPr txBox="1"/>
          <p:nvPr/>
        </p:nvSpPr>
        <p:spPr>
          <a:xfrm>
            <a:off x="6492240" y="2194560"/>
            <a:ext cx="4754880" cy="1645920"/>
          </a:xfrm>
          <a:prstGeom prst="rect">
            <a:avLst/>
          </a:prstGeom>
          <a:noFill/>
        </p:spPr>
        <p:txBody>
          <a:bodyPr wrap="square">
            <a:spAutoFit/>
          </a:bodyPr>
          <a:lstStyle/>
          <a:p>
            <a:pPr>
              <a:spcAft>
                <a:spcPts val="1120"/>
              </a:spcAft>
              <a:defRPr sz="1400" b="1">
                <a:solidFill>
                  <a:srgbClr val="2C3E50"/>
                </a:solidFill>
                <a:latin typeface="Microsoft YaHei"/>
              </a:defRPr>
            </a:pPr>
            <a:r>
              <a:t>• 利用3D深度学习从超声视频中自动提取时空特征</a:t>
            </a:r>
          </a:p>
          <a:p>
            <a:pPr>
              <a:spcAft>
                <a:spcPts val="1120"/>
              </a:spcAft>
              <a:defRPr sz="1400">
                <a:solidFill>
                  <a:srgbClr val="2C3E50"/>
                </a:solidFill>
                <a:latin typeface="Microsoft YaHei"/>
              </a:defRPr>
            </a:pPr>
            <a:r>
              <a:t>• 两阶段级联诊断：先检测RD，再评估黄斑状态</a:t>
            </a:r>
          </a:p>
          <a:p>
            <a:pPr>
              <a:spcAft>
                <a:spcPts val="1120"/>
              </a:spcAft>
              <a:defRPr sz="1400">
                <a:solidFill>
                  <a:srgbClr val="2C3E50"/>
                </a:solidFill>
                <a:latin typeface="Microsoft YaHei"/>
              </a:defRPr>
            </a:pPr>
            <a:r>
              <a:t>• 首个标准化开放基准数据集，推动领域研究</a:t>
            </a:r>
          </a:p>
          <a:p>
            <a:pPr>
              <a:spcAft>
                <a:spcPts val="1120"/>
              </a:spcAft>
              <a:defRPr sz="1400">
                <a:solidFill>
                  <a:srgbClr val="2C3E50"/>
                </a:solidFill>
                <a:latin typeface="Microsoft YaHei"/>
              </a:defRPr>
            </a:pPr>
            <a:r>
              <a:t>• 覆盖5个临床分类任务，8种架构全面评估</a:t>
            </a:r>
          </a:p>
        </p:txBody>
      </p:sp>
      <p:sp>
        <p:nvSpPr>
          <p:cNvPr id="12" name="Rectangle 11"/>
          <p:cNvSpPr/>
          <p:nvPr/>
        </p:nvSpPr>
        <p:spPr>
          <a:xfrm>
            <a:off x="731520" y="4389120"/>
            <a:ext cx="2560320" cy="10972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480560"/>
            <a:ext cx="2194560" cy="548640"/>
          </a:xfrm>
          <a:prstGeom prst="rect">
            <a:avLst/>
          </a:prstGeom>
          <a:noFill/>
        </p:spPr>
        <p:txBody>
          <a:bodyPr wrap="square">
            <a:spAutoFit/>
          </a:bodyPr>
          <a:lstStyle/>
          <a:p>
            <a:pPr algn="ctr">
              <a:defRPr sz="3600" b="1">
                <a:solidFill>
                  <a:srgbClr val="FFFFFF"/>
                </a:solidFill>
                <a:latin typeface="Microsoft YaHei"/>
              </a:defRPr>
            </a:pPr>
            <a:r>
              <a:t>5,381</a:t>
            </a:r>
          </a:p>
        </p:txBody>
      </p:sp>
      <p:sp>
        <p:nvSpPr>
          <p:cNvPr id="14" name="TextBox 13"/>
          <p:cNvSpPr txBox="1"/>
          <p:nvPr/>
        </p:nvSpPr>
        <p:spPr>
          <a:xfrm>
            <a:off x="914400" y="5029200"/>
            <a:ext cx="2194560" cy="365760"/>
          </a:xfrm>
          <a:prstGeom prst="rect">
            <a:avLst/>
          </a:prstGeom>
          <a:noFill/>
        </p:spPr>
        <p:txBody>
          <a:bodyPr wrap="square">
            <a:spAutoFit/>
          </a:bodyPr>
          <a:lstStyle/>
          <a:p>
            <a:pPr algn="ctr">
              <a:defRPr sz="1300" b="0">
                <a:solidFill>
                  <a:srgbClr val="FFFFFF"/>
                </a:solidFill>
                <a:latin typeface="Microsoft YaHei"/>
              </a:defRPr>
            </a:pPr>
            <a:r>
              <a:t>超声视频片段</a:t>
            </a:r>
          </a:p>
        </p:txBody>
      </p:sp>
      <p:sp>
        <p:nvSpPr>
          <p:cNvPr id="15" name="Rectangle 14"/>
          <p:cNvSpPr/>
          <p:nvPr/>
        </p:nvSpPr>
        <p:spPr>
          <a:xfrm>
            <a:off x="3566160" y="4389120"/>
            <a:ext cx="2560320" cy="109728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4480560"/>
            <a:ext cx="2194560" cy="548640"/>
          </a:xfrm>
          <a:prstGeom prst="rect">
            <a:avLst/>
          </a:prstGeom>
          <a:noFill/>
        </p:spPr>
        <p:txBody>
          <a:bodyPr wrap="square">
            <a:spAutoFit/>
          </a:bodyPr>
          <a:lstStyle/>
          <a:p>
            <a:pPr algn="ctr">
              <a:defRPr sz="3600" b="1">
                <a:solidFill>
                  <a:srgbClr val="FFFFFF"/>
                </a:solidFill>
                <a:latin typeface="Microsoft YaHei"/>
              </a:defRPr>
            </a:pPr>
            <a:r>
              <a:t>8</a:t>
            </a:r>
          </a:p>
        </p:txBody>
      </p:sp>
      <p:sp>
        <p:nvSpPr>
          <p:cNvPr id="17" name="TextBox 16"/>
          <p:cNvSpPr txBox="1"/>
          <p:nvPr/>
        </p:nvSpPr>
        <p:spPr>
          <a:xfrm>
            <a:off x="3749040" y="5029200"/>
            <a:ext cx="2194560" cy="365760"/>
          </a:xfrm>
          <a:prstGeom prst="rect">
            <a:avLst/>
          </a:prstGeom>
          <a:noFill/>
        </p:spPr>
        <p:txBody>
          <a:bodyPr wrap="square">
            <a:spAutoFit/>
          </a:bodyPr>
          <a:lstStyle/>
          <a:p>
            <a:pPr algn="ctr">
              <a:defRPr sz="1300" b="0">
                <a:solidFill>
                  <a:srgbClr val="FFFFFF"/>
                </a:solidFill>
                <a:latin typeface="Microsoft YaHei"/>
              </a:defRPr>
            </a:pPr>
            <a:r>
              <a:t>3D模型架构</a:t>
            </a:r>
          </a:p>
        </p:txBody>
      </p:sp>
      <p:sp>
        <p:nvSpPr>
          <p:cNvPr id="18" name="Rectangle 17"/>
          <p:cNvSpPr/>
          <p:nvPr/>
        </p:nvSpPr>
        <p:spPr>
          <a:xfrm>
            <a:off x="6400800" y="4389120"/>
            <a:ext cx="2560320" cy="10972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480560"/>
            <a:ext cx="2194560" cy="548640"/>
          </a:xfrm>
          <a:prstGeom prst="rect">
            <a:avLst/>
          </a:prstGeom>
          <a:noFill/>
        </p:spPr>
        <p:txBody>
          <a:bodyPr wrap="square">
            <a:spAutoFit/>
          </a:bodyPr>
          <a:lstStyle/>
          <a:p>
            <a:pPr algn="ctr">
              <a:defRPr sz="3600" b="1">
                <a:solidFill>
                  <a:srgbClr val="FFFFFF"/>
                </a:solidFill>
                <a:latin typeface="Microsoft YaHei"/>
              </a:defRPr>
            </a:pPr>
            <a:r>
              <a:t>5</a:t>
            </a:r>
          </a:p>
        </p:txBody>
      </p:sp>
      <p:sp>
        <p:nvSpPr>
          <p:cNvPr id="20" name="TextBox 19"/>
          <p:cNvSpPr txBox="1"/>
          <p:nvPr/>
        </p:nvSpPr>
        <p:spPr>
          <a:xfrm>
            <a:off x="6583680" y="5029200"/>
            <a:ext cx="2194560" cy="365760"/>
          </a:xfrm>
          <a:prstGeom prst="rect">
            <a:avLst/>
          </a:prstGeom>
          <a:noFill/>
        </p:spPr>
        <p:txBody>
          <a:bodyPr wrap="square">
            <a:spAutoFit/>
          </a:bodyPr>
          <a:lstStyle/>
          <a:p>
            <a:pPr algn="ctr">
              <a:defRPr sz="1300" b="0">
                <a:solidFill>
                  <a:srgbClr val="FFFFFF"/>
                </a:solidFill>
                <a:latin typeface="Microsoft YaHei"/>
              </a:defRPr>
            </a:pPr>
            <a:r>
              <a:t>分类任务</a:t>
            </a:r>
          </a:p>
        </p:txBody>
      </p:sp>
      <p:sp>
        <p:nvSpPr>
          <p:cNvPr id="21" name="Rectangle 20"/>
          <p:cNvSpPr/>
          <p:nvPr/>
        </p:nvSpPr>
        <p:spPr>
          <a:xfrm>
            <a:off x="9235440" y="4389120"/>
            <a:ext cx="2560320" cy="10972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0" y="4480560"/>
            <a:ext cx="2194560" cy="548640"/>
          </a:xfrm>
          <a:prstGeom prst="rect">
            <a:avLst/>
          </a:prstGeom>
          <a:noFill/>
        </p:spPr>
        <p:txBody>
          <a:bodyPr wrap="square">
            <a:spAutoFit/>
          </a:bodyPr>
          <a:lstStyle/>
          <a:p>
            <a:pPr algn="ctr">
              <a:defRPr sz="3600" b="1">
                <a:solidFill>
                  <a:srgbClr val="FFFFFF"/>
                </a:solidFill>
                <a:latin typeface="Microsoft YaHei"/>
              </a:defRPr>
            </a:pPr>
            <a:r>
              <a:t>97.4%</a:t>
            </a:r>
          </a:p>
        </p:txBody>
      </p:sp>
      <p:sp>
        <p:nvSpPr>
          <p:cNvPr id="23" name="TextBox 22"/>
          <p:cNvSpPr txBox="1"/>
          <p:nvPr/>
        </p:nvSpPr>
        <p:spPr>
          <a:xfrm>
            <a:off x="9418320" y="5029200"/>
            <a:ext cx="2194560" cy="365760"/>
          </a:xfrm>
          <a:prstGeom prst="rect">
            <a:avLst/>
          </a:prstGeom>
          <a:noFill/>
        </p:spPr>
        <p:txBody>
          <a:bodyPr wrap="square">
            <a:spAutoFit/>
          </a:bodyPr>
          <a:lstStyle/>
          <a:p>
            <a:pPr algn="ctr">
              <a:defRPr sz="1300" b="0">
                <a:solidFill>
                  <a:srgbClr val="FFFFFF"/>
                </a:solidFill>
                <a:latin typeface="Microsoft YaHei"/>
              </a:defRPr>
            </a:pPr>
            <a:r>
              <a:t>RD检测准确率</a:t>
            </a:r>
          </a:p>
        </p:txBody>
      </p:sp>
      <p:sp>
        <p:nvSpPr>
          <p:cNvPr id="24" name="TextBox 23"/>
          <p:cNvSpPr txBox="1"/>
          <p:nvPr/>
        </p:nvSpPr>
        <p:spPr>
          <a:xfrm>
            <a:off x="731520" y="5760720"/>
            <a:ext cx="10698480" cy="457200"/>
          </a:xfrm>
          <a:prstGeom prst="rect">
            <a:avLst/>
          </a:prstGeom>
          <a:noFill/>
        </p:spPr>
        <p:txBody>
          <a:bodyPr wrap="square">
            <a:spAutoFit/>
          </a:bodyPr>
          <a:lstStyle/>
          <a:p>
            <a:pPr algn="l">
              <a:defRPr sz="1100" b="0">
                <a:solidFill>
                  <a:srgbClr val="999999"/>
                </a:solidFill>
                <a:latin typeface="Microsoft YaHei"/>
              </a:defRPr>
            </a:pPr>
            <a:r>
              <a:t>数据来源: ERDES Dataset (arXiv 2508.04735, Nature Scientific Data 投稿中)  |  模型: PyTorch + Lightning + MONAI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ERDES 项目概述</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PROJECT OVERVIEW</a:t>
            </a:r>
          </a:p>
        </p:txBody>
      </p:sp>
      <p:sp>
        <p:nvSpPr>
          <p:cNvPr id="6" name="TextBox 5"/>
          <p:cNvSpPr txBox="1"/>
          <p:nvPr/>
        </p:nvSpPr>
        <p:spPr>
          <a:xfrm>
            <a:off x="731520" y="1645920"/>
            <a:ext cx="10698480" cy="731520"/>
          </a:xfrm>
          <a:prstGeom prst="rect">
            <a:avLst/>
          </a:prstGeom>
          <a:noFill/>
        </p:spPr>
        <p:txBody>
          <a:bodyPr wrap="square">
            <a:spAutoFit/>
          </a:bodyPr>
          <a:lstStyle/>
          <a:p>
            <a:pPr algn="l">
              <a:defRPr sz="1600" b="0">
                <a:solidFill>
                  <a:srgbClr val="2C3E50"/>
                </a:solidFill>
                <a:latin typeface="Microsoft YaHei"/>
              </a:defRPr>
            </a:pPr>
            <a:r>
              <a:t>ERDES (Eye Retinal DEtachment UltraSound) 是首个面向眼部超声视网膜脱离诊断的开放视频数据集和深度学习基准。</a:t>
            </a:r>
          </a:p>
        </p:txBody>
      </p:sp>
      <p:sp>
        <p:nvSpPr>
          <p:cNvPr id="7" name="Rectangle 6"/>
          <p:cNvSpPr/>
          <p:nvPr/>
        </p:nvSpPr>
        <p:spPr>
          <a:xfrm>
            <a:off x="457200" y="2560320"/>
            <a:ext cx="2697480" cy="22860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651760"/>
            <a:ext cx="2423160" cy="365760"/>
          </a:xfrm>
          <a:prstGeom prst="rect">
            <a:avLst/>
          </a:prstGeom>
          <a:noFill/>
        </p:spPr>
        <p:txBody>
          <a:bodyPr wrap="square">
            <a:spAutoFit/>
          </a:bodyPr>
          <a:lstStyle/>
          <a:p>
            <a:pPr algn="l">
              <a:defRPr sz="1800" b="1">
                <a:solidFill>
                  <a:srgbClr val="2E86C1"/>
                </a:solidFill>
                <a:latin typeface="Microsoft YaHei"/>
              </a:defRPr>
            </a:pPr>
            <a:r>
              <a:t>开源数据集</a:t>
            </a:r>
          </a:p>
        </p:txBody>
      </p:sp>
      <p:sp>
        <p:nvSpPr>
          <p:cNvPr id="9" name="Rectangle 8"/>
          <p:cNvSpPr/>
          <p:nvPr/>
        </p:nvSpPr>
        <p:spPr>
          <a:xfrm>
            <a:off x="594360" y="3017520"/>
            <a:ext cx="13716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200400"/>
            <a:ext cx="2423160" cy="1463040"/>
          </a:xfrm>
          <a:prstGeom prst="rect">
            <a:avLst/>
          </a:prstGeom>
          <a:noFill/>
        </p:spPr>
        <p:txBody>
          <a:bodyPr wrap="square">
            <a:spAutoFit/>
          </a:bodyPr>
          <a:lstStyle/>
          <a:p>
            <a:pPr>
              <a:spcAft>
                <a:spcPts val="720"/>
              </a:spcAft>
              <a:defRPr sz="1200" b="1">
                <a:solidFill>
                  <a:srgbClr val="2C3E50"/>
                </a:solidFill>
                <a:latin typeface="Microsoft YaHei"/>
              </a:defRPr>
            </a:pPr>
            <a:r>
              <a:t>5,381个眼部超声视频片段</a:t>
            </a:r>
          </a:p>
          <a:p>
            <a:pPr>
              <a:spcAft>
                <a:spcPts val="720"/>
              </a:spcAft>
              <a:defRPr sz="1200">
                <a:solidFill>
                  <a:srgbClr val="2C3E50"/>
                </a:solidFill>
                <a:latin typeface="Microsoft YaHei"/>
              </a:defRPr>
            </a:pPr>
            <a:r>
              <a:t>包含正常、PVD、RD等多种病理类型</a:t>
            </a:r>
          </a:p>
          <a:p>
            <a:pPr>
              <a:spcAft>
                <a:spcPts val="720"/>
              </a:spcAft>
              <a:defRPr sz="1200">
                <a:solidFill>
                  <a:srgbClr val="2C3E50"/>
                </a:solidFill>
                <a:latin typeface="Microsoft YaHei"/>
              </a:defRPr>
            </a:pPr>
            <a:r>
              <a:t>标准化的train/val/test划分</a:t>
            </a:r>
          </a:p>
        </p:txBody>
      </p:sp>
      <p:sp>
        <p:nvSpPr>
          <p:cNvPr id="11" name="Rectangle 10"/>
          <p:cNvSpPr/>
          <p:nvPr/>
        </p:nvSpPr>
        <p:spPr>
          <a:xfrm>
            <a:off x="3337560" y="2560320"/>
            <a:ext cx="2697480" cy="22860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2651760"/>
            <a:ext cx="2423160" cy="365760"/>
          </a:xfrm>
          <a:prstGeom prst="rect">
            <a:avLst/>
          </a:prstGeom>
          <a:noFill/>
        </p:spPr>
        <p:txBody>
          <a:bodyPr wrap="square">
            <a:spAutoFit/>
          </a:bodyPr>
          <a:lstStyle/>
          <a:p>
            <a:pPr algn="l">
              <a:defRPr sz="1800" b="1">
                <a:solidFill>
                  <a:srgbClr val="2E86C1"/>
                </a:solidFill>
                <a:latin typeface="Microsoft YaHei"/>
              </a:defRPr>
            </a:pPr>
            <a:r>
              <a:t>深度学习基准</a:t>
            </a:r>
          </a:p>
        </p:txBody>
      </p:sp>
      <p:sp>
        <p:nvSpPr>
          <p:cNvPr id="13" name="Rectangle 12"/>
          <p:cNvSpPr/>
          <p:nvPr/>
        </p:nvSpPr>
        <p:spPr>
          <a:xfrm>
            <a:off x="3474720" y="3017520"/>
            <a:ext cx="13716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3200400"/>
            <a:ext cx="2423160" cy="1463040"/>
          </a:xfrm>
          <a:prstGeom prst="rect">
            <a:avLst/>
          </a:prstGeom>
          <a:noFill/>
        </p:spPr>
        <p:txBody>
          <a:bodyPr wrap="square">
            <a:spAutoFit/>
          </a:bodyPr>
          <a:lstStyle/>
          <a:p>
            <a:pPr>
              <a:spcAft>
                <a:spcPts val="720"/>
              </a:spcAft>
              <a:defRPr sz="1200" b="1">
                <a:solidFill>
                  <a:srgbClr val="2C3E50"/>
                </a:solidFill>
                <a:latin typeface="Microsoft YaHei"/>
              </a:defRPr>
            </a:pPr>
            <a:r>
              <a:t>8种3D架构系统评估</a:t>
            </a:r>
          </a:p>
          <a:p>
            <a:pPr>
              <a:spcAft>
                <a:spcPts val="720"/>
              </a:spcAft>
              <a:defRPr sz="1200">
                <a:solidFill>
                  <a:srgbClr val="2C3E50"/>
                </a:solidFill>
                <a:latin typeface="Microsoft YaHei"/>
              </a:defRPr>
            </a:pPr>
            <a:r>
              <a:t>5个临床分类任务</a:t>
            </a:r>
          </a:p>
          <a:p>
            <a:pPr>
              <a:spcAft>
                <a:spcPts val="720"/>
              </a:spcAft>
              <a:defRPr sz="1200">
                <a:solidFill>
                  <a:srgbClr val="2C3E50"/>
                </a:solidFill>
                <a:latin typeface="Microsoft YaHei"/>
              </a:defRPr>
            </a:pPr>
            <a:r>
              <a:t>统一训练框架(Hydra+Lightning)</a:t>
            </a:r>
          </a:p>
        </p:txBody>
      </p:sp>
      <p:sp>
        <p:nvSpPr>
          <p:cNvPr id="15" name="Rectangle 14"/>
          <p:cNvSpPr/>
          <p:nvPr/>
        </p:nvSpPr>
        <p:spPr>
          <a:xfrm>
            <a:off x="6217920" y="2560320"/>
            <a:ext cx="2697480" cy="22860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651760"/>
            <a:ext cx="2423160" cy="365760"/>
          </a:xfrm>
          <a:prstGeom prst="rect">
            <a:avLst/>
          </a:prstGeom>
          <a:noFill/>
        </p:spPr>
        <p:txBody>
          <a:bodyPr wrap="square">
            <a:spAutoFit/>
          </a:bodyPr>
          <a:lstStyle/>
          <a:p>
            <a:pPr algn="l">
              <a:defRPr sz="1800" b="1">
                <a:solidFill>
                  <a:srgbClr val="2E86C1"/>
                </a:solidFill>
                <a:latin typeface="Microsoft YaHei"/>
              </a:defRPr>
            </a:pPr>
            <a:r>
              <a:t>两阶段诊断流程</a:t>
            </a:r>
          </a:p>
        </p:txBody>
      </p:sp>
      <p:sp>
        <p:nvSpPr>
          <p:cNvPr id="17" name="Rectangle 16"/>
          <p:cNvSpPr/>
          <p:nvPr/>
        </p:nvSpPr>
        <p:spPr>
          <a:xfrm>
            <a:off x="6355080" y="3017520"/>
            <a:ext cx="13716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200400"/>
            <a:ext cx="2423160" cy="1463040"/>
          </a:xfrm>
          <a:prstGeom prst="rect">
            <a:avLst/>
          </a:prstGeom>
          <a:noFill/>
        </p:spPr>
        <p:txBody>
          <a:bodyPr wrap="square">
            <a:spAutoFit/>
          </a:bodyPr>
          <a:lstStyle/>
          <a:p>
            <a:pPr>
              <a:spcAft>
                <a:spcPts val="720"/>
              </a:spcAft>
              <a:defRPr sz="1200" b="1">
                <a:solidFill>
                  <a:srgbClr val="2C3E50"/>
                </a:solidFill>
                <a:latin typeface="Microsoft YaHei"/>
              </a:defRPr>
            </a:pPr>
            <a:r>
              <a:t>Stage 1: 视网膜脱离检测</a:t>
            </a:r>
          </a:p>
          <a:p>
            <a:pPr>
              <a:spcAft>
                <a:spcPts val="720"/>
              </a:spcAft>
              <a:defRPr sz="1200">
                <a:solidFill>
                  <a:srgbClr val="2C3E50"/>
                </a:solidFill>
                <a:latin typeface="Microsoft YaHei"/>
              </a:defRPr>
            </a:pPr>
            <a:r>
              <a:t>Stage 2: 黄斑状态分类</a:t>
            </a:r>
          </a:p>
          <a:p>
            <a:pPr>
              <a:spcAft>
                <a:spcPts val="720"/>
              </a:spcAft>
              <a:defRPr sz="1200">
                <a:solidFill>
                  <a:srgbClr val="2C3E50"/>
                </a:solidFill>
                <a:latin typeface="Microsoft YaHei"/>
              </a:defRPr>
            </a:pPr>
            <a:r>
              <a:t>级联推理，贴近临床工作流</a:t>
            </a:r>
          </a:p>
        </p:txBody>
      </p:sp>
      <p:sp>
        <p:nvSpPr>
          <p:cNvPr id="19" name="Rectangle 18"/>
          <p:cNvSpPr/>
          <p:nvPr/>
        </p:nvSpPr>
        <p:spPr>
          <a:xfrm>
            <a:off x="9098280" y="2560320"/>
            <a:ext cx="2697480" cy="22860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2651760"/>
            <a:ext cx="2423160" cy="365760"/>
          </a:xfrm>
          <a:prstGeom prst="rect">
            <a:avLst/>
          </a:prstGeom>
          <a:noFill/>
        </p:spPr>
        <p:txBody>
          <a:bodyPr wrap="square">
            <a:spAutoFit/>
          </a:bodyPr>
          <a:lstStyle/>
          <a:p>
            <a:pPr algn="l">
              <a:defRPr sz="1800" b="1">
                <a:solidFill>
                  <a:srgbClr val="2E86C1"/>
                </a:solidFill>
                <a:latin typeface="Microsoft YaHei"/>
              </a:defRPr>
            </a:pPr>
            <a:r>
              <a:t>完整工具链</a:t>
            </a:r>
          </a:p>
        </p:txBody>
      </p:sp>
      <p:sp>
        <p:nvSpPr>
          <p:cNvPr id="21" name="Rectangle 20"/>
          <p:cNvSpPr/>
          <p:nvPr/>
        </p:nvSpPr>
        <p:spPr>
          <a:xfrm>
            <a:off x="9235440" y="3017520"/>
            <a:ext cx="13716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3200400"/>
            <a:ext cx="2423160" cy="1463040"/>
          </a:xfrm>
          <a:prstGeom prst="rect">
            <a:avLst/>
          </a:prstGeom>
          <a:noFill/>
        </p:spPr>
        <p:txBody>
          <a:bodyPr wrap="square">
            <a:spAutoFit/>
          </a:bodyPr>
          <a:lstStyle/>
          <a:p>
            <a:pPr>
              <a:spcAft>
                <a:spcPts val="720"/>
              </a:spcAft>
              <a:defRPr sz="1200" b="1">
                <a:solidFill>
                  <a:srgbClr val="2C3E50"/>
                </a:solidFill>
                <a:latin typeface="Microsoft YaHei"/>
              </a:defRPr>
            </a:pPr>
            <a:r>
              <a:t>模型权重开源(HuggingFace)</a:t>
            </a:r>
          </a:p>
          <a:p>
            <a:pPr>
              <a:spcAft>
                <a:spcPts val="720"/>
              </a:spcAft>
              <a:defRPr sz="1200">
                <a:solidFill>
                  <a:srgbClr val="2C3E50"/>
                </a:solidFill>
                <a:latin typeface="Microsoft YaHei"/>
              </a:defRPr>
            </a:pPr>
            <a:r>
              <a:t>数据处理+训练+评估代码</a:t>
            </a:r>
          </a:p>
          <a:p>
            <a:pPr>
              <a:spcAft>
                <a:spcPts val="720"/>
              </a:spcAft>
              <a:defRPr sz="1200">
                <a:solidFill>
                  <a:srgbClr val="2C3E50"/>
                </a:solidFill>
                <a:latin typeface="Microsoft YaHei"/>
              </a:defRPr>
            </a:pPr>
            <a:r>
              <a:t>预训练YOLOv8眼球检测模型</a:t>
            </a:r>
          </a:p>
        </p:txBody>
      </p:sp>
      <p:sp>
        <p:nvSpPr>
          <p:cNvPr id="23" name="Rectangle 22"/>
          <p:cNvSpPr/>
          <p:nvPr/>
        </p:nvSpPr>
        <p:spPr>
          <a:xfrm>
            <a:off x="457200" y="5120640"/>
            <a:ext cx="11247120" cy="12801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212080"/>
            <a:ext cx="2743200" cy="274320"/>
          </a:xfrm>
          <a:prstGeom prst="rect">
            <a:avLst/>
          </a:prstGeom>
          <a:noFill/>
        </p:spPr>
        <p:txBody>
          <a:bodyPr wrap="square">
            <a:spAutoFit/>
          </a:bodyPr>
          <a:lstStyle/>
          <a:p>
            <a:pPr algn="l">
              <a:defRPr sz="1600" b="1">
                <a:solidFill>
                  <a:srgbClr val="FFFFFF"/>
                </a:solidFill>
                <a:latin typeface="Microsoft YaHei"/>
              </a:defRPr>
            </a:pPr>
            <a:r>
              <a:t>技术栈</a:t>
            </a:r>
          </a:p>
        </p:txBody>
      </p:sp>
      <p:sp>
        <p:nvSpPr>
          <p:cNvPr id="25" name="TextBox 24"/>
          <p:cNvSpPr txBox="1"/>
          <p:nvPr/>
        </p:nvSpPr>
        <p:spPr>
          <a:xfrm>
            <a:off x="731520" y="5577840"/>
            <a:ext cx="3474720" cy="274320"/>
          </a:xfrm>
          <a:prstGeom prst="rect">
            <a:avLst/>
          </a:prstGeom>
          <a:noFill/>
        </p:spPr>
        <p:txBody>
          <a:bodyPr wrap="square">
            <a:spAutoFit/>
          </a:bodyPr>
          <a:lstStyle/>
          <a:p>
            <a:pPr algn="l">
              <a:defRPr sz="1200" b="0">
                <a:solidFill>
                  <a:srgbClr val="CCCCCC"/>
                </a:solidFill>
                <a:latin typeface="Microsoft YaHei"/>
              </a:defRPr>
            </a:pPr>
            <a:r>
              <a:t>▸ PyTorch 2.10 + CUDA</a:t>
            </a:r>
          </a:p>
        </p:txBody>
      </p:sp>
      <p:sp>
        <p:nvSpPr>
          <p:cNvPr id="26" name="TextBox 25"/>
          <p:cNvSpPr txBox="1"/>
          <p:nvPr/>
        </p:nvSpPr>
        <p:spPr>
          <a:xfrm>
            <a:off x="4389120" y="5577840"/>
            <a:ext cx="3474720" cy="274320"/>
          </a:xfrm>
          <a:prstGeom prst="rect">
            <a:avLst/>
          </a:prstGeom>
          <a:noFill/>
        </p:spPr>
        <p:txBody>
          <a:bodyPr wrap="square">
            <a:spAutoFit/>
          </a:bodyPr>
          <a:lstStyle/>
          <a:p>
            <a:pPr algn="l">
              <a:defRPr sz="1200" b="0">
                <a:solidFill>
                  <a:srgbClr val="CCCCCC"/>
                </a:solidFill>
                <a:latin typeface="Microsoft YaHei"/>
              </a:defRPr>
            </a:pPr>
            <a:r>
              <a:t>▸ PyTorch Lightning</a:t>
            </a:r>
          </a:p>
        </p:txBody>
      </p:sp>
      <p:sp>
        <p:nvSpPr>
          <p:cNvPr id="27" name="TextBox 26"/>
          <p:cNvSpPr txBox="1"/>
          <p:nvPr/>
        </p:nvSpPr>
        <p:spPr>
          <a:xfrm>
            <a:off x="8046720" y="5577840"/>
            <a:ext cx="3474720" cy="274320"/>
          </a:xfrm>
          <a:prstGeom prst="rect">
            <a:avLst/>
          </a:prstGeom>
          <a:noFill/>
        </p:spPr>
        <p:txBody>
          <a:bodyPr wrap="square">
            <a:spAutoFit/>
          </a:bodyPr>
          <a:lstStyle/>
          <a:p>
            <a:pPr algn="l">
              <a:defRPr sz="1200" b="0">
                <a:solidFill>
                  <a:srgbClr val="CCCCCC"/>
                </a:solidFill>
                <a:latin typeface="Microsoft YaHei"/>
              </a:defRPr>
            </a:pPr>
            <a:r>
              <a:t>▸ MONAI (医学影像)</a:t>
            </a:r>
          </a:p>
        </p:txBody>
      </p:sp>
      <p:sp>
        <p:nvSpPr>
          <p:cNvPr id="28" name="TextBox 27"/>
          <p:cNvSpPr txBox="1"/>
          <p:nvPr/>
        </p:nvSpPr>
        <p:spPr>
          <a:xfrm>
            <a:off x="731520" y="5897879"/>
            <a:ext cx="3474720" cy="274320"/>
          </a:xfrm>
          <a:prstGeom prst="rect">
            <a:avLst/>
          </a:prstGeom>
          <a:noFill/>
        </p:spPr>
        <p:txBody>
          <a:bodyPr wrap="square">
            <a:spAutoFit/>
          </a:bodyPr>
          <a:lstStyle/>
          <a:p>
            <a:pPr algn="l">
              <a:defRPr sz="1200" b="0">
                <a:solidFill>
                  <a:srgbClr val="CCCCCC"/>
                </a:solidFill>
                <a:latin typeface="Microsoft YaHei"/>
              </a:defRPr>
            </a:pPr>
            <a:r>
              <a:t>▸ Hydra (配置管理)</a:t>
            </a:r>
          </a:p>
        </p:txBody>
      </p:sp>
      <p:sp>
        <p:nvSpPr>
          <p:cNvPr id="29" name="TextBox 28"/>
          <p:cNvSpPr txBox="1"/>
          <p:nvPr/>
        </p:nvSpPr>
        <p:spPr>
          <a:xfrm>
            <a:off x="4389120" y="5897879"/>
            <a:ext cx="3474720" cy="274320"/>
          </a:xfrm>
          <a:prstGeom prst="rect">
            <a:avLst/>
          </a:prstGeom>
          <a:noFill/>
        </p:spPr>
        <p:txBody>
          <a:bodyPr wrap="square">
            <a:spAutoFit/>
          </a:bodyPr>
          <a:lstStyle/>
          <a:p>
            <a:pPr algn="l">
              <a:defRPr sz="1200" b="0">
                <a:solidFill>
                  <a:srgbClr val="CCCCCC"/>
                </a:solidFill>
                <a:latin typeface="Microsoft YaHei"/>
              </a:defRPr>
            </a:pPr>
            <a:r>
              <a:t>▸ TorchMetrics</a:t>
            </a:r>
          </a:p>
        </p:txBody>
      </p:sp>
      <p:sp>
        <p:nvSpPr>
          <p:cNvPr id="30" name="TextBox 29"/>
          <p:cNvSpPr txBox="1"/>
          <p:nvPr/>
        </p:nvSpPr>
        <p:spPr>
          <a:xfrm>
            <a:off x="8046720" y="5897879"/>
            <a:ext cx="3474720" cy="274320"/>
          </a:xfrm>
          <a:prstGeom prst="rect">
            <a:avLst/>
          </a:prstGeom>
          <a:noFill/>
        </p:spPr>
        <p:txBody>
          <a:bodyPr wrap="square">
            <a:spAutoFit/>
          </a:bodyPr>
          <a:lstStyle/>
          <a:p>
            <a:pPr algn="l">
              <a:defRPr sz="1200" b="0">
                <a:solidFill>
                  <a:srgbClr val="CCCCCC"/>
                </a:solidFill>
                <a:latin typeface="Microsoft YaHei"/>
              </a:defRPr>
            </a:pPr>
            <a:r>
              <a:t>▸ TensorBoard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数据集概览</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DATASET OVERVIEW — 5,381个眼部超声视频片段</a:t>
            </a:r>
          </a:p>
        </p:txBody>
      </p:sp>
      <p:sp>
        <p:nvSpPr>
          <p:cNvPr id="6" name="TextBox 5"/>
          <p:cNvSpPr txBox="1"/>
          <p:nvPr/>
        </p:nvSpPr>
        <p:spPr>
          <a:xfrm>
            <a:off x="731520" y="1645920"/>
            <a:ext cx="5029200" cy="365760"/>
          </a:xfrm>
          <a:prstGeom prst="rect">
            <a:avLst/>
          </a:prstGeom>
          <a:noFill/>
        </p:spPr>
        <p:txBody>
          <a:bodyPr wrap="square">
            <a:spAutoFit/>
          </a:bodyPr>
          <a:lstStyle/>
          <a:p>
            <a:pPr algn="l">
              <a:defRPr sz="2000" b="1">
                <a:solidFill>
                  <a:srgbClr val="1B2A4A"/>
                </a:solidFill>
                <a:latin typeface="Microsoft YaHei"/>
              </a:defRPr>
            </a:pPr>
            <a:r>
              <a:t>类别分布</a:t>
            </a:r>
          </a:p>
        </p:txBody>
      </p:sp>
      <p:sp>
        <p:nvSpPr>
          <p:cNvPr id="7" name="Rectangle 6"/>
          <p:cNvSpPr/>
          <p:nvPr/>
        </p:nvSpPr>
        <p:spPr>
          <a:xfrm>
            <a:off x="457200" y="2103120"/>
            <a:ext cx="5303520" cy="1828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2743200" cy="320040"/>
          </a:xfrm>
          <a:prstGeom prst="rect">
            <a:avLst/>
          </a:prstGeom>
          <a:noFill/>
        </p:spPr>
        <p:txBody>
          <a:bodyPr wrap="square">
            <a:spAutoFit/>
          </a:bodyPr>
          <a:lstStyle/>
          <a:p>
            <a:pPr algn="l">
              <a:defRPr sz="1600" b="1">
                <a:solidFill>
                  <a:srgbClr val="2E86C1"/>
                </a:solidFill>
                <a:latin typeface="Microsoft YaHei"/>
              </a:defRPr>
            </a:pPr>
            <a:r>
              <a:t>非视网膜脱离 (Non-RD)</a:t>
            </a:r>
          </a:p>
        </p:txBody>
      </p:sp>
      <p:sp>
        <p:nvSpPr>
          <p:cNvPr id="9" name="TextBox 8"/>
          <p:cNvSpPr txBox="1"/>
          <p:nvPr/>
        </p:nvSpPr>
        <p:spPr>
          <a:xfrm>
            <a:off x="3931920" y="2194560"/>
            <a:ext cx="1828800" cy="320040"/>
          </a:xfrm>
          <a:prstGeom prst="rect">
            <a:avLst/>
          </a:prstGeom>
          <a:noFill/>
        </p:spPr>
        <p:txBody>
          <a:bodyPr wrap="square">
            <a:spAutoFit/>
          </a:bodyPr>
          <a:lstStyle/>
          <a:p>
            <a:pPr algn="l">
              <a:defRPr sz="1600" b="1">
                <a:solidFill>
                  <a:srgbClr val="E67E22"/>
                </a:solidFill>
                <a:latin typeface="Microsoft YaHei"/>
              </a:defRPr>
            </a:pPr>
            <a:r>
              <a:t>4,879 (90.7%)</a:t>
            </a:r>
          </a:p>
        </p:txBody>
      </p:sp>
      <p:sp>
        <p:nvSpPr>
          <p:cNvPr id="10" name="TextBox 9"/>
          <p:cNvSpPr txBox="1"/>
          <p:nvPr/>
        </p:nvSpPr>
        <p:spPr>
          <a:xfrm>
            <a:off x="731520" y="2560320"/>
            <a:ext cx="4754880" cy="274320"/>
          </a:xfrm>
          <a:prstGeom prst="rect">
            <a:avLst/>
          </a:prstGeom>
          <a:noFill/>
        </p:spPr>
        <p:txBody>
          <a:bodyPr wrap="square">
            <a:spAutoFit/>
          </a:bodyPr>
          <a:lstStyle/>
          <a:p>
            <a:pPr algn="l">
              <a:defRPr sz="1200" b="0">
                <a:solidFill>
                  <a:srgbClr val="2C3E50"/>
                </a:solidFill>
                <a:latin typeface="Microsoft YaHei"/>
              </a:defRPr>
            </a:pPr>
            <a:r>
              <a:t>  正常 (Normal): 4,233</a:t>
            </a:r>
          </a:p>
        </p:txBody>
      </p:sp>
      <p:sp>
        <p:nvSpPr>
          <p:cNvPr id="11" name="TextBox 10"/>
          <p:cNvSpPr txBox="1"/>
          <p:nvPr/>
        </p:nvSpPr>
        <p:spPr>
          <a:xfrm>
            <a:off x="731520" y="2834639"/>
            <a:ext cx="4754880" cy="274320"/>
          </a:xfrm>
          <a:prstGeom prst="rect">
            <a:avLst/>
          </a:prstGeom>
          <a:noFill/>
        </p:spPr>
        <p:txBody>
          <a:bodyPr wrap="square">
            <a:spAutoFit/>
          </a:bodyPr>
          <a:lstStyle/>
          <a:p>
            <a:pPr algn="l">
              <a:defRPr sz="1200" b="0">
                <a:solidFill>
                  <a:srgbClr val="2C3E50"/>
                </a:solidFill>
                <a:latin typeface="Microsoft YaHei"/>
              </a:defRPr>
            </a:pPr>
            <a:r>
              <a:t>  玻璃体后脱离 (PVD): 646</a:t>
            </a:r>
          </a:p>
        </p:txBody>
      </p:sp>
      <p:sp>
        <p:nvSpPr>
          <p:cNvPr id="12" name="Rectangle 11"/>
          <p:cNvSpPr/>
          <p:nvPr/>
        </p:nvSpPr>
        <p:spPr>
          <a:xfrm>
            <a:off x="457200" y="4114800"/>
            <a:ext cx="5303520" cy="1828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206240"/>
            <a:ext cx="2743200" cy="320040"/>
          </a:xfrm>
          <a:prstGeom prst="rect">
            <a:avLst/>
          </a:prstGeom>
          <a:noFill/>
        </p:spPr>
        <p:txBody>
          <a:bodyPr wrap="square">
            <a:spAutoFit/>
          </a:bodyPr>
          <a:lstStyle/>
          <a:p>
            <a:pPr algn="l">
              <a:defRPr sz="1600" b="1">
                <a:solidFill>
                  <a:srgbClr val="2E86C1"/>
                </a:solidFill>
                <a:latin typeface="Microsoft YaHei"/>
              </a:defRPr>
            </a:pPr>
            <a:r>
              <a:t>视网膜脱离 (RD)</a:t>
            </a:r>
          </a:p>
        </p:txBody>
      </p:sp>
      <p:sp>
        <p:nvSpPr>
          <p:cNvPr id="14" name="TextBox 13"/>
          <p:cNvSpPr txBox="1"/>
          <p:nvPr/>
        </p:nvSpPr>
        <p:spPr>
          <a:xfrm>
            <a:off x="3931920" y="4206240"/>
            <a:ext cx="1828800" cy="320040"/>
          </a:xfrm>
          <a:prstGeom prst="rect">
            <a:avLst/>
          </a:prstGeom>
          <a:noFill/>
        </p:spPr>
        <p:txBody>
          <a:bodyPr wrap="square">
            <a:spAutoFit/>
          </a:bodyPr>
          <a:lstStyle/>
          <a:p>
            <a:pPr algn="l">
              <a:defRPr sz="1600" b="1">
                <a:solidFill>
                  <a:srgbClr val="E67E22"/>
                </a:solidFill>
                <a:latin typeface="Microsoft YaHei"/>
              </a:defRPr>
            </a:pPr>
            <a:r>
              <a:t>502 (9.3%)</a:t>
            </a:r>
          </a:p>
        </p:txBody>
      </p:sp>
      <p:sp>
        <p:nvSpPr>
          <p:cNvPr id="15" name="TextBox 14"/>
          <p:cNvSpPr txBox="1"/>
          <p:nvPr/>
        </p:nvSpPr>
        <p:spPr>
          <a:xfrm>
            <a:off x="731520" y="4572000"/>
            <a:ext cx="4754880" cy="274320"/>
          </a:xfrm>
          <a:prstGeom prst="rect">
            <a:avLst/>
          </a:prstGeom>
          <a:noFill/>
        </p:spPr>
        <p:txBody>
          <a:bodyPr wrap="square">
            <a:spAutoFit/>
          </a:bodyPr>
          <a:lstStyle/>
          <a:p>
            <a:pPr algn="l">
              <a:defRPr sz="1200" b="0">
                <a:solidFill>
                  <a:srgbClr val="2C3E50"/>
                </a:solidFill>
                <a:latin typeface="Microsoft YaHei"/>
              </a:defRPr>
            </a:pPr>
            <a:r>
              <a:t>  黄斑完整 (Macula Intact): 199</a:t>
            </a:r>
          </a:p>
        </p:txBody>
      </p:sp>
      <p:sp>
        <p:nvSpPr>
          <p:cNvPr id="16" name="TextBox 15"/>
          <p:cNvSpPr txBox="1"/>
          <p:nvPr/>
        </p:nvSpPr>
        <p:spPr>
          <a:xfrm>
            <a:off x="731520" y="4846320"/>
            <a:ext cx="4754880" cy="274320"/>
          </a:xfrm>
          <a:prstGeom prst="rect">
            <a:avLst/>
          </a:prstGeom>
          <a:noFill/>
        </p:spPr>
        <p:txBody>
          <a:bodyPr wrap="square">
            <a:spAutoFit/>
          </a:bodyPr>
          <a:lstStyle/>
          <a:p>
            <a:pPr algn="l">
              <a:defRPr sz="1200" b="0">
                <a:solidFill>
                  <a:srgbClr val="2C3E50"/>
                </a:solidFill>
                <a:latin typeface="Microsoft YaHei"/>
              </a:defRPr>
            </a:pPr>
            <a:r>
              <a:t>    └ TD(颞侧) 111 / ND(鼻侧) 88</a:t>
            </a:r>
          </a:p>
        </p:txBody>
      </p:sp>
      <p:sp>
        <p:nvSpPr>
          <p:cNvPr id="17" name="TextBox 16"/>
          <p:cNvSpPr txBox="1"/>
          <p:nvPr/>
        </p:nvSpPr>
        <p:spPr>
          <a:xfrm>
            <a:off x="731520" y="5120640"/>
            <a:ext cx="4754880" cy="274320"/>
          </a:xfrm>
          <a:prstGeom prst="rect">
            <a:avLst/>
          </a:prstGeom>
          <a:noFill/>
        </p:spPr>
        <p:txBody>
          <a:bodyPr wrap="square">
            <a:spAutoFit/>
          </a:bodyPr>
          <a:lstStyle/>
          <a:p>
            <a:pPr algn="l">
              <a:defRPr sz="1200" b="0">
                <a:solidFill>
                  <a:srgbClr val="2C3E50"/>
                </a:solidFill>
                <a:latin typeface="Microsoft YaHei"/>
              </a:defRPr>
            </a:pPr>
            <a:r>
              <a:t>  黄斑脱离 (Macula Detached): 303</a:t>
            </a:r>
          </a:p>
        </p:txBody>
      </p:sp>
      <p:sp>
        <p:nvSpPr>
          <p:cNvPr id="18" name="TextBox 17"/>
          <p:cNvSpPr txBox="1"/>
          <p:nvPr/>
        </p:nvSpPr>
        <p:spPr>
          <a:xfrm>
            <a:off x="731520" y="5394960"/>
            <a:ext cx="4754880" cy="274320"/>
          </a:xfrm>
          <a:prstGeom prst="rect">
            <a:avLst/>
          </a:prstGeom>
          <a:noFill/>
        </p:spPr>
        <p:txBody>
          <a:bodyPr wrap="square">
            <a:spAutoFit/>
          </a:bodyPr>
          <a:lstStyle/>
          <a:p>
            <a:pPr algn="l">
              <a:defRPr sz="1200" b="0">
                <a:solidFill>
                  <a:srgbClr val="2C3E50"/>
                </a:solidFill>
                <a:latin typeface="Microsoft YaHei"/>
              </a:defRPr>
            </a:pPr>
            <a:r>
              <a:t>    └ TD(颞侧) 151 / Bilateral(双侧) 152</a:t>
            </a:r>
          </a:p>
        </p:txBody>
      </p:sp>
      <p:sp>
        <p:nvSpPr>
          <p:cNvPr id="19" name="TextBox 18"/>
          <p:cNvSpPr txBox="1"/>
          <p:nvPr/>
        </p:nvSpPr>
        <p:spPr>
          <a:xfrm>
            <a:off x="6400800" y="1645920"/>
            <a:ext cx="5029200" cy="365760"/>
          </a:xfrm>
          <a:prstGeom prst="rect">
            <a:avLst/>
          </a:prstGeom>
          <a:noFill/>
        </p:spPr>
        <p:txBody>
          <a:bodyPr wrap="square">
            <a:spAutoFit/>
          </a:bodyPr>
          <a:lstStyle/>
          <a:p>
            <a:pPr algn="l">
              <a:defRPr sz="2000" b="1">
                <a:solidFill>
                  <a:srgbClr val="1B2A4A"/>
                </a:solidFill>
                <a:latin typeface="Microsoft YaHei"/>
              </a:defRPr>
            </a:pPr>
            <a:r>
              <a:t>视频属性</a:t>
            </a:r>
          </a:p>
        </p:txBody>
      </p:sp>
      <p:sp>
        <p:nvSpPr>
          <p:cNvPr id="20" name="Rectangle 19"/>
          <p:cNvSpPr/>
          <p:nvPr/>
        </p:nvSpPr>
        <p:spPr>
          <a:xfrm>
            <a:off x="6400800" y="2103120"/>
            <a:ext cx="5303520" cy="32004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2194560"/>
            <a:ext cx="1828800" cy="274320"/>
          </a:xfrm>
          <a:prstGeom prst="rect">
            <a:avLst/>
          </a:prstGeom>
          <a:noFill/>
        </p:spPr>
        <p:txBody>
          <a:bodyPr wrap="square">
            <a:spAutoFit/>
          </a:bodyPr>
          <a:lstStyle/>
          <a:p>
            <a:pPr algn="l">
              <a:defRPr sz="1200" b="1">
                <a:solidFill>
                  <a:srgbClr val="2E86C1"/>
                </a:solidFill>
                <a:latin typeface="Microsoft YaHei"/>
              </a:defRPr>
            </a:pPr>
            <a:r>
              <a:t>采集设备</a:t>
            </a:r>
          </a:p>
        </p:txBody>
      </p:sp>
      <p:sp>
        <p:nvSpPr>
          <p:cNvPr id="22" name="TextBox 21"/>
          <p:cNvSpPr txBox="1"/>
          <p:nvPr/>
        </p:nvSpPr>
        <p:spPr>
          <a:xfrm>
            <a:off x="8503920" y="2194560"/>
            <a:ext cx="2926080" cy="274320"/>
          </a:xfrm>
          <a:prstGeom prst="rect">
            <a:avLst/>
          </a:prstGeom>
          <a:noFill/>
        </p:spPr>
        <p:txBody>
          <a:bodyPr wrap="square">
            <a:spAutoFit/>
          </a:bodyPr>
          <a:lstStyle/>
          <a:p>
            <a:pPr algn="l">
              <a:defRPr sz="1200" b="0">
                <a:solidFill>
                  <a:srgbClr val="2C3E50"/>
                </a:solidFill>
                <a:latin typeface="Microsoft YaHei"/>
              </a:defRPr>
            </a:pPr>
            <a:r>
              <a:t>眼部超声扫描仪</a:t>
            </a:r>
          </a:p>
        </p:txBody>
      </p:sp>
      <p:sp>
        <p:nvSpPr>
          <p:cNvPr id="23" name="TextBox 22"/>
          <p:cNvSpPr txBox="1"/>
          <p:nvPr/>
        </p:nvSpPr>
        <p:spPr>
          <a:xfrm>
            <a:off x="6675120" y="2514600"/>
            <a:ext cx="1828800" cy="274320"/>
          </a:xfrm>
          <a:prstGeom prst="rect">
            <a:avLst/>
          </a:prstGeom>
          <a:noFill/>
        </p:spPr>
        <p:txBody>
          <a:bodyPr wrap="square">
            <a:spAutoFit/>
          </a:bodyPr>
          <a:lstStyle/>
          <a:p>
            <a:pPr algn="l">
              <a:defRPr sz="1200" b="1">
                <a:solidFill>
                  <a:srgbClr val="2E86C1"/>
                </a:solidFill>
                <a:latin typeface="Microsoft YaHei"/>
              </a:defRPr>
            </a:pPr>
            <a:r>
              <a:t>视频格式</a:t>
            </a:r>
          </a:p>
        </p:txBody>
      </p:sp>
      <p:sp>
        <p:nvSpPr>
          <p:cNvPr id="24" name="TextBox 23"/>
          <p:cNvSpPr txBox="1"/>
          <p:nvPr/>
        </p:nvSpPr>
        <p:spPr>
          <a:xfrm>
            <a:off x="8503920" y="2514600"/>
            <a:ext cx="2926080" cy="274320"/>
          </a:xfrm>
          <a:prstGeom prst="rect">
            <a:avLst/>
          </a:prstGeom>
          <a:noFill/>
        </p:spPr>
        <p:txBody>
          <a:bodyPr wrap="square">
            <a:spAutoFit/>
          </a:bodyPr>
          <a:lstStyle/>
          <a:p>
            <a:pPr algn="l">
              <a:defRPr sz="1200" b="0">
                <a:solidFill>
                  <a:srgbClr val="2C3E50"/>
                </a:solidFill>
                <a:latin typeface="Microsoft YaHei"/>
              </a:defRPr>
            </a:pPr>
            <a:r>
              <a:t>MP4</a:t>
            </a:r>
          </a:p>
        </p:txBody>
      </p:sp>
      <p:sp>
        <p:nvSpPr>
          <p:cNvPr id="25" name="TextBox 24"/>
          <p:cNvSpPr txBox="1"/>
          <p:nvPr/>
        </p:nvSpPr>
        <p:spPr>
          <a:xfrm>
            <a:off x="6675120" y="2834639"/>
            <a:ext cx="1828800" cy="274320"/>
          </a:xfrm>
          <a:prstGeom prst="rect">
            <a:avLst/>
          </a:prstGeom>
          <a:noFill/>
        </p:spPr>
        <p:txBody>
          <a:bodyPr wrap="square">
            <a:spAutoFit/>
          </a:bodyPr>
          <a:lstStyle/>
          <a:p>
            <a:pPr algn="l">
              <a:defRPr sz="1200" b="1">
                <a:solidFill>
                  <a:srgbClr val="2E86C1"/>
                </a:solidFill>
                <a:latin typeface="Microsoft YaHei"/>
              </a:defRPr>
            </a:pPr>
            <a:r>
              <a:t>FPS 范围</a:t>
            </a:r>
          </a:p>
        </p:txBody>
      </p:sp>
      <p:sp>
        <p:nvSpPr>
          <p:cNvPr id="26" name="TextBox 25"/>
          <p:cNvSpPr txBox="1"/>
          <p:nvPr/>
        </p:nvSpPr>
        <p:spPr>
          <a:xfrm>
            <a:off x="8503920" y="2834639"/>
            <a:ext cx="2926080" cy="274320"/>
          </a:xfrm>
          <a:prstGeom prst="rect">
            <a:avLst/>
          </a:prstGeom>
          <a:noFill/>
        </p:spPr>
        <p:txBody>
          <a:bodyPr wrap="square">
            <a:spAutoFit/>
          </a:bodyPr>
          <a:lstStyle/>
          <a:p>
            <a:pPr algn="l">
              <a:defRPr sz="1200" b="0">
                <a:solidFill>
                  <a:srgbClr val="2C3E50"/>
                </a:solidFill>
                <a:latin typeface="Microsoft YaHei"/>
              </a:defRPr>
            </a:pPr>
            <a:r>
              <a:t>7.04 — 55.87 (平均 26.88)</a:t>
            </a:r>
          </a:p>
        </p:txBody>
      </p:sp>
      <p:sp>
        <p:nvSpPr>
          <p:cNvPr id="27" name="TextBox 26"/>
          <p:cNvSpPr txBox="1"/>
          <p:nvPr/>
        </p:nvSpPr>
        <p:spPr>
          <a:xfrm>
            <a:off x="6675120" y="3154679"/>
            <a:ext cx="1828800" cy="274320"/>
          </a:xfrm>
          <a:prstGeom prst="rect">
            <a:avLst/>
          </a:prstGeom>
          <a:noFill/>
        </p:spPr>
        <p:txBody>
          <a:bodyPr wrap="square">
            <a:spAutoFit/>
          </a:bodyPr>
          <a:lstStyle/>
          <a:p>
            <a:pPr algn="l">
              <a:defRPr sz="1200" b="1">
                <a:solidFill>
                  <a:srgbClr val="2E86C1"/>
                </a:solidFill>
                <a:latin typeface="Microsoft YaHei"/>
              </a:defRPr>
            </a:pPr>
            <a:r>
              <a:t>帧数范围</a:t>
            </a:r>
          </a:p>
        </p:txBody>
      </p:sp>
      <p:sp>
        <p:nvSpPr>
          <p:cNvPr id="28" name="TextBox 27"/>
          <p:cNvSpPr txBox="1"/>
          <p:nvPr/>
        </p:nvSpPr>
        <p:spPr>
          <a:xfrm>
            <a:off x="8503920" y="3154679"/>
            <a:ext cx="2926080" cy="274320"/>
          </a:xfrm>
          <a:prstGeom prst="rect">
            <a:avLst/>
          </a:prstGeom>
          <a:noFill/>
        </p:spPr>
        <p:txBody>
          <a:bodyPr wrap="square">
            <a:spAutoFit/>
          </a:bodyPr>
          <a:lstStyle/>
          <a:p>
            <a:pPr algn="l">
              <a:defRPr sz="1200" b="0">
                <a:solidFill>
                  <a:srgbClr val="2C3E50"/>
                </a:solidFill>
                <a:latin typeface="Microsoft YaHei"/>
              </a:defRPr>
            </a:pPr>
            <a:r>
              <a:t>3 — 638 帧 (平均 92.0)</a:t>
            </a:r>
          </a:p>
        </p:txBody>
      </p:sp>
      <p:sp>
        <p:nvSpPr>
          <p:cNvPr id="29" name="TextBox 28"/>
          <p:cNvSpPr txBox="1"/>
          <p:nvPr/>
        </p:nvSpPr>
        <p:spPr>
          <a:xfrm>
            <a:off x="6675120" y="3474720"/>
            <a:ext cx="1828800" cy="274320"/>
          </a:xfrm>
          <a:prstGeom prst="rect">
            <a:avLst/>
          </a:prstGeom>
          <a:noFill/>
        </p:spPr>
        <p:txBody>
          <a:bodyPr wrap="square">
            <a:spAutoFit/>
          </a:bodyPr>
          <a:lstStyle/>
          <a:p>
            <a:pPr algn="l">
              <a:defRPr sz="1200" b="1">
                <a:solidFill>
                  <a:srgbClr val="2E86C1"/>
                </a:solidFill>
                <a:latin typeface="Microsoft YaHei"/>
              </a:defRPr>
            </a:pPr>
            <a:r>
              <a:t>时长范围</a:t>
            </a:r>
          </a:p>
        </p:txBody>
      </p:sp>
      <p:sp>
        <p:nvSpPr>
          <p:cNvPr id="30" name="TextBox 29"/>
          <p:cNvSpPr txBox="1"/>
          <p:nvPr/>
        </p:nvSpPr>
        <p:spPr>
          <a:xfrm>
            <a:off x="8503920" y="3474720"/>
            <a:ext cx="2926080" cy="274320"/>
          </a:xfrm>
          <a:prstGeom prst="rect">
            <a:avLst/>
          </a:prstGeom>
          <a:noFill/>
        </p:spPr>
        <p:txBody>
          <a:bodyPr wrap="square">
            <a:spAutoFit/>
          </a:bodyPr>
          <a:lstStyle/>
          <a:p>
            <a:pPr algn="l">
              <a:defRPr sz="1200" b="0">
                <a:solidFill>
                  <a:srgbClr val="2C3E50"/>
                </a:solidFill>
                <a:latin typeface="Microsoft YaHei"/>
              </a:defRPr>
            </a:pPr>
            <a:r>
              <a:t>0.12s — 25.52s (平均 3.44s)</a:t>
            </a:r>
          </a:p>
        </p:txBody>
      </p:sp>
      <p:sp>
        <p:nvSpPr>
          <p:cNvPr id="31" name="TextBox 30"/>
          <p:cNvSpPr txBox="1"/>
          <p:nvPr/>
        </p:nvSpPr>
        <p:spPr>
          <a:xfrm>
            <a:off x="6675120" y="3794760"/>
            <a:ext cx="1828800" cy="274320"/>
          </a:xfrm>
          <a:prstGeom prst="rect">
            <a:avLst/>
          </a:prstGeom>
          <a:noFill/>
        </p:spPr>
        <p:txBody>
          <a:bodyPr wrap="square">
            <a:spAutoFit/>
          </a:bodyPr>
          <a:lstStyle/>
          <a:p>
            <a:pPr algn="l">
              <a:defRPr sz="1200" b="1">
                <a:solidFill>
                  <a:srgbClr val="2E86C1"/>
                </a:solidFill>
                <a:latin typeface="Microsoft YaHei"/>
              </a:defRPr>
            </a:pPr>
            <a:r>
              <a:t>输入尺寸</a:t>
            </a:r>
          </a:p>
        </p:txBody>
      </p:sp>
      <p:sp>
        <p:nvSpPr>
          <p:cNvPr id="32" name="TextBox 31"/>
          <p:cNvSpPr txBox="1"/>
          <p:nvPr/>
        </p:nvSpPr>
        <p:spPr>
          <a:xfrm>
            <a:off x="8503920" y="3794760"/>
            <a:ext cx="2926080" cy="274320"/>
          </a:xfrm>
          <a:prstGeom prst="rect">
            <a:avLst/>
          </a:prstGeom>
          <a:noFill/>
        </p:spPr>
        <p:txBody>
          <a:bodyPr wrap="square">
            <a:spAutoFit/>
          </a:bodyPr>
          <a:lstStyle/>
          <a:p>
            <a:pPr algn="l">
              <a:defRPr sz="1200" b="0">
                <a:solidFill>
                  <a:srgbClr val="2C3E50"/>
                </a:solidFill>
                <a:latin typeface="Microsoft YaHei"/>
              </a:defRPr>
            </a:pPr>
            <a:r>
              <a:t>96 × 128 × 128 (D×H×W)</a:t>
            </a:r>
          </a:p>
        </p:txBody>
      </p:sp>
      <p:sp>
        <p:nvSpPr>
          <p:cNvPr id="33" name="TextBox 32"/>
          <p:cNvSpPr txBox="1"/>
          <p:nvPr/>
        </p:nvSpPr>
        <p:spPr>
          <a:xfrm>
            <a:off x="6675120" y="4114800"/>
            <a:ext cx="1828800" cy="274320"/>
          </a:xfrm>
          <a:prstGeom prst="rect">
            <a:avLst/>
          </a:prstGeom>
          <a:noFill/>
        </p:spPr>
        <p:txBody>
          <a:bodyPr wrap="square">
            <a:spAutoFit/>
          </a:bodyPr>
          <a:lstStyle/>
          <a:p>
            <a:pPr algn="l">
              <a:defRPr sz="1200" b="1">
                <a:solidFill>
                  <a:srgbClr val="2E86C1"/>
                </a:solidFill>
                <a:latin typeface="Microsoft YaHei"/>
              </a:defRPr>
            </a:pPr>
            <a:r>
              <a:t>通道数</a:t>
            </a:r>
          </a:p>
        </p:txBody>
      </p:sp>
      <p:sp>
        <p:nvSpPr>
          <p:cNvPr id="34" name="TextBox 33"/>
          <p:cNvSpPr txBox="1"/>
          <p:nvPr/>
        </p:nvSpPr>
        <p:spPr>
          <a:xfrm>
            <a:off x="8503920" y="4114800"/>
            <a:ext cx="2926080" cy="274320"/>
          </a:xfrm>
          <a:prstGeom prst="rect">
            <a:avLst/>
          </a:prstGeom>
          <a:noFill/>
        </p:spPr>
        <p:txBody>
          <a:bodyPr wrap="square">
            <a:spAutoFit/>
          </a:bodyPr>
          <a:lstStyle/>
          <a:p>
            <a:pPr algn="l">
              <a:defRPr sz="1200" b="0">
                <a:solidFill>
                  <a:srgbClr val="2C3E50"/>
                </a:solidFill>
                <a:latin typeface="Microsoft YaHei"/>
              </a:defRPr>
            </a:pPr>
            <a:r>
              <a:t>1 (灰度)</a:t>
            </a:r>
          </a:p>
        </p:txBody>
      </p:sp>
      <p:sp>
        <p:nvSpPr>
          <p:cNvPr id="35" name="TextBox 34"/>
          <p:cNvSpPr txBox="1"/>
          <p:nvPr/>
        </p:nvSpPr>
        <p:spPr>
          <a:xfrm>
            <a:off x="6675120" y="4434840"/>
            <a:ext cx="1828800" cy="274320"/>
          </a:xfrm>
          <a:prstGeom prst="rect">
            <a:avLst/>
          </a:prstGeom>
          <a:noFill/>
        </p:spPr>
        <p:txBody>
          <a:bodyPr wrap="square">
            <a:spAutoFit/>
          </a:bodyPr>
          <a:lstStyle/>
          <a:p>
            <a:pPr algn="l">
              <a:defRPr sz="1200" b="1">
                <a:solidFill>
                  <a:srgbClr val="2E86C1"/>
                </a:solidFill>
                <a:latin typeface="Microsoft YaHei"/>
              </a:defRPr>
            </a:pPr>
            <a:r>
              <a:t>标签类型</a:t>
            </a:r>
          </a:p>
        </p:txBody>
      </p:sp>
      <p:sp>
        <p:nvSpPr>
          <p:cNvPr id="36" name="TextBox 35"/>
          <p:cNvSpPr txBox="1"/>
          <p:nvPr/>
        </p:nvSpPr>
        <p:spPr>
          <a:xfrm>
            <a:off x="8503920" y="4434840"/>
            <a:ext cx="2926080" cy="274320"/>
          </a:xfrm>
          <a:prstGeom prst="rect">
            <a:avLst/>
          </a:prstGeom>
          <a:noFill/>
        </p:spPr>
        <p:txBody>
          <a:bodyPr wrap="square">
            <a:spAutoFit/>
          </a:bodyPr>
          <a:lstStyle/>
          <a:p>
            <a:pPr algn="l">
              <a:defRPr sz="1200" b="0">
                <a:solidFill>
                  <a:srgbClr val="2C3E50"/>
                </a:solidFill>
                <a:latin typeface="Microsoft YaHei"/>
              </a:defRPr>
            </a:pPr>
            <a:r>
              <a:t>二分类 (0/1)</a:t>
            </a:r>
          </a:p>
        </p:txBody>
      </p:sp>
      <p:sp>
        <p:nvSpPr>
          <p:cNvPr id="37" name="TextBox 36"/>
          <p:cNvSpPr txBox="1"/>
          <p:nvPr/>
        </p:nvSpPr>
        <p:spPr>
          <a:xfrm>
            <a:off x="6675120" y="4754879"/>
            <a:ext cx="1828800" cy="274320"/>
          </a:xfrm>
          <a:prstGeom prst="rect">
            <a:avLst/>
          </a:prstGeom>
          <a:noFill/>
        </p:spPr>
        <p:txBody>
          <a:bodyPr wrap="square">
            <a:spAutoFit/>
          </a:bodyPr>
          <a:lstStyle/>
          <a:p>
            <a:pPr algn="l">
              <a:defRPr sz="1200" b="1">
                <a:solidFill>
                  <a:srgbClr val="2E86C1"/>
                </a:solidFill>
                <a:latin typeface="Microsoft YaHei"/>
              </a:defRPr>
            </a:pPr>
            <a:r>
              <a:t>数据划分</a:t>
            </a:r>
          </a:p>
        </p:txBody>
      </p:sp>
      <p:sp>
        <p:nvSpPr>
          <p:cNvPr id="38" name="TextBox 37"/>
          <p:cNvSpPr txBox="1"/>
          <p:nvPr/>
        </p:nvSpPr>
        <p:spPr>
          <a:xfrm>
            <a:off x="8503920" y="4754879"/>
            <a:ext cx="2926080" cy="274320"/>
          </a:xfrm>
          <a:prstGeom prst="rect">
            <a:avLst/>
          </a:prstGeom>
          <a:noFill/>
        </p:spPr>
        <p:txBody>
          <a:bodyPr wrap="square">
            <a:spAutoFit/>
          </a:bodyPr>
          <a:lstStyle/>
          <a:p>
            <a:pPr algn="l">
              <a:defRPr sz="1200" b="0">
                <a:solidFill>
                  <a:srgbClr val="2C3E50"/>
                </a:solidFill>
                <a:latin typeface="Microsoft YaHei"/>
              </a:defRPr>
            </a:pPr>
            <a:r>
              <a:t>train/val/test 分层划分</a:t>
            </a:r>
          </a:p>
        </p:txBody>
      </p:sp>
      <p:sp>
        <p:nvSpPr>
          <p:cNvPr id="39" name="TextBox 38"/>
          <p:cNvSpPr txBox="1"/>
          <p:nvPr/>
        </p:nvSpPr>
        <p:spPr>
          <a:xfrm>
            <a:off x="6400800" y="4480560"/>
            <a:ext cx="5029200" cy="365760"/>
          </a:xfrm>
          <a:prstGeom prst="rect">
            <a:avLst/>
          </a:prstGeom>
          <a:noFill/>
        </p:spPr>
        <p:txBody>
          <a:bodyPr wrap="square">
            <a:spAutoFit/>
          </a:bodyPr>
          <a:lstStyle/>
          <a:p>
            <a:pPr algn="l">
              <a:defRPr sz="1600" b="1">
                <a:solidFill>
                  <a:srgbClr val="1B2A4A"/>
                </a:solidFill>
                <a:latin typeface="Microsoft YaHei"/>
              </a:defRPr>
            </a:pPr>
            <a:r>
              <a:t>各任务数据划分</a:t>
            </a:r>
          </a:p>
        </p:txBody>
      </p:sp>
      <p:sp>
        <p:nvSpPr>
          <p:cNvPr id="40" name="Rectangle 39"/>
          <p:cNvSpPr/>
          <p:nvPr/>
        </p:nvSpPr>
        <p:spPr>
          <a:xfrm>
            <a:off x="6400800" y="4892040"/>
            <a:ext cx="1280160" cy="2743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46520" y="4892040"/>
            <a:ext cx="1188720" cy="274320"/>
          </a:xfrm>
          <a:prstGeom prst="rect">
            <a:avLst/>
          </a:prstGeom>
          <a:noFill/>
        </p:spPr>
        <p:txBody>
          <a:bodyPr wrap="square">
            <a:spAutoFit/>
          </a:bodyPr>
          <a:lstStyle/>
          <a:p>
            <a:pPr algn="ctr">
              <a:defRPr sz="1000" b="1">
                <a:solidFill>
                  <a:srgbClr val="FFFFFF"/>
                </a:solidFill>
                <a:latin typeface="Microsoft YaHei"/>
              </a:defRPr>
            </a:pPr>
            <a:r>
              <a:t>任务</a:t>
            </a:r>
          </a:p>
        </p:txBody>
      </p:sp>
      <p:sp>
        <p:nvSpPr>
          <p:cNvPr id="42" name="Rectangle 41"/>
          <p:cNvSpPr/>
          <p:nvPr/>
        </p:nvSpPr>
        <p:spPr>
          <a:xfrm>
            <a:off x="7772400" y="4892040"/>
            <a:ext cx="1280160" cy="2743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18120" y="4892040"/>
            <a:ext cx="1188720" cy="274320"/>
          </a:xfrm>
          <a:prstGeom prst="rect">
            <a:avLst/>
          </a:prstGeom>
          <a:noFill/>
        </p:spPr>
        <p:txBody>
          <a:bodyPr wrap="square">
            <a:spAutoFit/>
          </a:bodyPr>
          <a:lstStyle/>
          <a:p>
            <a:pPr algn="ctr">
              <a:defRPr sz="1000" b="1">
                <a:solidFill>
                  <a:srgbClr val="FFFFFF"/>
                </a:solidFill>
                <a:latin typeface="Microsoft YaHei"/>
              </a:defRPr>
            </a:pPr>
            <a:r>
              <a:t>训练</a:t>
            </a:r>
          </a:p>
        </p:txBody>
      </p:sp>
      <p:sp>
        <p:nvSpPr>
          <p:cNvPr id="44" name="Rectangle 43"/>
          <p:cNvSpPr/>
          <p:nvPr/>
        </p:nvSpPr>
        <p:spPr>
          <a:xfrm>
            <a:off x="9144000" y="4892040"/>
            <a:ext cx="1280160" cy="2743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89720" y="4892040"/>
            <a:ext cx="1188720" cy="274320"/>
          </a:xfrm>
          <a:prstGeom prst="rect">
            <a:avLst/>
          </a:prstGeom>
          <a:noFill/>
        </p:spPr>
        <p:txBody>
          <a:bodyPr wrap="square">
            <a:spAutoFit/>
          </a:bodyPr>
          <a:lstStyle/>
          <a:p>
            <a:pPr algn="ctr">
              <a:defRPr sz="1000" b="1">
                <a:solidFill>
                  <a:srgbClr val="FFFFFF"/>
                </a:solidFill>
                <a:latin typeface="Microsoft YaHei"/>
              </a:defRPr>
            </a:pPr>
            <a:r>
              <a:t>验证</a:t>
            </a:r>
          </a:p>
        </p:txBody>
      </p:sp>
      <p:sp>
        <p:nvSpPr>
          <p:cNvPr id="46" name="Rectangle 45"/>
          <p:cNvSpPr/>
          <p:nvPr/>
        </p:nvSpPr>
        <p:spPr>
          <a:xfrm>
            <a:off x="10515600" y="4892040"/>
            <a:ext cx="1280160" cy="2743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61320" y="4892040"/>
            <a:ext cx="1188720" cy="274320"/>
          </a:xfrm>
          <a:prstGeom prst="rect">
            <a:avLst/>
          </a:prstGeom>
          <a:noFill/>
        </p:spPr>
        <p:txBody>
          <a:bodyPr wrap="square">
            <a:spAutoFit/>
          </a:bodyPr>
          <a:lstStyle/>
          <a:p>
            <a:pPr algn="ctr">
              <a:defRPr sz="1000" b="1">
                <a:solidFill>
                  <a:srgbClr val="FFFFFF"/>
                </a:solidFill>
                <a:latin typeface="Microsoft YaHei"/>
              </a:defRPr>
            </a:pPr>
            <a:r>
              <a:t>测试</a:t>
            </a:r>
          </a:p>
        </p:txBody>
      </p:sp>
      <p:sp>
        <p:nvSpPr>
          <p:cNvPr id="48" name="Rectangle 47"/>
          <p:cNvSpPr/>
          <p:nvPr/>
        </p:nvSpPr>
        <p:spPr>
          <a:xfrm>
            <a:off x="6400800" y="5184648"/>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46520" y="5184648"/>
            <a:ext cx="1188720" cy="274320"/>
          </a:xfrm>
          <a:prstGeom prst="rect">
            <a:avLst/>
          </a:prstGeom>
          <a:noFill/>
        </p:spPr>
        <p:txBody>
          <a:bodyPr wrap="square">
            <a:spAutoFit/>
          </a:bodyPr>
          <a:lstStyle/>
          <a:p>
            <a:pPr algn="ctr">
              <a:defRPr sz="1000" b="0">
                <a:solidFill>
                  <a:srgbClr val="2C3E50"/>
                </a:solidFill>
                <a:latin typeface="Microsoft YaHei"/>
              </a:defRPr>
            </a:pPr>
            <a:r>
              <a:t>non_rd_vs_rd</a:t>
            </a:r>
          </a:p>
        </p:txBody>
      </p:sp>
      <p:sp>
        <p:nvSpPr>
          <p:cNvPr id="50" name="Rectangle 49"/>
          <p:cNvSpPr/>
          <p:nvPr/>
        </p:nvSpPr>
        <p:spPr>
          <a:xfrm>
            <a:off x="7772400" y="5184648"/>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18120" y="5184648"/>
            <a:ext cx="1188720" cy="274320"/>
          </a:xfrm>
          <a:prstGeom prst="rect">
            <a:avLst/>
          </a:prstGeom>
          <a:noFill/>
        </p:spPr>
        <p:txBody>
          <a:bodyPr wrap="square">
            <a:spAutoFit/>
          </a:bodyPr>
          <a:lstStyle/>
          <a:p>
            <a:pPr algn="ctr">
              <a:defRPr sz="1000" b="0">
                <a:solidFill>
                  <a:srgbClr val="2C3E50"/>
                </a:solidFill>
                <a:latin typeface="Microsoft YaHei"/>
              </a:defRPr>
            </a:pPr>
            <a:r>
              <a:t>3,873</a:t>
            </a:r>
          </a:p>
        </p:txBody>
      </p:sp>
      <p:sp>
        <p:nvSpPr>
          <p:cNvPr id="52" name="Rectangle 51"/>
          <p:cNvSpPr/>
          <p:nvPr/>
        </p:nvSpPr>
        <p:spPr>
          <a:xfrm>
            <a:off x="9144000" y="5184648"/>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89720" y="5184648"/>
            <a:ext cx="1188720" cy="274320"/>
          </a:xfrm>
          <a:prstGeom prst="rect">
            <a:avLst/>
          </a:prstGeom>
          <a:noFill/>
        </p:spPr>
        <p:txBody>
          <a:bodyPr wrap="square">
            <a:spAutoFit/>
          </a:bodyPr>
          <a:lstStyle/>
          <a:p>
            <a:pPr algn="ctr">
              <a:defRPr sz="1000" b="0">
                <a:solidFill>
                  <a:srgbClr val="2C3E50"/>
                </a:solidFill>
                <a:latin typeface="Microsoft YaHei"/>
              </a:defRPr>
            </a:pPr>
            <a:r>
              <a:t>431</a:t>
            </a:r>
          </a:p>
        </p:txBody>
      </p:sp>
      <p:sp>
        <p:nvSpPr>
          <p:cNvPr id="54" name="Rectangle 53"/>
          <p:cNvSpPr/>
          <p:nvPr/>
        </p:nvSpPr>
        <p:spPr>
          <a:xfrm>
            <a:off x="10515600" y="5184648"/>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61320" y="5184648"/>
            <a:ext cx="1188720" cy="274320"/>
          </a:xfrm>
          <a:prstGeom prst="rect">
            <a:avLst/>
          </a:prstGeom>
          <a:noFill/>
        </p:spPr>
        <p:txBody>
          <a:bodyPr wrap="square">
            <a:spAutoFit/>
          </a:bodyPr>
          <a:lstStyle/>
          <a:p>
            <a:pPr algn="ctr">
              <a:defRPr sz="1000" b="0">
                <a:solidFill>
                  <a:srgbClr val="2C3E50"/>
                </a:solidFill>
                <a:latin typeface="Microsoft YaHei"/>
              </a:defRPr>
            </a:pPr>
            <a:r>
              <a:t>1,077</a:t>
            </a:r>
          </a:p>
        </p:txBody>
      </p:sp>
      <p:sp>
        <p:nvSpPr>
          <p:cNvPr id="56" name="Rectangle 55"/>
          <p:cNvSpPr/>
          <p:nvPr/>
        </p:nvSpPr>
        <p:spPr>
          <a:xfrm>
            <a:off x="6400800" y="5477255"/>
            <a:ext cx="1280160" cy="2743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46520" y="5477255"/>
            <a:ext cx="1188720" cy="274320"/>
          </a:xfrm>
          <a:prstGeom prst="rect">
            <a:avLst/>
          </a:prstGeom>
          <a:noFill/>
        </p:spPr>
        <p:txBody>
          <a:bodyPr wrap="square">
            <a:spAutoFit/>
          </a:bodyPr>
          <a:lstStyle/>
          <a:p>
            <a:pPr algn="ctr">
              <a:defRPr sz="1000" b="0">
                <a:solidFill>
                  <a:srgbClr val="2C3E50"/>
                </a:solidFill>
                <a:latin typeface="Microsoft YaHei"/>
              </a:defRPr>
            </a:pPr>
            <a:r>
              <a:t>normal_vs_rd</a:t>
            </a:r>
          </a:p>
        </p:txBody>
      </p:sp>
      <p:sp>
        <p:nvSpPr>
          <p:cNvPr id="58" name="Rectangle 57"/>
          <p:cNvSpPr/>
          <p:nvPr/>
        </p:nvSpPr>
        <p:spPr>
          <a:xfrm>
            <a:off x="7772400" y="5477255"/>
            <a:ext cx="1280160" cy="2743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120" y="5477255"/>
            <a:ext cx="1188720" cy="274320"/>
          </a:xfrm>
          <a:prstGeom prst="rect">
            <a:avLst/>
          </a:prstGeom>
          <a:noFill/>
        </p:spPr>
        <p:txBody>
          <a:bodyPr wrap="square">
            <a:spAutoFit/>
          </a:bodyPr>
          <a:lstStyle/>
          <a:p>
            <a:pPr algn="ctr">
              <a:defRPr sz="1000" b="0">
                <a:solidFill>
                  <a:srgbClr val="2C3E50"/>
                </a:solidFill>
                <a:latin typeface="Microsoft YaHei"/>
              </a:defRPr>
            </a:pPr>
            <a:r>
              <a:t>3,413</a:t>
            </a:r>
          </a:p>
        </p:txBody>
      </p:sp>
      <p:sp>
        <p:nvSpPr>
          <p:cNvPr id="60" name="Rectangle 59"/>
          <p:cNvSpPr/>
          <p:nvPr/>
        </p:nvSpPr>
        <p:spPr>
          <a:xfrm>
            <a:off x="9144000" y="5477255"/>
            <a:ext cx="1280160" cy="2743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89720" y="5477255"/>
            <a:ext cx="1188720" cy="274320"/>
          </a:xfrm>
          <a:prstGeom prst="rect">
            <a:avLst/>
          </a:prstGeom>
          <a:noFill/>
        </p:spPr>
        <p:txBody>
          <a:bodyPr wrap="square">
            <a:spAutoFit/>
          </a:bodyPr>
          <a:lstStyle/>
          <a:p>
            <a:pPr algn="ctr">
              <a:defRPr sz="1000" b="0">
                <a:solidFill>
                  <a:srgbClr val="2C3E50"/>
                </a:solidFill>
                <a:latin typeface="Microsoft YaHei"/>
              </a:defRPr>
            </a:pPr>
            <a:r>
              <a:t>377</a:t>
            </a:r>
          </a:p>
        </p:txBody>
      </p:sp>
      <p:sp>
        <p:nvSpPr>
          <p:cNvPr id="62" name="Rectangle 61"/>
          <p:cNvSpPr/>
          <p:nvPr/>
        </p:nvSpPr>
        <p:spPr>
          <a:xfrm>
            <a:off x="10515600" y="5477255"/>
            <a:ext cx="1280160" cy="2743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61320" y="5477255"/>
            <a:ext cx="1188720" cy="274320"/>
          </a:xfrm>
          <a:prstGeom prst="rect">
            <a:avLst/>
          </a:prstGeom>
          <a:noFill/>
        </p:spPr>
        <p:txBody>
          <a:bodyPr wrap="square">
            <a:spAutoFit/>
          </a:bodyPr>
          <a:lstStyle/>
          <a:p>
            <a:pPr algn="ctr">
              <a:defRPr sz="1000" b="0">
                <a:solidFill>
                  <a:srgbClr val="2C3E50"/>
                </a:solidFill>
                <a:latin typeface="Microsoft YaHei"/>
              </a:defRPr>
            </a:pPr>
            <a:r>
              <a:t>945</a:t>
            </a:r>
          </a:p>
        </p:txBody>
      </p:sp>
      <p:sp>
        <p:nvSpPr>
          <p:cNvPr id="64" name="Rectangle 63"/>
          <p:cNvSpPr/>
          <p:nvPr/>
        </p:nvSpPr>
        <p:spPr>
          <a:xfrm>
            <a:off x="6400800" y="5769864"/>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46520" y="5769864"/>
            <a:ext cx="1188720" cy="274320"/>
          </a:xfrm>
          <a:prstGeom prst="rect">
            <a:avLst/>
          </a:prstGeom>
          <a:noFill/>
        </p:spPr>
        <p:txBody>
          <a:bodyPr wrap="square">
            <a:spAutoFit/>
          </a:bodyPr>
          <a:lstStyle/>
          <a:p>
            <a:pPr algn="ctr">
              <a:defRPr sz="1000" b="0">
                <a:solidFill>
                  <a:srgbClr val="2C3E50"/>
                </a:solidFill>
                <a:latin typeface="Microsoft YaHei"/>
              </a:defRPr>
            </a:pPr>
            <a:r>
              <a:t>normal_vs_pvd</a:t>
            </a:r>
          </a:p>
        </p:txBody>
      </p:sp>
      <p:sp>
        <p:nvSpPr>
          <p:cNvPr id="66" name="Rectangle 65"/>
          <p:cNvSpPr/>
          <p:nvPr/>
        </p:nvSpPr>
        <p:spPr>
          <a:xfrm>
            <a:off x="7772400" y="5769864"/>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818120" y="5769864"/>
            <a:ext cx="1188720" cy="274320"/>
          </a:xfrm>
          <a:prstGeom prst="rect">
            <a:avLst/>
          </a:prstGeom>
          <a:noFill/>
        </p:spPr>
        <p:txBody>
          <a:bodyPr wrap="square">
            <a:spAutoFit/>
          </a:bodyPr>
          <a:lstStyle/>
          <a:p>
            <a:pPr algn="ctr">
              <a:defRPr sz="1000" b="0">
                <a:solidFill>
                  <a:srgbClr val="2C3E50"/>
                </a:solidFill>
                <a:latin typeface="Microsoft YaHei"/>
              </a:defRPr>
            </a:pPr>
            <a:r>
              <a:t>3,512</a:t>
            </a:r>
          </a:p>
        </p:txBody>
      </p:sp>
      <p:sp>
        <p:nvSpPr>
          <p:cNvPr id="68" name="Rectangle 67"/>
          <p:cNvSpPr/>
          <p:nvPr/>
        </p:nvSpPr>
        <p:spPr>
          <a:xfrm>
            <a:off x="9144000" y="5769864"/>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89720" y="5769864"/>
            <a:ext cx="1188720" cy="274320"/>
          </a:xfrm>
          <a:prstGeom prst="rect">
            <a:avLst/>
          </a:prstGeom>
          <a:noFill/>
        </p:spPr>
        <p:txBody>
          <a:bodyPr wrap="square">
            <a:spAutoFit/>
          </a:bodyPr>
          <a:lstStyle/>
          <a:p>
            <a:pPr algn="ctr">
              <a:defRPr sz="1000" b="0">
                <a:solidFill>
                  <a:srgbClr val="2C3E50"/>
                </a:solidFill>
                <a:latin typeface="Microsoft YaHei"/>
              </a:defRPr>
            </a:pPr>
            <a:r>
              <a:t>391</a:t>
            </a:r>
          </a:p>
        </p:txBody>
      </p:sp>
      <p:sp>
        <p:nvSpPr>
          <p:cNvPr id="70" name="Rectangle 69"/>
          <p:cNvSpPr/>
          <p:nvPr/>
        </p:nvSpPr>
        <p:spPr>
          <a:xfrm>
            <a:off x="10515600" y="5769864"/>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561320" y="5769864"/>
            <a:ext cx="1188720" cy="274320"/>
          </a:xfrm>
          <a:prstGeom prst="rect">
            <a:avLst/>
          </a:prstGeom>
          <a:noFill/>
        </p:spPr>
        <p:txBody>
          <a:bodyPr wrap="square">
            <a:spAutoFit/>
          </a:bodyPr>
          <a:lstStyle/>
          <a:p>
            <a:pPr algn="ctr">
              <a:defRPr sz="1000" b="0">
                <a:solidFill>
                  <a:srgbClr val="2C3E50"/>
                </a:solidFill>
                <a:latin typeface="Microsoft YaHei"/>
              </a:defRPr>
            </a:pPr>
            <a:r>
              <a:t>976</a:t>
            </a:r>
          </a:p>
        </p:txBody>
      </p:sp>
      <p:sp>
        <p:nvSpPr>
          <p:cNvPr id="72" name="Rectangle 71"/>
          <p:cNvSpPr/>
          <p:nvPr/>
        </p:nvSpPr>
        <p:spPr>
          <a:xfrm>
            <a:off x="6400800" y="6062472"/>
            <a:ext cx="1280160" cy="2743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46520" y="6062472"/>
            <a:ext cx="1188720" cy="274320"/>
          </a:xfrm>
          <a:prstGeom prst="rect">
            <a:avLst/>
          </a:prstGeom>
          <a:noFill/>
        </p:spPr>
        <p:txBody>
          <a:bodyPr wrap="square">
            <a:spAutoFit/>
          </a:bodyPr>
          <a:lstStyle/>
          <a:p>
            <a:pPr algn="ctr">
              <a:defRPr sz="1000" b="0">
                <a:solidFill>
                  <a:srgbClr val="2C3E50"/>
                </a:solidFill>
                <a:latin typeface="Microsoft YaHei"/>
              </a:defRPr>
            </a:pPr>
            <a:r>
              <a:t>pvd_vs_rd</a:t>
            </a:r>
          </a:p>
        </p:txBody>
      </p:sp>
      <p:sp>
        <p:nvSpPr>
          <p:cNvPr id="74" name="Rectangle 73"/>
          <p:cNvSpPr/>
          <p:nvPr/>
        </p:nvSpPr>
        <p:spPr>
          <a:xfrm>
            <a:off x="7772400" y="6062472"/>
            <a:ext cx="1280160" cy="2743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18120" y="6062472"/>
            <a:ext cx="1188720" cy="274320"/>
          </a:xfrm>
          <a:prstGeom prst="rect">
            <a:avLst/>
          </a:prstGeom>
          <a:noFill/>
        </p:spPr>
        <p:txBody>
          <a:bodyPr wrap="square">
            <a:spAutoFit/>
          </a:bodyPr>
          <a:lstStyle/>
          <a:p>
            <a:pPr algn="ctr">
              <a:defRPr sz="1000" b="0">
                <a:solidFill>
                  <a:srgbClr val="2C3E50"/>
                </a:solidFill>
                <a:latin typeface="Microsoft YaHei"/>
              </a:defRPr>
            </a:pPr>
            <a:r>
              <a:t>826</a:t>
            </a:r>
          </a:p>
        </p:txBody>
      </p:sp>
      <p:sp>
        <p:nvSpPr>
          <p:cNvPr id="76" name="Rectangle 75"/>
          <p:cNvSpPr/>
          <p:nvPr/>
        </p:nvSpPr>
        <p:spPr>
          <a:xfrm>
            <a:off x="9144000" y="6062472"/>
            <a:ext cx="1280160" cy="2743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89720" y="6062472"/>
            <a:ext cx="1188720" cy="274320"/>
          </a:xfrm>
          <a:prstGeom prst="rect">
            <a:avLst/>
          </a:prstGeom>
          <a:noFill/>
        </p:spPr>
        <p:txBody>
          <a:bodyPr wrap="square">
            <a:spAutoFit/>
          </a:bodyPr>
          <a:lstStyle/>
          <a:p>
            <a:pPr algn="ctr">
              <a:defRPr sz="1000" b="0">
                <a:solidFill>
                  <a:srgbClr val="2C3E50"/>
                </a:solidFill>
                <a:latin typeface="Microsoft YaHei"/>
              </a:defRPr>
            </a:pPr>
            <a:r>
              <a:t>92</a:t>
            </a:r>
          </a:p>
        </p:txBody>
      </p:sp>
      <p:sp>
        <p:nvSpPr>
          <p:cNvPr id="78" name="Rectangle 77"/>
          <p:cNvSpPr/>
          <p:nvPr/>
        </p:nvSpPr>
        <p:spPr>
          <a:xfrm>
            <a:off x="10515600" y="6062472"/>
            <a:ext cx="1280160" cy="2743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561320" y="6062472"/>
            <a:ext cx="1188720" cy="274320"/>
          </a:xfrm>
          <a:prstGeom prst="rect">
            <a:avLst/>
          </a:prstGeom>
          <a:noFill/>
        </p:spPr>
        <p:txBody>
          <a:bodyPr wrap="square">
            <a:spAutoFit/>
          </a:bodyPr>
          <a:lstStyle/>
          <a:p>
            <a:pPr algn="ctr">
              <a:defRPr sz="1000" b="0">
                <a:solidFill>
                  <a:srgbClr val="2C3E50"/>
                </a:solidFill>
                <a:latin typeface="Microsoft YaHei"/>
              </a:defRPr>
            </a:pPr>
            <a:r>
              <a:t>230</a:t>
            </a:r>
          </a:p>
        </p:txBody>
      </p:sp>
      <p:sp>
        <p:nvSpPr>
          <p:cNvPr id="80" name="Rectangle 79"/>
          <p:cNvSpPr/>
          <p:nvPr/>
        </p:nvSpPr>
        <p:spPr>
          <a:xfrm>
            <a:off x="6400800" y="6355079"/>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46520" y="6355079"/>
            <a:ext cx="1188720" cy="274320"/>
          </a:xfrm>
          <a:prstGeom prst="rect">
            <a:avLst/>
          </a:prstGeom>
          <a:noFill/>
        </p:spPr>
        <p:txBody>
          <a:bodyPr wrap="square">
            <a:spAutoFit/>
          </a:bodyPr>
          <a:lstStyle/>
          <a:p>
            <a:pPr algn="ctr">
              <a:defRPr sz="1000" b="0">
                <a:solidFill>
                  <a:srgbClr val="2C3E50"/>
                </a:solidFill>
                <a:latin typeface="Microsoft YaHei"/>
              </a:defRPr>
            </a:pPr>
            <a:r>
              <a:t>macula_detached_vs_intact</a:t>
            </a:r>
          </a:p>
        </p:txBody>
      </p:sp>
      <p:sp>
        <p:nvSpPr>
          <p:cNvPr id="82" name="Rectangle 81"/>
          <p:cNvSpPr/>
          <p:nvPr/>
        </p:nvSpPr>
        <p:spPr>
          <a:xfrm>
            <a:off x="7772400" y="6355079"/>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818120" y="6355079"/>
            <a:ext cx="1188720" cy="274320"/>
          </a:xfrm>
          <a:prstGeom prst="rect">
            <a:avLst/>
          </a:prstGeom>
          <a:noFill/>
        </p:spPr>
        <p:txBody>
          <a:bodyPr wrap="square">
            <a:spAutoFit/>
          </a:bodyPr>
          <a:lstStyle/>
          <a:p>
            <a:pPr algn="ctr">
              <a:defRPr sz="1000" b="0">
                <a:solidFill>
                  <a:srgbClr val="2C3E50"/>
                </a:solidFill>
                <a:latin typeface="Microsoft YaHei"/>
              </a:defRPr>
            </a:pPr>
            <a:r>
              <a:t>360</a:t>
            </a:r>
          </a:p>
        </p:txBody>
      </p:sp>
      <p:sp>
        <p:nvSpPr>
          <p:cNvPr id="84" name="Rectangle 83"/>
          <p:cNvSpPr/>
          <p:nvPr/>
        </p:nvSpPr>
        <p:spPr>
          <a:xfrm>
            <a:off x="9144000" y="6355079"/>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89720" y="6355079"/>
            <a:ext cx="1188720" cy="274320"/>
          </a:xfrm>
          <a:prstGeom prst="rect">
            <a:avLst/>
          </a:prstGeom>
          <a:noFill/>
        </p:spPr>
        <p:txBody>
          <a:bodyPr wrap="square">
            <a:spAutoFit/>
          </a:bodyPr>
          <a:lstStyle/>
          <a:p>
            <a:pPr algn="ctr">
              <a:defRPr sz="1000" b="0">
                <a:solidFill>
                  <a:srgbClr val="2C3E50"/>
                </a:solidFill>
                <a:latin typeface="Microsoft YaHei"/>
              </a:defRPr>
            </a:pPr>
            <a:r>
              <a:t>41</a:t>
            </a:r>
          </a:p>
        </p:txBody>
      </p:sp>
      <p:sp>
        <p:nvSpPr>
          <p:cNvPr id="86" name="Rectangle 85"/>
          <p:cNvSpPr/>
          <p:nvPr/>
        </p:nvSpPr>
        <p:spPr>
          <a:xfrm>
            <a:off x="10515600" y="6355079"/>
            <a:ext cx="12801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561320" y="6355079"/>
            <a:ext cx="1188720" cy="274320"/>
          </a:xfrm>
          <a:prstGeom prst="rect">
            <a:avLst/>
          </a:prstGeom>
          <a:noFill/>
        </p:spPr>
        <p:txBody>
          <a:bodyPr wrap="square">
            <a:spAutoFit/>
          </a:bodyPr>
          <a:lstStyle/>
          <a:p>
            <a:pPr algn="ctr">
              <a:defRPr sz="1000" b="0">
                <a:solidFill>
                  <a:srgbClr val="2C3E50"/>
                </a:solidFill>
                <a:latin typeface="Microsoft YaHei"/>
              </a:defRPr>
            </a:pPr>
            <a:r>
              <a:t>101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数据预处理流程</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DATA PREPROCESSING PIPELINE</a:t>
            </a:r>
          </a:p>
        </p:txBody>
      </p:sp>
      <p:sp>
        <p:nvSpPr>
          <p:cNvPr id="6" name="Rectangle 5"/>
          <p:cNvSpPr/>
          <p:nvPr/>
        </p:nvSpPr>
        <p:spPr>
          <a:xfrm>
            <a:off x="457200" y="1828800"/>
            <a:ext cx="2148840" cy="10972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1965960" cy="320040"/>
          </a:xfrm>
          <a:prstGeom prst="rect">
            <a:avLst/>
          </a:prstGeom>
          <a:noFill/>
        </p:spPr>
        <p:txBody>
          <a:bodyPr wrap="square">
            <a:spAutoFit/>
          </a:bodyPr>
          <a:lstStyle/>
          <a:p>
            <a:pPr algn="ctr">
              <a:defRPr sz="1800" b="1">
                <a:solidFill>
                  <a:srgbClr val="FFFFFF"/>
                </a:solidFill>
                <a:latin typeface="Microsoft YaHei"/>
              </a:defRPr>
            </a:pPr>
            <a:r>
              <a:t>① 视频读取</a:t>
            </a:r>
          </a:p>
        </p:txBody>
      </p:sp>
      <p:sp>
        <p:nvSpPr>
          <p:cNvPr id="8" name="TextBox 7"/>
          <p:cNvSpPr txBox="1"/>
          <p:nvPr/>
        </p:nvSpPr>
        <p:spPr>
          <a:xfrm>
            <a:off x="2606040" y="2103120"/>
            <a:ext cx="182880" cy="457200"/>
          </a:xfrm>
          <a:prstGeom prst="rect">
            <a:avLst/>
          </a:prstGeom>
          <a:noFill/>
        </p:spPr>
        <p:txBody>
          <a:bodyPr wrap="square">
            <a:spAutoFit/>
          </a:bodyPr>
          <a:lstStyle/>
          <a:p>
            <a:pPr algn="l">
              <a:defRPr sz="2800" b="1">
                <a:solidFill>
                  <a:srgbClr val="2E86C1"/>
                </a:solidFill>
                <a:latin typeface="Microsoft YaHei"/>
              </a:defRPr>
            </a:pPr>
            <a:r>
              <a:t>→</a:t>
            </a:r>
          </a:p>
        </p:txBody>
      </p:sp>
      <p:sp>
        <p:nvSpPr>
          <p:cNvPr id="9" name="TextBox 8"/>
          <p:cNvSpPr txBox="1"/>
          <p:nvPr/>
        </p:nvSpPr>
        <p:spPr>
          <a:xfrm>
            <a:off x="457200" y="3108960"/>
            <a:ext cx="2148840" cy="914400"/>
          </a:xfrm>
          <a:prstGeom prst="rect">
            <a:avLst/>
          </a:prstGeom>
          <a:noFill/>
        </p:spPr>
        <p:txBody>
          <a:bodyPr wrap="square">
            <a:spAutoFit/>
          </a:bodyPr>
          <a:lstStyle/>
          <a:p>
            <a:pPr>
              <a:spcAft>
                <a:spcPts val="439"/>
              </a:spcAft>
              <a:defRPr sz="1100">
                <a:solidFill>
                  <a:srgbClr val="2C3E50"/>
                </a:solidFill>
                <a:latin typeface="Microsoft YaHei"/>
              </a:defRPr>
            </a:pPr>
            <a:r>
              <a:t>torchvision.io</a:t>
            </a:r>
          </a:p>
          <a:p>
            <a:pPr>
              <a:spcAft>
                <a:spcPts val="439"/>
              </a:spcAft>
              <a:defRPr sz="1100">
                <a:solidFill>
                  <a:srgbClr val="2C3E50"/>
                </a:solidFill>
                <a:latin typeface="Microsoft YaHei"/>
              </a:defRPr>
            </a:pPr>
            <a:r>
              <a:t>read_video()</a:t>
            </a:r>
          </a:p>
          <a:p>
            <a:pPr>
              <a:spcAft>
                <a:spcPts val="439"/>
              </a:spcAft>
              <a:defRPr sz="1100">
                <a:solidFill>
                  <a:srgbClr val="2C3E50"/>
                </a:solidFill>
                <a:latin typeface="Microsoft YaHei"/>
              </a:defRPr>
            </a:pPr>
            <a:r>
              <a:t>读取MP4视频文件</a:t>
            </a:r>
          </a:p>
        </p:txBody>
      </p:sp>
      <p:sp>
        <p:nvSpPr>
          <p:cNvPr id="10" name="Rectangle 9"/>
          <p:cNvSpPr/>
          <p:nvPr/>
        </p:nvSpPr>
        <p:spPr>
          <a:xfrm>
            <a:off x="2788920" y="1828800"/>
            <a:ext cx="2148840" cy="109728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874519"/>
            <a:ext cx="1965960" cy="320040"/>
          </a:xfrm>
          <a:prstGeom prst="rect">
            <a:avLst/>
          </a:prstGeom>
          <a:noFill/>
        </p:spPr>
        <p:txBody>
          <a:bodyPr wrap="square">
            <a:spAutoFit/>
          </a:bodyPr>
          <a:lstStyle/>
          <a:p>
            <a:pPr algn="ctr">
              <a:defRPr sz="1800" b="1">
                <a:solidFill>
                  <a:srgbClr val="FFFFFF"/>
                </a:solidFill>
                <a:latin typeface="Microsoft YaHei"/>
              </a:defRPr>
            </a:pPr>
            <a:r>
              <a:t>② 格式转换</a:t>
            </a:r>
          </a:p>
        </p:txBody>
      </p:sp>
      <p:sp>
        <p:nvSpPr>
          <p:cNvPr id="12" name="TextBox 11"/>
          <p:cNvSpPr txBox="1"/>
          <p:nvPr/>
        </p:nvSpPr>
        <p:spPr>
          <a:xfrm>
            <a:off x="4937760" y="2103120"/>
            <a:ext cx="182880" cy="457200"/>
          </a:xfrm>
          <a:prstGeom prst="rect">
            <a:avLst/>
          </a:prstGeom>
          <a:noFill/>
        </p:spPr>
        <p:txBody>
          <a:bodyPr wrap="square">
            <a:spAutoFit/>
          </a:bodyPr>
          <a:lstStyle/>
          <a:p>
            <a:pPr algn="l">
              <a:defRPr sz="2800" b="1">
                <a:solidFill>
                  <a:srgbClr val="2E86C1"/>
                </a:solidFill>
                <a:latin typeface="Microsoft YaHei"/>
              </a:defRPr>
            </a:pPr>
            <a:r>
              <a:t>→</a:t>
            </a:r>
          </a:p>
        </p:txBody>
      </p:sp>
      <p:sp>
        <p:nvSpPr>
          <p:cNvPr id="13" name="TextBox 12"/>
          <p:cNvSpPr txBox="1"/>
          <p:nvPr/>
        </p:nvSpPr>
        <p:spPr>
          <a:xfrm>
            <a:off x="2788920" y="3108960"/>
            <a:ext cx="2148840" cy="914400"/>
          </a:xfrm>
          <a:prstGeom prst="rect">
            <a:avLst/>
          </a:prstGeom>
          <a:noFill/>
        </p:spPr>
        <p:txBody>
          <a:bodyPr wrap="square">
            <a:spAutoFit/>
          </a:bodyPr>
          <a:lstStyle/>
          <a:p>
            <a:pPr>
              <a:spcAft>
                <a:spcPts val="439"/>
              </a:spcAft>
              <a:defRPr sz="1100">
                <a:solidFill>
                  <a:srgbClr val="2C3E50"/>
                </a:solidFill>
                <a:latin typeface="Microsoft YaHei"/>
              </a:defRPr>
            </a:pPr>
            <a:r>
              <a:t>(T, H, W, C)</a:t>
            </a:r>
          </a:p>
          <a:p>
            <a:pPr>
              <a:spcAft>
                <a:spcPts val="439"/>
              </a:spcAft>
              <a:defRPr sz="1100">
                <a:solidFill>
                  <a:srgbClr val="2C3E50"/>
                </a:solidFill>
                <a:latin typeface="Microsoft YaHei"/>
              </a:defRPr>
            </a:pPr>
            <a:r>
              <a:t>→ (C, D, H, W)</a:t>
            </a:r>
          </a:p>
          <a:p>
            <a:pPr>
              <a:spcAft>
                <a:spcPts val="439"/>
              </a:spcAft>
              <a:defRPr sz="1100">
                <a:solidFill>
                  <a:srgbClr val="2C3E50"/>
                </a:solidFill>
                <a:latin typeface="Microsoft YaHei"/>
              </a:defRPr>
            </a:pPr>
            <a:r>
              <a:t>通道重排</a:t>
            </a:r>
          </a:p>
        </p:txBody>
      </p:sp>
      <p:sp>
        <p:nvSpPr>
          <p:cNvPr id="14" name="Rectangle 13"/>
          <p:cNvSpPr/>
          <p:nvPr/>
        </p:nvSpPr>
        <p:spPr>
          <a:xfrm>
            <a:off x="5120640" y="1828800"/>
            <a:ext cx="2148840" cy="10972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79" y="1874519"/>
            <a:ext cx="1965960" cy="320040"/>
          </a:xfrm>
          <a:prstGeom prst="rect">
            <a:avLst/>
          </a:prstGeom>
          <a:noFill/>
        </p:spPr>
        <p:txBody>
          <a:bodyPr wrap="square">
            <a:spAutoFit/>
          </a:bodyPr>
          <a:lstStyle/>
          <a:p>
            <a:pPr algn="ctr">
              <a:defRPr sz="1800" b="1">
                <a:solidFill>
                  <a:srgbClr val="FFFFFF"/>
                </a:solidFill>
                <a:latin typeface="Microsoft YaHei"/>
              </a:defRPr>
            </a:pPr>
            <a:r>
              <a:t>③ 灰度转换</a:t>
            </a:r>
          </a:p>
        </p:txBody>
      </p:sp>
      <p:sp>
        <p:nvSpPr>
          <p:cNvPr id="16" name="TextBox 15"/>
          <p:cNvSpPr txBox="1"/>
          <p:nvPr/>
        </p:nvSpPr>
        <p:spPr>
          <a:xfrm>
            <a:off x="7269479" y="2103120"/>
            <a:ext cx="182880" cy="457200"/>
          </a:xfrm>
          <a:prstGeom prst="rect">
            <a:avLst/>
          </a:prstGeom>
          <a:noFill/>
        </p:spPr>
        <p:txBody>
          <a:bodyPr wrap="square">
            <a:spAutoFit/>
          </a:bodyPr>
          <a:lstStyle/>
          <a:p>
            <a:pPr algn="l">
              <a:defRPr sz="2800" b="1">
                <a:solidFill>
                  <a:srgbClr val="2E86C1"/>
                </a:solidFill>
                <a:latin typeface="Microsoft YaHei"/>
              </a:defRPr>
            </a:pPr>
            <a:r>
              <a:t>→</a:t>
            </a:r>
          </a:p>
        </p:txBody>
      </p:sp>
      <p:sp>
        <p:nvSpPr>
          <p:cNvPr id="17" name="TextBox 16"/>
          <p:cNvSpPr txBox="1"/>
          <p:nvPr/>
        </p:nvSpPr>
        <p:spPr>
          <a:xfrm>
            <a:off x="5120640" y="3108960"/>
            <a:ext cx="2148840" cy="914400"/>
          </a:xfrm>
          <a:prstGeom prst="rect">
            <a:avLst/>
          </a:prstGeom>
          <a:noFill/>
        </p:spPr>
        <p:txBody>
          <a:bodyPr wrap="square">
            <a:spAutoFit/>
          </a:bodyPr>
          <a:lstStyle/>
          <a:p>
            <a:pPr>
              <a:spcAft>
                <a:spcPts val="439"/>
              </a:spcAft>
              <a:defRPr sz="1100">
                <a:solidFill>
                  <a:srgbClr val="2C3E50"/>
                </a:solidFill>
                <a:latin typeface="Microsoft YaHei"/>
              </a:defRPr>
            </a:pPr>
            <a:r>
              <a:t>RGB 3通道</a:t>
            </a:r>
          </a:p>
          <a:p>
            <a:pPr>
              <a:spcAft>
                <a:spcPts val="439"/>
              </a:spcAft>
              <a:defRPr sz="1100">
                <a:solidFill>
                  <a:srgbClr val="2C3E50"/>
                </a:solidFill>
                <a:latin typeface="Microsoft YaHei"/>
              </a:defRPr>
            </a:pPr>
            <a:r>
              <a:t>→ 灰度 1通道</a:t>
            </a:r>
          </a:p>
          <a:p>
            <a:pPr>
              <a:spcAft>
                <a:spcPts val="439"/>
              </a:spcAft>
              <a:defRPr sz="1100">
                <a:solidFill>
                  <a:srgbClr val="2C3E50"/>
                </a:solidFill>
                <a:latin typeface="Microsoft YaHei"/>
              </a:defRPr>
            </a:pPr>
            <a:r>
              <a:t>通道均值</a:t>
            </a:r>
          </a:p>
        </p:txBody>
      </p:sp>
      <p:sp>
        <p:nvSpPr>
          <p:cNvPr id="18" name="Rectangle 17"/>
          <p:cNvSpPr/>
          <p:nvPr/>
        </p:nvSpPr>
        <p:spPr>
          <a:xfrm>
            <a:off x="7452359" y="1828800"/>
            <a:ext cx="2148840" cy="10972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3799" y="1874519"/>
            <a:ext cx="1965960" cy="320040"/>
          </a:xfrm>
          <a:prstGeom prst="rect">
            <a:avLst/>
          </a:prstGeom>
          <a:noFill/>
        </p:spPr>
        <p:txBody>
          <a:bodyPr wrap="square">
            <a:spAutoFit/>
          </a:bodyPr>
          <a:lstStyle/>
          <a:p>
            <a:pPr algn="ctr">
              <a:defRPr sz="1800" b="1">
                <a:solidFill>
                  <a:srgbClr val="FFFFFF"/>
                </a:solidFill>
                <a:latin typeface="Microsoft YaHei"/>
              </a:defRPr>
            </a:pPr>
            <a:r>
              <a:t>④ 尺寸标准化</a:t>
            </a:r>
          </a:p>
        </p:txBody>
      </p:sp>
      <p:sp>
        <p:nvSpPr>
          <p:cNvPr id="20" name="TextBox 19"/>
          <p:cNvSpPr txBox="1"/>
          <p:nvPr/>
        </p:nvSpPr>
        <p:spPr>
          <a:xfrm>
            <a:off x="9601199" y="2103120"/>
            <a:ext cx="182880" cy="457200"/>
          </a:xfrm>
          <a:prstGeom prst="rect">
            <a:avLst/>
          </a:prstGeom>
          <a:noFill/>
        </p:spPr>
        <p:txBody>
          <a:bodyPr wrap="square">
            <a:spAutoFit/>
          </a:bodyPr>
          <a:lstStyle/>
          <a:p>
            <a:pPr algn="l">
              <a:defRPr sz="2800" b="1">
                <a:solidFill>
                  <a:srgbClr val="2E86C1"/>
                </a:solidFill>
                <a:latin typeface="Microsoft YaHei"/>
              </a:defRPr>
            </a:pPr>
            <a:r>
              <a:t>→</a:t>
            </a:r>
          </a:p>
        </p:txBody>
      </p:sp>
      <p:sp>
        <p:nvSpPr>
          <p:cNvPr id="21" name="TextBox 20"/>
          <p:cNvSpPr txBox="1"/>
          <p:nvPr/>
        </p:nvSpPr>
        <p:spPr>
          <a:xfrm>
            <a:off x="7452359" y="3108960"/>
            <a:ext cx="2148840" cy="914400"/>
          </a:xfrm>
          <a:prstGeom prst="rect">
            <a:avLst/>
          </a:prstGeom>
          <a:noFill/>
        </p:spPr>
        <p:txBody>
          <a:bodyPr wrap="square">
            <a:spAutoFit/>
          </a:bodyPr>
          <a:lstStyle/>
          <a:p>
            <a:pPr>
              <a:spcAft>
                <a:spcPts val="439"/>
              </a:spcAft>
              <a:defRPr sz="1100">
                <a:solidFill>
                  <a:srgbClr val="2C3E50"/>
                </a:solidFill>
                <a:latin typeface="Microsoft YaHei"/>
              </a:defRPr>
            </a:pPr>
            <a:r>
              <a:t>PadToSquare + </a:t>
            </a:r>
          </a:p>
          <a:p>
            <a:pPr>
              <a:spcAft>
                <a:spcPts val="439"/>
              </a:spcAft>
              <a:defRPr sz="1100">
                <a:solidFill>
                  <a:srgbClr val="2C3E50"/>
                </a:solidFill>
                <a:latin typeface="Microsoft YaHei"/>
              </a:defRPr>
            </a:pPr>
            <a:r>
              <a:t>Interpolate 3D</a:t>
            </a:r>
          </a:p>
          <a:p>
            <a:pPr>
              <a:spcAft>
                <a:spcPts val="439"/>
              </a:spcAft>
              <a:defRPr sz="1100">
                <a:solidFill>
                  <a:srgbClr val="2C3E50"/>
                </a:solidFill>
                <a:latin typeface="Microsoft YaHei"/>
              </a:defRPr>
            </a:pPr>
            <a:r>
              <a:t>→ 96×128×128</a:t>
            </a:r>
          </a:p>
        </p:txBody>
      </p:sp>
      <p:sp>
        <p:nvSpPr>
          <p:cNvPr id="22" name="Rectangle 21"/>
          <p:cNvSpPr/>
          <p:nvPr/>
        </p:nvSpPr>
        <p:spPr>
          <a:xfrm>
            <a:off x="9784080" y="1828800"/>
            <a:ext cx="2148840" cy="109728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19" y="1874519"/>
            <a:ext cx="1965960" cy="320040"/>
          </a:xfrm>
          <a:prstGeom prst="rect">
            <a:avLst/>
          </a:prstGeom>
          <a:noFill/>
        </p:spPr>
        <p:txBody>
          <a:bodyPr wrap="square">
            <a:spAutoFit/>
          </a:bodyPr>
          <a:lstStyle/>
          <a:p>
            <a:pPr algn="ctr">
              <a:defRPr sz="1800" b="1">
                <a:solidFill>
                  <a:srgbClr val="FFFFFF"/>
                </a:solidFill>
                <a:latin typeface="Microsoft YaHei"/>
              </a:defRPr>
            </a:pPr>
            <a:r>
              <a:t>⑤ 归一化</a:t>
            </a:r>
          </a:p>
        </p:txBody>
      </p:sp>
      <p:sp>
        <p:nvSpPr>
          <p:cNvPr id="24" name="TextBox 23"/>
          <p:cNvSpPr txBox="1"/>
          <p:nvPr/>
        </p:nvSpPr>
        <p:spPr>
          <a:xfrm>
            <a:off x="9784080" y="3108960"/>
            <a:ext cx="2148840" cy="914400"/>
          </a:xfrm>
          <a:prstGeom prst="rect">
            <a:avLst/>
          </a:prstGeom>
          <a:noFill/>
        </p:spPr>
        <p:txBody>
          <a:bodyPr wrap="square">
            <a:spAutoFit/>
          </a:bodyPr>
          <a:lstStyle/>
          <a:p>
            <a:pPr>
              <a:spcAft>
                <a:spcPts val="439"/>
              </a:spcAft>
              <a:defRPr sz="1100">
                <a:solidFill>
                  <a:srgbClr val="2C3E50"/>
                </a:solidFill>
                <a:latin typeface="Microsoft YaHei"/>
              </a:defRPr>
            </a:pPr>
            <a:r>
              <a:t>除以 255.0</a:t>
            </a:r>
          </a:p>
          <a:p>
            <a:pPr>
              <a:spcAft>
                <a:spcPts val="439"/>
              </a:spcAft>
              <a:defRPr sz="1100">
                <a:solidFill>
                  <a:srgbClr val="2C3E50"/>
                </a:solidFill>
                <a:latin typeface="Microsoft YaHei"/>
              </a:defRPr>
            </a:pPr>
            <a:r>
              <a:t>像素值 → [0, 1]</a:t>
            </a:r>
          </a:p>
        </p:txBody>
      </p:sp>
      <p:sp>
        <p:nvSpPr>
          <p:cNvPr id="25" name="Rectangle 24"/>
          <p:cNvSpPr/>
          <p:nvPr/>
        </p:nvSpPr>
        <p:spPr>
          <a:xfrm>
            <a:off x="457200" y="4297680"/>
            <a:ext cx="11247120" cy="16459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389120"/>
            <a:ext cx="10698480" cy="274320"/>
          </a:xfrm>
          <a:prstGeom prst="rect">
            <a:avLst/>
          </a:prstGeom>
          <a:noFill/>
        </p:spPr>
        <p:txBody>
          <a:bodyPr wrap="square">
            <a:spAutoFit/>
          </a:bodyPr>
          <a:lstStyle/>
          <a:p>
            <a:pPr algn="l">
              <a:defRPr sz="1800" b="1">
                <a:solidFill>
                  <a:srgbClr val="1B2A4A"/>
                </a:solidFill>
                <a:latin typeface="Microsoft YaHei"/>
              </a:defRPr>
            </a:pPr>
            <a:r>
              <a:t>关键技术要点</a:t>
            </a:r>
          </a:p>
        </p:txBody>
      </p:sp>
      <p:sp>
        <p:nvSpPr>
          <p:cNvPr id="27" name="TextBox 26"/>
          <p:cNvSpPr txBox="1"/>
          <p:nvPr/>
        </p:nvSpPr>
        <p:spPr>
          <a:xfrm>
            <a:off x="731520" y="4754880"/>
            <a:ext cx="10698480" cy="1097280"/>
          </a:xfrm>
          <a:prstGeom prst="rect">
            <a:avLst/>
          </a:prstGeom>
          <a:noFill/>
        </p:spPr>
        <p:txBody>
          <a:bodyPr wrap="square">
            <a:spAutoFit/>
          </a:bodyPr>
          <a:lstStyle/>
          <a:p>
            <a:pPr>
              <a:spcAft>
                <a:spcPts val="650"/>
              </a:spcAft>
              <a:defRPr sz="1300" b="1">
                <a:solidFill>
                  <a:srgbClr val="2C3E50"/>
                </a:solidFill>
                <a:latin typeface="Microsoft YaHei"/>
              </a:defRPr>
            </a:pPr>
            <a:r>
              <a:t>• PadToSquare3D: 在空间维度(H,W)对称填充零值，使图像变为正方形，保持纵横比不变形</a:t>
            </a:r>
          </a:p>
          <a:p>
            <a:pPr>
              <a:spcAft>
                <a:spcPts val="650"/>
              </a:spcAft>
              <a:defRPr sz="1300">
                <a:solidFill>
                  <a:srgbClr val="2C3E50"/>
                </a:solidFill>
                <a:latin typeface="Microsoft YaHei"/>
              </a:defRPr>
            </a:pPr>
            <a:r>
              <a:t>• Interpolate3D: 使用三线性插值(trilinear)将视频统一缩放至 (96, 128, 128)，保证深度/高度/宽度一致</a:t>
            </a:r>
          </a:p>
          <a:p>
            <a:pPr>
              <a:spcAft>
                <a:spcPts val="650"/>
              </a:spcAft>
              <a:defRPr sz="1300">
                <a:solidFill>
                  <a:srgbClr val="2C3E50"/>
                </a:solidFill>
                <a:latin typeface="Microsoft YaHei"/>
              </a:defRPr>
            </a:pPr>
            <a:r>
              <a:t>• 深度维度(96帧): 支持可变帧数输入，通过插值统一时间维度，保留时序信息</a:t>
            </a:r>
          </a:p>
          <a:p>
            <a:pPr>
              <a:spcAft>
                <a:spcPts val="650"/>
              </a:spcAft>
              <a:defRPr sz="1300">
                <a:solidFill>
                  <a:srgbClr val="2C3E50"/>
                </a:solidFill>
                <a:latin typeface="Microsoft YaHei"/>
              </a:defRPr>
            </a:pPr>
            <a:r>
              <a:t>• 单通道灰度: 超声图像本身为灰度图，RGB三通道取均值转换为单通道，减少计算量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模型架构总览</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MODEL ARCHITECTURES — 8种3D深度学习模型</a:t>
            </a:r>
          </a:p>
        </p:txBody>
      </p:sp>
      <p:sp>
        <p:nvSpPr>
          <p:cNvPr id="6" name="TextBox 5"/>
          <p:cNvSpPr txBox="1"/>
          <p:nvPr/>
        </p:nvSpPr>
        <p:spPr>
          <a:xfrm>
            <a:off x="731520" y="1645920"/>
            <a:ext cx="5029200" cy="365760"/>
          </a:xfrm>
          <a:prstGeom prst="rect">
            <a:avLst/>
          </a:prstGeom>
          <a:noFill/>
        </p:spPr>
        <p:txBody>
          <a:bodyPr wrap="square">
            <a:spAutoFit/>
          </a:bodyPr>
          <a:lstStyle/>
          <a:p>
            <a:pPr algn="l">
              <a:defRPr sz="1800" b="1">
                <a:solidFill>
                  <a:srgbClr val="2E86C1"/>
                </a:solidFill>
                <a:latin typeface="Microsoft YaHei"/>
              </a:defRPr>
            </a:pPr>
            <a:r>
              <a:t>CNN 系列架构</a:t>
            </a:r>
          </a:p>
        </p:txBody>
      </p:sp>
      <p:sp>
        <p:nvSpPr>
          <p:cNvPr id="7" name="TextBox 6"/>
          <p:cNvSpPr txBox="1"/>
          <p:nvPr/>
        </p:nvSpPr>
        <p:spPr>
          <a:xfrm>
            <a:off x="6400800" y="1645920"/>
            <a:ext cx="5029200" cy="365760"/>
          </a:xfrm>
          <a:prstGeom prst="rect">
            <a:avLst/>
          </a:prstGeom>
          <a:noFill/>
        </p:spPr>
        <p:txBody>
          <a:bodyPr wrap="square">
            <a:spAutoFit/>
          </a:bodyPr>
          <a:lstStyle/>
          <a:p>
            <a:pPr algn="l">
              <a:defRPr sz="1800" b="1">
                <a:solidFill>
                  <a:srgbClr val="E67E22"/>
                </a:solidFill>
                <a:latin typeface="Microsoft YaHei"/>
              </a:defRPr>
            </a:pPr>
            <a:r>
              <a:t>Transformer 系列架构</a:t>
            </a:r>
          </a:p>
        </p:txBody>
      </p:sp>
      <p:sp>
        <p:nvSpPr>
          <p:cNvPr id="8" name="Rectangle 7"/>
          <p:cNvSpPr/>
          <p:nvPr/>
        </p:nvSpPr>
        <p:spPr>
          <a:xfrm>
            <a:off x="457200" y="2011680"/>
            <a:ext cx="5486400" cy="685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057400"/>
            <a:ext cx="1371600" cy="274320"/>
          </a:xfrm>
          <a:prstGeom prst="rect">
            <a:avLst/>
          </a:prstGeom>
          <a:noFill/>
        </p:spPr>
        <p:txBody>
          <a:bodyPr wrap="square">
            <a:spAutoFit/>
          </a:bodyPr>
          <a:lstStyle/>
          <a:p>
            <a:pPr algn="l">
              <a:defRPr sz="1400" b="1">
                <a:solidFill>
                  <a:srgbClr val="2E86C1"/>
                </a:solidFill>
                <a:latin typeface="Microsoft YaHei"/>
              </a:defRPr>
            </a:pPr>
            <a:r>
              <a:t>ResNet3D</a:t>
            </a:r>
          </a:p>
        </p:txBody>
      </p:sp>
      <p:sp>
        <p:nvSpPr>
          <p:cNvPr id="10" name="TextBox 9"/>
          <p:cNvSpPr txBox="1"/>
          <p:nvPr/>
        </p:nvSpPr>
        <p:spPr>
          <a:xfrm>
            <a:off x="640080" y="2331720"/>
            <a:ext cx="3657600" cy="274320"/>
          </a:xfrm>
          <a:prstGeom prst="rect">
            <a:avLst/>
          </a:prstGeom>
          <a:noFill/>
        </p:spPr>
        <p:txBody>
          <a:bodyPr wrap="square">
            <a:spAutoFit/>
          </a:bodyPr>
          <a:lstStyle/>
          <a:p>
            <a:pPr algn="l">
              <a:defRPr sz="1000" b="0">
                <a:solidFill>
                  <a:srgbClr val="2C3E50"/>
                </a:solidFill>
                <a:latin typeface="Microsoft YaHei"/>
              </a:defRPr>
            </a:pPr>
            <a:r>
              <a:t>3D残差网络，4层BasicBlock</a:t>
            </a:r>
            <a:br/>
            <a:r>
              <a:t>输入通道1，输出logits</a:t>
            </a:r>
          </a:p>
        </p:txBody>
      </p:sp>
      <p:sp>
        <p:nvSpPr>
          <p:cNvPr id="11" name="TextBox 10"/>
          <p:cNvSpPr txBox="1"/>
          <p:nvPr/>
        </p:nvSpPr>
        <p:spPr>
          <a:xfrm>
            <a:off x="4846320" y="2194560"/>
            <a:ext cx="914400" cy="274320"/>
          </a:xfrm>
          <a:prstGeom prst="rect">
            <a:avLst/>
          </a:prstGeom>
          <a:noFill/>
        </p:spPr>
        <p:txBody>
          <a:bodyPr wrap="square">
            <a:spAutoFit/>
          </a:bodyPr>
          <a:lstStyle/>
          <a:p>
            <a:pPr algn="l">
              <a:defRPr sz="1200" b="1">
                <a:solidFill>
                  <a:srgbClr val="E67E22"/>
                </a:solidFill>
                <a:latin typeface="Microsoft YaHei"/>
              </a:defRPr>
            </a:pPr>
            <a:r>
              <a:t>3.6M</a:t>
            </a:r>
          </a:p>
        </p:txBody>
      </p:sp>
      <p:sp>
        <p:nvSpPr>
          <p:cNvPr id="12" name="Rectangle 11"/>
          <p:cNvSpPr/>
          <p:nvPr/>
        </p:nvSpPr>
        <p:spPr>
          <a:xfrm>
            <a:off x="457200" y="2788920"/>
            <a:ext cx="5486400" cy="685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34640"/>
            <a:ext cx="1371600" cy="274320"/>
          </a:xfrm>
          <a:prstGeom prst="rect">
            <a:avLst/>
          </a:prstGeom>
          <a:noFill/>
        </p:spPr>
        <p:txBody>
          <a:bodyPr wrap="square">
            <a:spAutoFit/>
          </a:bodyPr>
          <a:lstStyle/>
          <a:p>
            <a:pPr algn="l">
              <a:defRPr sz="1400" b="1">
                <a:solidFill>
                  <a:srgbClr val="2E86C1"/>
                </a:solidFill>
                <a:latin typeface="Microsoft YaHei"/>
              </a:defRPr>
            </a:pPr>
            <a:r>
              <a:t>SENet154</a:t>
            </a:r>
          </a:p>
        </p:txBody>
      </p:sp>
      <p:sp>
        <p:nvSpPr>
          <p:cNvPr id="14" name="TextBox 13"/>
          <p:cNvSpPr txBox="1"/>
          <p:nvPr/>
        </p:nvSpPr>
        <p:spPr>
          <a:xfrm>
            <a:off x="640080" y="3108960"/>
            <a:ext cx="3657600" cy="274320"/>
          </a:xfrm>
          <a:prstGeom prst="rect">
            <a:avLst/>
          </a:prstGeom>
          <a:noFill/>
        </p:spPr>
        <p:txBody>
          <a:bodyPr wrap="square">
            <a:spAutoFit/>
          </a:bodyPr>
          <a:lstStyle/>
          <a:p>
            <a:pPr algn="l">
              <a:defRPr sz="1000" b="0">
                <a:solidFill>
                  <a:srgbClr val="2C3E50"/>
                </a:solidFill>
                <a:latin typeface="Microsoft YaHei"/>
              </a:defRPr>
            </a:pPr>
            <a:r>
              <a:t>SE挤压激励网络</a:t>
            </a:r>
            <a:br/>
            <a:r>
              <a:t>通道注意力机制</a:t>
            </a:r>
          </a:p>
        </p:txBody>
      </p:sp>
      <p:sp>
        <p:nvSpPr>
          <p:cNvPr id="15" name="TextBox 14"/>
          <p:cNvSpPr txBox="1"/>
          <p:nvPr/>
        </p:nvSpPr>
        <p:spPr>
          <a:xfrm>
            <a:off x="4846320" y="2971800"/>
            <a:ext cx="914400" cy="274320"/>
          </a:xfrm>
          <a:prstGeom prst="rect">
            <a:avLst/>
          </a:prstGeom>
          <a:noFill/>
        </p:spPr>
        <p:txBody>
          <a:bodyPr wrap="square">
            <a:spAutoFit/>
          </a:bodyPr>
          <a:lstStyle/>
          <a:p>
            <a:pPr algn="l">
              <a:defRPr sz="1200" b="1">
                <a:solidFill>
                  <a:srgbClr val="E67E22"/>
                </a:solidFill>
                <a:latin typeface="Microsoft YaHei"/>
              </a:defRPr>
            </a:pPr>
            <a:r>
              <a:t>27.5M</a:t>
            </a:r>
          </a:p>
        </p:txBody>
      </p:sp>
      <p:sp>
        <p:nvSpPr>
          <p:cNvPr id="16" name="Rectangle 15"/>
          <p:cNvSpPr/>
          <p:nvPr/>
        </p:nvSpPr>
        <p:spPr>
          <a:xfrm>
            <a:off x="457200" y="3566160"/>
            <a:ext cx="5486400" cy="685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611880"/>
            <a:ext cx="1371600" cy="274320"/>
          </a:xfrm>
          <a:prstGeom prst="rect">
            <a:avLst/>
          </a:prstGeom>
          <a:noFill/>
        </p:spPr>
        <p:txBody>
          <a:bodyPr wrap="square">
            <a:spAutoFit/>
          </a:bodyPr>
          <a:lstStyle/>
          <a:p>
            <a:pPr algn="l">
              <a:defRPr sz="1400" b="1">
                <a:solidFill>
                  <a:srgbClr val="2E86C1"/>
                </a:solidFill>
                <a:latin typeface="Microsoft YaHei"/>
              </a:defRPr>
            </a:pPr>
            <a:r>
              <a:t>3D U-Net</a:t>
            </a:r>
          </a:p>
        </p:txBody>
      </p:sp>
      <p:sp>
        <p:nvSpPr>
          <p:cNvPr id="18" name="TextBox 17"/>
          <p:cNvSpPr txBox="1"/>
          <p:nvPr/>
        </p:nvSpPr>
        <p:spPr>
          <a:xfrm>
            <a:off x="640080" y="3886200"/>
            <a:ext cx="3657600" cy="274320"/>
          </a:xfrm>
          <a:prstGeom prst="rect">
            <a:avLst/>
          </a:prstGeom>
          <a:noFill/>
        </p:spPr>
        <p:txBody>
          <a:bodyPr wrap="square">
            <a:spAutoFit/>
          </a:bodyPr>
          <a:lstStyle/>
          <a:p>
            <a:pPr algn="l">
              <a:defRPr sz="1000" b="0">
                <a:solidFill>
                  <a:srgbClr val="2C3E50"/>
                </a:solidFill>
                <a:latin typeface="Microsoft YaHei"/>
              </a:defRPr>
            </a:pPr>
            <a:r>
              <a:t>编码器-解码器+跳跃连接</a:t>
            </a:r>
            <a:br/>
            <a:r>
              <a:t>f_maps=[64,128,256,512,768]</a:t>
            </a:r>
          </a:p>
        </p:txBody>
      </p:sp>
      <p:sp>
        <p:nvSpPr>
          <p:cNvPr id="19" name="TextBox 18"/>
          <p:cNvSpPr txBox="1"/>
          <p:nvPr/>
        </p:nvSpPr>
        <p:spPr>
          <a:xfrm>
            <a:off x="4846320" y="3749040"/>
            <a:ext cx="914400" cy="274320"/>
          </a:xfrm>
          <a:prstGeom prst="rect">
            <a:avLst/>
          </a:prstGeom>
          <a:noFill/>
        </p:spPr>
        <p:txBody>
          <a:bodyPr wrap="square">
            <a:spAutoFit/>
          </a:bodyPr>
          <a:lstStyle/>
          <a:p>
            <a:pPr algn="l">
              <a:defRPr sz="1200" b="1">
                <a:solidFill>
                  <a:srgbClr val="E67E22"/>
                </a:solidFill>
                <a:latin typeface="Microsoft YaHei"/>
              </a:defRPr>
            </a:pPr>
            <a:r>
              <a:t>16.2M</a:t>
            </a:r>
          </a:p>
        </p:txBody>
      </p:sp>
      <p:sp>
        <p:nvSpPr>
          <p:cNvPr id="20" name="Rectangle 19"/>
          <p:cNvSpPr/>
          <p:nvPr/>
        </p:nvSpPr>
        <p:spPr>
          <a:xfrm>
            <a:off x="457200" y="4343400"/>
            <a:ext cx="5486400" cy="685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389120"/>
            <a:ext cx="1371600" cy="274320"/>
          </a:xfrm>
          <a:prstGeom prst="rect">
            <a:avLst/>
          </a:prstGeom>
          <a:noFill/>
        </p:spPr>
        <p:txBody>
          <a:bodyPr wrap="square">
            <a:spAutoFit/>
          </a:bodyPr>
          <a:lstStyle/>
          <a:p>
            <a:pPr algn="l">
              <a:defRPr sz="1400" b="1">
                <a:solidFill>
                  <a:srgbClr val="2E86C1"/>
                </a:solidFill>
                <a:latin typeface="Microsoft YaHei"/>
              </a:defRPr>
            </a:pPr>
            <a:r>
              <a:t>UNet++</a:t>
            </a:r>
          </a:p>
        </p:txBody>
      </p:sp>
      <p:sp>
        <p:nvSpPr>
          <p:cNvPr id="22" name="TextBox 21"/>
          <p:cNvSpPr txBox="1"/>
          <p:nvPr/>
        </p:nvSpPr>
        <p:spPr>
          <a:xfrm>
            <a:off x="640080" y="4663440"/>
            <a:ext cx="3657600" cy="274320"/>
          </a:xfrm>
          <a:prstGeom prst="rect">
            <a:avLst/>
          </a:prstGeom>
          <a:noFill/>
        </p:spPr>
        <p:txBody>
          <a:bodyPr wrap="square">
            <a:spAutoFit/>
          </a:bodyPr>
          <a:lstStyle/>
          <a:p>
            <a:pPr algn="l">
              <a:defRPr sz="1000" b="0">
                <a:solidFill>
                  <a:srgbClr val="2C3E50"/>
                </a:solidFill>
                <a:latin typeface="Microsoft YaHei"/>
              </a:defRPr>
            </a:pPr>
            <a:r>
              <a:t>嵌套密集跳跃路径</a:t>
            </a:r>
            <a:br/>
            <a:r>
              <a:t>features=[32,32,64,128,256,32]</a:t>
            </a:r>
          </a:p>
        </p:txBody>
      </p:sp>
      <p:sp>
        <p:nvSpPr>
          <p:cNvPr id="23" name="TextBox 22"/>
          <p:cNvSpPr txBox="1"/>
          <p:nvPr/>
        </p:nvSpPr>
        <p:spPr>
          <a:xfrm>
            <a:off x="4846320" y="4526280"/>
            <a:ext cx="914400" cy="274320"/>
          </a:xfrm>
          <a:prstGeom prst="rect">
            <a:avLst/>
          </a:prstGeom>
          <a:noFill/>
        </p:spPr>
        <p:txBody>
          <a:bodyPr wrap="square">
            <a:spAutoFit/>
          </a:bodyPr>
          <a:lstStyle/>
          <a:p>
            <a:pPr algn="l">
              <a:defRPr sz="1200" b="1">
                <a:solidFill>
                  <a:srgbClr val="E67E22"/>
                </a:solidFill>
                <a:latin typeface="Microsoft YaHei"/>
              </a:defRPr>
            </a:pPr>
            <a:r>
              <a:t>3.6M</a:t>
            </a:r>
          </a:p>
        </p:txBody>
      </p:sp>
      <p:sp>
        <p:nvSpPr>
          <p:cNvPr id="24" name="Rectangle 23"/>
          <p:cNvSpPr/>
          <p:nvPr/>
        </p:nvSpPr>
        <p:spPr>
          <a:xfrm>
            <a:off x="457200" y="5120640"/>
            <a:ext cx="5486400" cy="685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166359"/>
            <a:ext cx="1371600" cy="274320"/>
          </a:xfrm>
          <a:prstGeom prst="rect">
            <a:avLst/>
          </a:prstGeom>
          <a:noFill/>
        </p:spPr>
        <p:txBody>
          <a:bodyPr wrap="square">
            <a:spAutoFit/>
          </a:bodyPr>
          <a:lstStyle/>
          <a:p>
            <a:pPr algn="l">
              <a:defRPr sz="1400" b="1">
                <a:solidFill>
                  <a:srgbClr val="2E86C1"/>
                </a:solidFill>
                <a:latin typeface="Microsoft YaHei"/>
              </a:defRPr>
            </a:pPr>
            <a:r>
              <a:t>V-Net</a:t>
            </a:r>
          </a:p>
        </p:txBody>
      </p:sp>
      <p:sp>
        <p:nvSpPr>
          <p:cNvPr id="26" name="TextBox 25"/>
          <p:cNvSpPr txBox="1"/>
          <p:nvPr/>
        </p:nvSpPr>
        <p:spPr>
          <a:xfrm>
            <a:off x="640080" y="5440679"/>
            <a:ext cx="3657600" cy="274320"/>
          </a:xfrm>
          <a:prstGeom prst="rect">
            <a:avLst/>
          </a:prstGeom>
          <a:noFill/>
        </p:spPr>
        <p:txBody>
          <a:bodyPr wrap="square">
            <a:spAutoFit/>
          </a:bodyPr>
          <a:lstStyle/>
          <a:p>
            <a:pPr algn="l">
              <a:defRPr sz="1000" b="0">
                <a:solidFill>
                  <a:srgbClr val="2C3E50"/>
                </a:solidFill>
                <a:latin typeface="Microsoft YaHei"/>
              </a:defRPr>
            </a:pPr>
            <a:r>
              <a:t>体积医学图像分割网络</a:t>
            </a:r>
            <a:br/>
            <a:r>
              <a:t>ELU激活+残差连接</a:t>
            </a:r>
          </a:p>
        </p:txBody>
      </p:sp>
      <p:sp>
        <p:nvSpPr>
          <p:cNvPr id="27" name="TextBox 26"/>
          <p:cNvSpPr txBox="1"/>
          <p:nvPr/>
        </p:nvSpPr>
        <p:spPr>
          <a:xfrm>
            <a:off x="4846320" y="5303520"/>
            <a:ext cx="914400" cy="274320"/>
          </a:xfrm>
          <a:prstGeom prst="rect">
            <a:avLst/>
          </a:prstGeom>
          <a:noFill/>
        </p:spPr>
        <p:txBody>
          <a:bodyPr wrap="square">
            <a:spAutoFit/>
          </a:bodyPr>
          <a:lstStyle/>
          <a:p>
            <a:pPr algn="l">
              <a:defRPr sz="1200" b="1">
                <a:solidFill>
                  <a:srgbClr val="E67E22"/>
                </a:solidFill>
                <a:latin typeface="Microsoft YaHei"/>
              </a:defRPr>
            </a:pPr>
            <a:r>
              <a:t>9.4M</a:t>
            </a:r>
          </a:p>
        </p:txBody>
      </p:sp>
      <p:sp>
        <p:nvSpPr>
          <p:cNvPr id="28" name="Rectangle 27"/>
          <p:cNvSpPr/>
          <p:nvPr/>
        </p:nvSpPr>
        <p:spPr>
          <a:xfrm>
            <a:off x="6400800" y="2011680"/>
            <a:ext cx="5486400" cy="685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2057400"/>
            <a:ext cx="1645920" cy="274320"/>
          </a:xfrm>
          <a:prstGeom prst="rect">
            <a:avLst/>
          </a:prstGeom>
          <a:noFill/>
        </p:spPr>
        <p:txBody>
          <a:bodyPr wrap="square">
            <a:spAutoFit/>
          </a:bodyPr>
          <a:lstStyle/>
          <a:p>
            <a:pPr algn="l">
              <a:defRPr sz="1400" b="1">
                <a:solidFill>
                  <a:srgbClr val="E67E22"/>
                </a:solidFill>
                <a:latin typeface="Microsoft YaHei"/>
              </a:defRPr>
            </a:pPr>
            <a:r>
              <a:t>SwinUNETR</a:t>
            </a:r>
          </a:p>
        </p:txBody>
      </p:sp>
      <p:sp>
        <p:nvSpPr>
          <p:cNvPr id="30" name="TextBox 29"/>
          <p:cNvSpPr txBox="1"/>
          <p:nvPr/>
        </p:nvSpPr>
        <p:spPr>
          <a:xfrm>
            <a:off x="6583680" y="2331720"/>
            <a:ext cx="3474720" cy="274320"/>
          </a:xfrm>
          <a:prstGeom prst="rect">
            <a:avLst/>
          </a:prstGeom>
          <a:noFill/>
        </p:spPr>
        <p:txBody>
          <a:bodyPr wrap="square">
            <a:spAutoFit/>
          </a:bodyPr>
          <a:lstStyle/>
          <a:p>
            <a:pPr algn="l">
              <a:defRPr sz="1000" b="0">
                <a:solidFill>
                  <a:srgbClr val="2C3E50"/>
                </a:solidFill>
                <a:latin typeface="Microsoft YaHei"/>
              </a:defRPr>
            </a:pPr>
            <a:r>
              <a:t>Swin Transformer编码器</a:t>
            </a:r>
            <a:br/>
            <a:r>
              <a:t>滑动窗口自注意力</a:t>
            </a:r>
          </a:p>
        </p:txBody>
      </p:sp>
      <p:sp>
        <p:nvSpPr>
          <p:cNvPr id="31" name="TextBox 30"/>
          <p:cNvSpPr txBox="1"/>
          <p:nvPr/>
        </p:nvSpPr>
        <p:spPr>
          <a:xfrm>
            <a:off x="10789920" y="2194560"/>
            <a:ext cx="914400" cy="274320"/>
          </a:xfrm>
          <a:prstGeom prst="rect">
            <a:avLst/>
          </a:prstGeom>
          <a:noFill/>
        </p:spPr>
        <p:txBody>
          <a:bodyPr wrap="square">
            <a:spAutoFit/>
          </a:bodyPr>
          <a:lstStyle/>
          <a:p>
            <a:pPr algn="l">
              <a:defRPr sz="1200" b="1">
                <a:solidFill>
                  <a:srgbClr val="E67E22"/>
                </a:solidFill>
                <a:latin typeface="Microsoft YaHei"/>
              </a:defRPr>
            </a:pPr>
            <a:r>
              <a:t>24.2M</a:t>
            </a:r>
          </a:p>
        </p:txBody>
      </p:sp>
      <p:sp>
        <p:nvSpPr>
          <p:cNvPr id="32" name="Rectangle 31"/>
          <p:cNvSpPr/>
          <p:nvPr/>
        </p:nvSpPr>
        <p:spPr>
          <a:xfrm>
            <a:off x="6400800" y="2788920"/>
            <a:ext cx="5486400" cy="685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834640"/>
            <a:ext cx="1645920" cy="274320"/>
          </a:xfrm>
          <a:prstGeom prst="rect">
            <a:avLst/>
          </a:prstGeom>
          <a:noFill/>
        </p:spPr>
        <p:txBody>
          <a:bodyPr wrap="square">
            <a:spAutoFit/>
          </a:bodyPr>
          <a:lstStyle/>
          <a:p>
            <a:pPr algn="l">
              <a:defRPr sz="1400" b="1">
                <a:solidFill>
                  <a:srgbClr val="E67E22"/>
                </a:solidFill>
                <a:latin typeface="Microsoft YaHei"/>
              </a:defRPr>
            </a:pPr>
            <a:r>
              <a:t>UNETR</a:t>
            </a:r>
          </a:p>
        </p:txBody>
      </p:sp>
      <p:sp>
        <p:nvSpPr>
          <p:cNvPr id="34" name="TextBox 33"/>
          <p:cNvSpPr txBox="1"/>
          <p:nvPr/>
        </p:nvSpPr>
        <p:spPr>
          <a:xfrm>
            <a:off x="6583680" y="3108960"/>
            <a:ext cx="3474720" cy="274320"/>
          </a:xfrm>
          <a:prstGeom prst="rect">
            <a:avLst/>
          </a:prstGeom>
          <a:noFill/>
        </p:spPr>
        <p:txBody>
          <a:bodyPr wrap="square">
            <a:spAutoFit/>
          </a:bodyPr>
          <a:lstStyle/>
          <a:p>
            <a:pPr algn="l">
              <a:defRPr sz="1000" b="0">
                <a:solidFill>
                  <a:srgbClr val="2C3E50"/>
                </a:solidFill>
                <a:latin typeface="Microsoft YaHei"/>
              </a:defRPr>
            </a:pPr>
            <a:r>
              <a:t>ViT编码器+U-Net解码器</a:t>
            </a:r>
            <a:br/>
            <a:r>
              <a:t>16头注意力, 768隐藏维</a:t>
            </a:r>
          </a:p>
        </p:txBody>
      </p:sp>
      <p:sp>
        <p:nvSpPr>
          <p:cNvPr id="35" name="TextBox 34"/>
          <p:cNvSpPr txBox="1"/>
          <p:nvPr/>
        </p:nvSpPr>
        <p:spPr>
          <a:xfrm>
            <a:off x="10789920" y="2971800"/>
            <a:ext cx="914400" cy="274320"/>
          </a:xfrm>
          <a:prstGeom prst="rect">
            <a:avLst/>
          </a:prstGeom>
          <a:noFill/>
        </p:spPr>
        <p:txBody>
          <a:bodyPr wrap="square">
            <a:spAutoFit/>
          </a:bodyPr>
          <a:lstStyle/>
          <a:p>
            <a:pPr algn="l">
              <a:defRPr sz="1200" b="1">
                <a:solidFill>
                  <a:srgbClr val="E67E22"/>
                </a:solidFill>
                <a:latin typeface="Microsoft YaHei"/>
              </a:defRPr>
            </a:pPr>
            <a:r>
              <a:t>92.6M</a:t>
            </a:r>
          </a:p>
        </p:txBody>
      </p:sp>
      <p:sp>
        <p:nvSpPr>
          <p:cNvPr id="36" name="Rectangle 35"/>
          <p:cNvSpPr/>
          <p:nvPr/>
        </p:nvSpPr>
        <p:spPr>
          <a:xfrm>
            <a:off x="6400800" y="3566160"/>
            <a:ext cx="5486400" cy="685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3611880"/>
            <a:ext cx="1645920" cy="274320"/>
          </a:xfrm>
          <a:prstGeom prst="rect">
            <a:avLst/>
          </a:prstGeom>
          <a:noFill/>
        </p:spPr>
        <p:txBody>
          <a:bodyPr wrap="square">
            <a:spAutoFit/>
          </a:bodyPr>
          <a:lstStyle/>
          <a:p>
            <a:pPr algn="l">
              <a:defRPr sz="1400" b="1">
                <a:solidFill>
                  <a:srgbClr val="E67E22"/>
                </a:solidFill>
                <a:latin typeface="Microsoft YaHei"/>
              </a:defRPr>
            </a:pPr>
            <a:r>
              <a:t>ViT</a:t>
            </a:r>
          </a:p>
        </p:txBody>
      </p:sp>
      <p:sp>
        <p:nvSpPr>
          <p:cNvPr id="38" name="TextBox 37"/>
          <p:cNvSpPr txBox="1"/>
          <p:nvPr/>
        </p:nvSpPr>
        <p:spPr>
          <a:xfrm>
            <a:off x="6583680" y="3886200"/>
            <a:ext cx="3474720" cy="274320"/>
          </a:xfrm>
          <a:prstGeom prst="rect">
            <a:avLst/>
          </a:prstGeom>
          <a:noFill/>
        </p:spPr>
        <p:txBody>
          <a:bodyPr wrap="square">
            <a:spAutoFit/>
          </a:bodyPr>
          <a:lstStyle/>
          <a:p>
            <a:pPr algn="l">
              <a:defRPr sz="1000" b="0">
                <a:solidFill>
                  <a:srgbClr val="2C3E50"/>
                </a:solidFill>
                <a:latin typeface="Microsoft YaHei"/>
              </a:defRPr>
            </a:pPr>
            <a:r>
              <a:t>纯Vision Transformer</a:t>
            </a:r>
            <a:br/>
            <a:r>
              <a:t>patch_size=7, 4层</a:t>
            </a:r>
          </a:p>
        </p:txBody>
      </p:sp>
      <p:sp>
        <p:nvSpPr>
          <p:cNvPr id="39" name="TextBox 38"/>
          <p:cNvSpPr txBox="1"/>
          <p:nvPr/>
        </p:nvSpPr>
        <p:spPr>
          <a:xfrm>
            <a:off x="10789920" y="3749040"/>
            <a:ext cx="914400" cy="274320"/>
          </a:xfrm>
          <a:prstGeom prst="rect">
            <a:avLst/>
          </a:prstGeom>
          <a:noFill/>
        </p:spPr>
        <p:txBody>
          <a:bodyPr wrap="square">
            <a:spAutoFit/>
          </a:bodyPr>
          <a:lstStyle/>
          <a:p>
            <a:pPr algn="l">
              <a:defRPr sz="1200" b="1">
                <a:solidFill>
                  <a:srgbClr val="E67E22"/>
                </a:solidFill>
                <a:latin typeface="Microsoft YaHei"/>
              </a:defRPr>
            </a:pPr>
            <a:r>
              <a:t>16.1M</a:t>
            </a:r>
          </a:p>
        </p:txBody>
      </p:sp>
      <p:sp>
        <p:nvSpPr>
          <p:cNvPr id="40" name="Rectangle 39"/>
          <p:cNvSpPr/>
          <p:nvPr/>
        </p:nvSpPr>
        <p:spPr>
          <a:xfrm>
            <a:off x="457200" y="5943600"/>
            <a:ext cx="11247120" cy="54864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989320"/>
            <a:ext cx="10698480" cy="457200"/>
          </a:xfrm>
          <a:prstGeom prst="rect">
            <a:avLst/>
          </a:prstGeom>
          <a:noFill/>
        </p:spPr>
        <p:txBody>
          <a:bodyPr wrap="square">
            <a:spAutoFit/>
          </a:bodyPr>
          <a:lstStyle/>
          <a:p>
            <a:pPr algn="l">
              <a:defRPr sz="1300" b="1">
                <a:solidFill>
                  <a:srgbClr val="FFFFFF"/>
                </a:solidFill>
                <a:latin typeface="Microsoft YaHei"/>
              </a:defRPr>
            </a:pPr>
            <a:r>
              <a:t>统一设计: 编码器提取3D特征 → ClassificationHead (AdaptiveAvgPool3D / TopK Pooling → FC → ReLU → FC → 输出1维logit)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两阶段诊断流程</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TWO-STAGE DIAGNOSTIC PIPELINE</a:t>
            </a:r>
          </a:p>
        </p:txBody>
      </p:sp>
      <p:sp>
        <p:nvSpPr>
          <p:cNvPr id="6" name="Rectangle 5"/>
          <p:cNvSpPr/>
          <p:nvPr/>
        </p:nvSpPr>
        <p:spPr>
          <a:xfrm>
            <a:off x="914400" y="2011680"/>
            <a:ext cx="2743200" cy="13716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03120"/>
            <a:ext cx="2377440" cy="365760"/>
          </a:xfrm>
          <a:prstGeom prst="rect">
            <a:avLst/>
          </a:prstGeom>
          <a:noFill/>
        </p:spPr>
        <p:txBody>
          <a:bodyPr wrap="square">
            <a:spAutoFit/>
          </a:bodyPr>
          <a:lstStyle/>
          <a:p>
            <a:pPr algn="ctr">
              <a:defRPr sz="2000" b="1">
                <a:solidFill>
                  <a:srgbClr val="FFFFFF"/>
                </a:solidFill>
                <a:latin typeface="Microsoft YaHei"/>
              </a:defRPr>
            </a:pPr>
            <a:r>
              <a:t>Stage 1: RD检测</a:t>
            </a:r>
          </a:p>
        </p:txBody>
      </p:sp>
      <p:sp>
        <p:nvSpPr>
          <p:cNvPr id="8" name="TextBox 7"/>
          <p:cNvSpPr txBox="1"/>
          <p:nvPr/>
        </p:nvSpPr>
        <p:spPr>
          <a:xfrm>
            <a:off x="1097280" y="2468880"/>
            <a:ext cx="2377440" cy="731520"/>
          </a:xfrm>
          <a:prstGeom prst="rect">
            <a:avLst/>
          </a:prstGeom>
          <a:noFill/>
        </p:spPr>
        <p:txBody>
          <a:bodyPr wrap="square">
            <a:spAutoFit/>
          </a:bodyPr>
          <a:lstStyle/>
          <a:p>
            <a:pPr algn="ctr">
              <a:defRPr sz="1200" b="0">
                <a:solidFill>
                  <a:srgbClr val="FFFFFF"/>
                </a:solidFill>
                <a:latin typeface="Microsoft YaHei"/>
              </a:defRPr>
            </a:pPr>
            <a:r>
              <a:t>输入: 眼部超声视频</a:t>
            </a:r>
            <a:br/>
            <a:r>
              <a:t>模型: 非RD vs RD 分类器</a:t>
            </a:r>
            <a:br/>
            <a:r>
              <a:t>输出: has_rd (0/1)</a:t>
            </a:r>
          </a:p>
        </p:txBody>
      </p:sp>
      <p:sp>
        <p:nvSpPr>
          <p:cNvPr id="9" name="TextBox 8"/>
          <p:cNvSpPr txBox="1"/>
          <p:nvPr/>
        </p:nvSpPr>
        <p:spPr>
          <a:xfrm>
            <a:off x="3657600" y="2377440"/>
            <a:ext cx="1371600" cy="548640"/>
          </a:xfrm>
          <a:prstGeom prst="rect">
            <a:avLst/>
          </a:prstGeom>
          <a:noFill/>
        </p:spPr>
        <p:txBody>
          <a:bodyPr wrap="square">
            <a:spAutoFit/>
          </a:bodyPr>
          <a:lstStyle/>
          <a:p>
            <a:pPr algn="l">
              <a:defRPr sz="2800" b="1">
                <a:solidFill>
                  <a:srgbClr val="2C3E50"/>
                </a:solidFill>
                <a:latin typeface="Microsoft YaHei"/>
              </a:defRPr>
            </a:pPr>
            <a:r>
              <a:t>━━━━→</a:t>
            </a:r>
          </a:p>
        </p:txBody>
      </p:sp>
      <p:sp>
        <p:nvSpPr>
          <p:cNvPr id="10" name="Rectangle 9"/>
          <p:cNvSpPr/>
          <p:nvPr/>
        </p:nvSpPr>
        <p:spPr>
          <a:xfrm>
            <a:off x="5029200" y="1828800"/>
            <a:ext cx="2286000" cy="1828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920240"/>
            <a:ext cx="1920240" cy="457200"/>
          </a:xfrm>
          <a:prstGeom prst="rect">
            <a:avLst/>
          </a:prstGeom>
          <a:noFill/>
        </p:spPr>
        <p:txBody>
          <a:bodyPr wrap="square">
            <a:spAutoFit/>
          </a:bodyPr>
          <a:lstStyle/>
          <a:p>
            <a:pPr algn="ctr">
              <a:defRPr sz="1800" b="1">
                <a:solidFill>
                  <a:srgbClr val="1B2A4A"/>
                </a:solidFill>
                <a:latin typeface="Microsoft YaHei"/>
              </a:defRPr>
            </a:pPr>
            <a:r>
              <a:t>判定</a:t>
            </a:r>
            <a:br/>
            <a:r>
              <a:t>RD阳性?</a:t>
            </a:r>
          </a:p>
        </p:txBody>
      </p:sp>
      <p:sp>
        <p:nvSpPr>
          <p:cNvPr id="12" name="TextBox 11"/>
          <p:cNvSpPr txBox="1"/>
          <p:nvPr/>
        </p:nvSpPr>
        <p:spPr>
          <a:xfrm>
            <a:off x="5212080" y="2560320"/>
            <a:ext cx="914400" cy="365760"/>
          </a:xfrm>
          <a:prstGeom prst="rect">
            <a:avLst/>
          </a:prstGeom>
          <a:noFill/>
        </p:spPr>
        <p:txBody>
          <a:bodyPr wrap="square">
            <a:spAutoFit/>
          </a:bodyPr>
          <a:lstStyle/>
          <a:p>
            <a:pPr algn="ctr">
              <a:defRPr sz="1400" b="1">
                <a:solidFill>
                  <a:srgbClr val="27AE60"/>
                </a:solidFill>
                <a:latin typeface="Microsoft YaHei"/>
              </a:defRPr>
            </a:pPr>
            <a:r>
              <a:t>YES ↓</a:t>
            </a:r>
          </a:p>
        </p:txBody>
      </p:sp>
      <p:sp>
        <p:nvSpPr>
          <p:cNvPr id="13" name="TextBox 12"/>
          <p:cNvSpPr txBox="1"/>
          <p:nvPr/>
        </p:nvSpPr>
        <p:spPr>
          <a:xfrm>
            <a:off x="6217920" y="2560320"/>
            <a:ext cx="914400" cy="365760"/>
          </a:xfrm>
          <a:prstGeom prst="rect">
            <a:avLst/>
          </a:prstGeom>
          <a:noFill/>
        </p:spPr>
        <p:txBody>
          <a:bodyPr wrap="square">
            <a:spAutoFit/>
          </a:bodyPr>
          <a:lstStyle/>
          <a:p>
            <a:pPr algn="ctr">
              <a:defRPr sz="1400" b="1">
                <a:solidFill>
                  <a:srgbClr val="C0392B"/>
                </a:solidFill>
                <a:latin typeface="Microsoft YaHei"/>
              </a:defRPr>
            </a:pPr>
            <a:r>
              <a:t>NO →</a:t>
            </a:r>
          </a:p>
        </p:txBody>
      </p:sp>
      <p:sp>
        <p:nvSpPr>
          <p:cNvPr id="14" name="Rectangle 13"/>
          <p:cNvSpPr/>
          <p:nvPr/>
        </p:nvSpPr>
        <p:spPr>
          <a:xfrm>
            <a:off x="7498079" y="2011680"/>
            <a:ext cx="2011680" cy="109728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2194560"/>
            <a:ext cx="1828800" cy="731520"/>
          </a:xfrm>
          <a:prstGeom prst="rect">
            <a:avLst/>
          </a:prstGeom>
          <a:noFill/>
        </p:spPr>
        <p:txBody>
          <a:bodyPr wrap="square">
            <a:spAutoFit/>
          </a:bodyPr>
          <a:lstStyle/>
          <a:p>
            <a:pPr algn="ctr">
              <a:defRPr sz="1300" b="0">
                <a:solidFill>
                  <a:srgbClr val="2C3E50"/>
                </a:solidFill>
                <a:latin typeface="Microsoft YaHei"/>
              </a:defRPr>
            </a:pPr>
            <a:r>
              <a:t>诊断: 无RD</a:t>
            </a:r>
            <a:br/>
            <a:r>
              <a:t>不进入Stage 2</a:t>
            </a:r>
            <a:br/>
            <a:r>
              <a:t>检查结束</a:t>
            </a:r>
          </a:p>
        </p:txBody>
      </p:sp>
      <p:sp>
        <p:nvSpPr>
          <p:cNvPr id="16" name="Rectangle 15"/>
          <p:cNvSpPr/>
          <p:nvPr/>
        </p:nvSpPr>
        <p:spPr>
          <a:xfrm>
            <a:off x="5029200" y="3383280"/>
            <a:ext cx="2286000" cy="13716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0" y="3474720"/>
            <a:ext cx="1920240" cy="365760"/>
          </a:xfrm>
          <a:prstGeom prst="rect">
            <a:avLst/>
          </a:prstGeom>
          <a:noFill/>
        </p:spPr>
        <p:txBody>
          <a:bodyPr wrap="square">
            <a:spAutoFit/>
          </a:bodyPr>
          <a:lstStyle/>
          <a:p>
            <a:pPr algn="ctr">
              <a:defRPr sz="1800" b="1">
                <a:solidFill>
                  <a:srgbClr val="FFFFFF"/>
                </a:solidFill>
                <a:latin typeface="Microsoft YaHei"/>
              </a:defRPr>
            </a:pPr>
            <a:r>
              <a:t>Stage 2: 黄斑分类</a:t>
            </a:r>
          </a:p>
        </p:txBody>
      </p:sp>
      <p:sp>
        <p:nvSpPr>
          <p:cNvPr id="18" name="TextBox 17"/>
          <p:cNvSpPr txBox="1"/>
          <p:nvPr/>
        </p:nvSpPr>
        <p:spPr>
          <a:xfrm>
            <a:off x="5212080" y="3886200"/>
            <a:ext cx="1920240" cy="731520"/>
          </a:xfrm>
          <a:prstGeom prst="rect">
            <a:avLst/>
          </a:prstGeom>
          <a:noFill/>
        </p:spPr>
        <p:txBody>
          <a:bodyPr wrap="square">
            <a:spAutoFit/>
          </a:bodyPr>
          <a:lstStyle/>
          <a:p>
            <a:pPr algn="ctr">
              <a:defRPr sz="1100" b="0">
                <a:solidFill>
                  <a:srgbClr val="FFFFFF"/>
                </a:solidFill>
                <a:latin typeface="Microsoft YaHei"/>
              </a:defRPr>
            </a:pPr>
            <a:r>
              <a:t>模型: 黄斑完整 vs 脱离</a:t>
            </a:r>
            <a:br/>
            <a:r>
              <a:t>输出: macula_detached (0/1)</a:t>
            </a:r>
          </a:p>
        </p:txBody>
      </p:sp>
      <p:sp>
        <p:nvSpPr>
          <p:cNvPr id="19" name="Rectangle 18"/>
          <p:cNvSpPr/>
          <p:nvPr/>
        </p:nvSpPr>
        <p:spPr>
          <a:xfrm>
            <a:off x="7498079" y="3657600"/>
            <a:ext cx="20116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749039"/>
            <a:ext cx="1828800" cy="731520"/>
          </a:xfrm>
          <a:prstGeom prst="rect">
            <a:avLst/>
          </a:prstGeom>
          <a:noFill/>
        </p:spPr>
        <p:txBody>
          <a:bodyPr wrap="square">
            <a:spAutoFit/>
          </a:bodyPr>
          <a:lstStyle/>
          <a:p>
            <a:pPr algn="ctr">
              <a:defRPr sz="1200" b="0">
                <a:solidFill>
                  <a:srgbClr val="FFFFFF"/>
                </a:solidFill>
                <a:latin typeface="Microsoft YaHei"/>
              </a:defRPr>
            </a:pPr>
            <a:r>
              <a:t>黄斑完整</a:t>
            </a:r>
            <a:br/>
            <a:r>
              <a:t>(Macula Intact)</a:t>
            </a:r>
            <a:br/>
            <a:r>
              <a:t>sigmoid ≥ 0.5</a:t>
            </a:r>
          </a:p>
        </p:txBody>
      </p:sp>
      <p:sp>
        <p:nvSpPr>
          <p:cNvPr id="21" name="Rectangle 20"/>
          <p:cNvSpPr/>
          <p:nvPr/>
        </p:nvSpPr>
        <p:spPr>
          <a:xfrm>
            <a:off x="9692640" y="3657600"/>
            <a:ext cx="201168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0" y="3749039"/>
            <a:ext cx="1828800" cy="731520"/>
          </a:xfrm>
          <a:prstGeom prst="rect">
            <a:avLst/>
          </a:prstGeom>
          <a:noFill/>
        </p:spPr>
        <p:txBody>
          <a:bodyPr wrap="square">
            <a:spAutoFit/>
          </a:bodyPr>
          <a:lstStyle/>
          <a:p>
            <a:pPr algn="ctr">
              <a:defRPr sz="1200" b="0">
                <a:solidFill>
                  <a:srgbClr val="FFFFFF"/>
                </a:solidFill>
                <a:latin typeface="Microsoft YaHei"/>
              </a:defRPr>
            </a:pPr>
            <a:r>
              <a:t>黄斑脱离</a:t>
            </a:r>
            <a:br/>
            <a:r>
              <a:t>(Macula Detached)</a:t>
            </a:r>
            <a:br/>
            <a:r>
              <a:t>sigmoid &lt; 0.5</a:t>
            </a:r>
          </a:p>
        </p:txBody>
      </p:sp>
      <p:sp>
        <p:nvSpPr>
          <p:cNvPr id="23" name="Rectangle 22"/>
          <p:cNvSpPr/>
          <p:nvPr/>
        </p:nvSpPr>
        <p:spPr>
          <a:xfrm>
            <a:off x="457200" y="5029200"/>
            <a:ext cx="11247120"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20640"/>
            <a:ext cx="10698480" cy="274320"/>
          </a:xfrm>
          <a:prstGeom prst="rect">
            <a:avLst/>
          </a:prstGeom>
          <a:noFill/>
        </p:spPr>
        <p:txBody>
          <a:bodyPr wrap="square">
            <a:spAutoFit/>
          </a:bodyPr>
          <a:lstStyle/>
          <a:p>
            <a:pPr algn="l">
              <a:defRPr sz="1600" b="1">
                <a:solidFill>
                  <a:srgbClr val="FFFFFF"/>
                </a:solidFill>
                <a:latin typeface="Microsoft YaHei"/>
              </a:defRPr>
            </a:pPr>
            <a:r>
              <a:t>实现细节</a:t>
            </a:r>
          </a:p>
        </p:txBody>
      </p:sp>
      <p:sp>
        <p:nvSpPr>
          <p:cNvPr id="25" name="TextBox 24"/>
          <p:cNvSpPr txBox="1"/>
          <p:nvPr/>
        </p:nvSpPr>
        <p:spPr>
          <a:xfrm>
            <a:off x="731520" y="5486400"/>
            <a:ext cx="10698480" cy="822960"/>
          </a:xfrm>
          <a:prstGeom prst="rect">
            <a:avLst/>
          </a:prstGeom>
          <a:noFill/>
        </p:spPr>
        <p:txBody>
          <a:bodyPr wrap="square">
            <a:spAutoFit/>
          </a:bodyPr>
          <a:lstStyle/>
          <a:p>
            <a:pPr>
              <a:spcAft>
                <a:spcPts val="600"/>
              </a:spcAft>
              <a:defRPr sz="1200" b="1">
                <a:solidFill>
                  <a:srgbClr val="CCCCCC"/>
                </a:solidFill>
                <a:latin typeface="Microsoft YaHei"/>
              </a:defRPr>
            </a:pPr>
            <a:r>
              <a:t>• 两个模型独立训练，级联推理。RD模型输出sigmoid概率，≥0.5判定为RD阳性</a:t>
            </a:r>
          </a:p>
          <a:p>
            <a:pPr>
              <a:spcAft>
                <a:spcPts val="600"/>
              </a:spcAft>
              <a:defRPr sz="1200">
                <a:solidFill>
                  <a:srgbClr val="CCCCCC"/>
                </a:solidFill>
                <a:latin typeface="Microsoft YaHei"/>
              </a:defRPr>
            </a:pPr>
            <a:r>
              <a:t>• 仅当RD阳性时才进入Stage 2黄斑分类，模拟临床工作流</a:t>
            </a:r>
          </a:p>
          <a:p>
            <a:pPr>
              <a:spcAft>
                <a:spcPts val="600"/>
              </a:spcAft>
              <a:defRPr sz="1200">
                <a:solidFill>
                  <a:srgbClr val="CCCCCC"/>
                </a:solidFill>
                <a:latin typeface="Microsoft YaHei"/>
              </a:defRPr>
            </a:pPr>
            <a:r>
              <a:t>• 支持命令行调用: python pipe/diagnostic_pipeline.py --input video.mp4</a:t>
            </a:r>
          </a:p>
          <a:p>
            <a:pPr>
              <a:spcAft>
                <a:spcPts val="600"/>
              </a:spcAft>
              <a:defRPr sz="1200">
                <a:solidFill>
                  <a:srgbClr val="CCCCCC"/>
                </a:solidFill>
                <a:latin typeface="Microsoft YaHei"/>
              </a:defRPr>
            </a:pPr>
            <a:r>
              <a:t>• 模型权重适配器(adapt_state_dict)兼容不同版本checkpoint，支持权重平滑迁移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五个分类任务</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5 CLASSIFICATION TASKS</a:t>
            </a:r>
          </a:p>
        </p:txBody>
      </p:sp>
      <p:sp>
        <p:nvSpPr>
          <p:cNvPr id="6" name="Rectangle 5"/>
          <p:cNvSpPr/>
          <p:nvPr/>
        </p:nvSpPr>
        <p:spPr>
          <a:xfrm>
            <a:off x="274320" y="1828800"/>
            <a:ext cx="2148840" cy="2286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920240"/>
            <a:ext cx="1965960" cy="731520"/>
          </a:xfrm>
          <a:prstGeom prst="rect">
            <a:avLst/>
          </a:prstGeom>
          <a:noFill/>
        </p:spPr>
        <p:txBody>
          <a:bodyPr wrap="square">
            <a:spAutoFit/>
          </a:bodyPr>
          <a:lstStyle/>
          <a:p>
            <a:pPr algn="ctr">
              <a:defRPr sz="1600" b="1">
                <a:solidFill>
                  <a:srgbClr val="FFFFFF"/>
                </a:solidFill>
                <a:latin typeface="Microsoft YaHei"/>
              </a:defRPr>
            </a:pPr>
            <a:r>
              <a:t>非RD vs RD</a:t>
            </a:r>
            <a:br/>
            <a:r>
              <a:t>(全数据集)</a:t>
            </a:r>
          </a:p>
        </p:txBody>
      </p:sp>
      <p:sp>
        <p:nvSpPr>
          <p:cNvPr id="8" name="TextBox 7"/>
          <p:cNvSpPr txBox="1"/>
          <p:nvPr/>
        </p:nvSpPr>
        <p:spPr>
          <a:xfrm>
            <a:off x="365760" y="2743200"/>
            <a:ext cx="1965960" cy="274320"/>
          </a:xfrm>
          <a:prstGeom prst="rect">
            <a:avLst/>
          </a:prstGeom>
          <a:noFill/>
        </p:spPr>
        <p:txBody>
          <a:bodyPr wrap="square">
            <a:spAutoFit/>
          </a:bodyPr>
          <a:lstStyle/>
          <a:p>
            <a:pPr algn="ctr">
              <a:defRPr sz="1300" b="0">
                <a:solidFill>
                  <a:srgbClr val="FFFFFF"/>
                </a:solidFill>
                <a:latin typeface="Microsoft YaHei"/>
              </a:defRPr>
            </a:pPr>
            <a:r>
              <a:t>5,381 样本</a:t>
            </a:r>
          </a:p>
        </p:txBody>
      </p:sp>
      <p:sp>
        <p:nvSpPr>
          <p:cNvPr id="9" name="Rectangle 8"/>
          <p:cNvSpPr/>
          <p:nvPr/>
        </p:nvSpPr>
        <p:spPr>
          <a:xfrm>
            <a:off x="731520" y="3063240"/>
            <a:ext cx="123444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200400"/>
            <a:ext cx="1965960" cy="365760"/>
          </a:xfrm>
          <a:prstGeom prst="rect">
            <a:avLst/>
          </a:prstGeom>
          <a:noFill/>
        </p:spPr>
        <p:txBody>
          <a:bodyPr wrap="square">
            <a:spAutoFit/>
          </a:bodyPr>
          <a:lstStyle/>
          <a:p>
            <a:pPr algn="ctr">
              <a:defRPr sz="1000" b="0">
                <a:solidFill>
                  <a:srgbClr val="EEEEEE"/>
                </a:solidFill>
                <a:latin typeface="Microsoft YaHei"/>
              </a:defRPr>
            </a:pPr>
            <a:r>
              <a:t>基础筛查任务</a:t>
            </a:r>
            <a:br/>
            <a:r>
              <a:t>区分正常/异常</a:t>
            </a:r>
          </a:p>
        </p:txBody>
      </p:sp>
      <p:sp>
        <p:nvSpPr>
          <p:cNvPr id="11" name="Rectangle 10"/>
          <p:cNvSpPr/>
          <p:nvPr/>
        </p:nvSpPr>
        <p:spPr>
          <a:xfrm>
            <a:off x="2606039" y="1828800"/>
            <a:ext cx="2148840" cy="22860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7479" y="1920240"/>
            <a:ext cx="1965960" cy="731520"/>
          </a:xfrm>
          <a:prstGeom prst="rect">
            <a:avLst/>
          </a:prstGeom>
          <a:noFill/>
        </p:spPr>
        <p:txBody>
          <a:bodyPr wrap="square">
            <a:spAutoFit/>
          </a:bodyPr>
          <a:lstStyle/>
          <a:p>
            <a:pPr algn="ctr">
              <a:defRPr sz="1600" b="1">
                <a:solidFill>
                  <a:srgbClr val="FFFFFF"/>
                </a:solidFill>
                <a:latin typeface="Microsoft YaHei"/>
              </a:defRPr>
            </a:pPr>
            <a:r>
              <a:t>正常 vs RD</a:t>
            </a:r>
            <a:br/>
            <a:r>
              <a:t>(排除PVD)</a:t>
            </a:r>
          </a:p>
        </p:txBody>
      </p:sp>
      <p:sp>
        <p:nvSpPr>
          <p:cNvPr id="13" name="TextBox 12"/>
          <p:cNvSpPr txBox="1"/>
          <p:nvPr/>
        </p:nvSpPr>
        <p:spPr>
          <a:xfrm>
            <a:off x="2697479" y="2743200"/>
            <a:ext cx="1965960" cy="274320"/>
          </a:xfrm>
          <a:prstGeom prst="rect">
            <a:avLst/>
          </a:prstGeom>
          <a:noFill/>
        </p:spPr>
        <p:txBody>
          <a:bodyPr wrap="square">
            <a:spAutoFit/>
          </a:bodyPr>
          <a:lstStyle/>
          <a:p>
            <a:pPr algn="ctr">
              <a:defRPr sz="1300" b="0">
                <a:solidFill>
                  <a:srgbClr val="FFFFFF"/>
                </a:solidFill>
                <a:latin typeface="Microsoft YaHei"/>
              </a:defRPr>
            </a:pPr>
            <a:r>
              <a:t>4,735 样本</a:t>
            </a:r>
          </a:p>
        </p:txBody>
      </p:sp>
      <p:sp>
        <p:nvSpPr>
          <p:cNvPr id="14" name="Rectangle 13"/>
          <p:cNvSpPr/>
          <p:nvPr/>
        </p:nvSpPr>
        <p:spPr>
          <a:xfrm>
            <a:off x="3063239" y="3063240"/>
            <a:ext cx="123444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79" y="3200400"/>
            <a:ext cx="1965960" cy="365760"/>
          </a:xfrm>
          <a:prstGeom prst="rect">
            <a:avLst/>
          </a:prstGeom>
          <a:noFill/>
        </p:spPr>
        <p:txBody>
          <a:bodyPr wrap="square">
            <a:spAutoFit/>
          </a:bodyPr>
          <a:lstStyle/>
          <a:p>
            <a:pPr algn="ctr">
              <a:defRPr sz="1000" b="0">
                <a:solidFill>
                  <a:srgbClr val="EEEEEE"/>
                </a:solidFill>
                <a:latin typeface="Microsoft YaHei"/>
              </a:defRPr>
            </a:pPr>
            <a:r>
              <a:t>更纯净的二分类</a:t>
            </a:r>
            <a:br/>
            <a:r>
              <a:t>排除PVD干扰</a:t>
            </a:r>
          </a:p>
        </p:txBody>
      </p:sp>
      <p:sp>
        <p:nvSpPr>
          <p:cNvPr id="16" name="Rectangle 15"/>
          <p:cNvSpPr/>
          <p:nvPr/>
        </p:nvSpPr>
        <p:spPr>
          <a:xfrm>
            <a:off x="4937759" y="1828800"/>
            <a:ext cx="2148840" cy="2286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199" y="1920240"/>
            <a:ext cx="1965960" cy="731520"/>
          </a:xfrm>
          <a:prstGeom prst="rect">
            <a:avLst/>
          </a:prstGeom>
          <a:noFill/>
        </p:spPr>
        <p:txBody>
          <a:bodyPr wrap="square">
            <a:spAutoFit/>
          </a:bodyPr>
          <a:lstStyle/>
          <a:p>
            <a:pPr algn="ctr">
              <a:defRPr sz="1600" b="1">
                <a:solidFill>
                  <a:srgbClr val="FFFFFF"/>
                </a:solidFill>
                <a:latin typeface="Microsoft YaHei"/>
              </a:defRPr>
            </a:pPr>
            <a:r>
              <a:t>正常 vs PVD</a:t>
            </a:r>
            <a:br/>
            <a:r>
              <a:t>(非RD内部)</a:t>
            </a:r>
          </a:p>
        </p:txBody>
      </p:sp>
      <p:sp>
        <p:nvSpPr>
          <p:cNvPr id="18" name="TextBox 17"/>
          <p:cNvSpPr txBox="1"/>
          <p:nvPr/>
        </p:nvSpPr>
        <p:spPr>
          <a:xfrm>
            <a:off x="5029199" y="2743200"/>
            <a:ext cx="1965960" cy="274320"/>
          </a:xfrm>
          <a:prstGeom prst="rect">
            <a:avLst/>
          </a:prstGeom>
          <a:noFill/>
        </p:spPr>
        <p:txBody>
          <a:bodyPr wrap="square">
            <a:spAutoFit/>
          </a:bodyPr>
          <a:lstStyle/>
          <a:p>
            <a:pPr algn="ctr">
              <a:defRPr sz="1300" b="0">
                <a:solidFill>
                  <a:srgbClr val="FFFFFF"/>
                </a:solidFill>
                <a:latin typeface="Microsoft YaHei"/>
              </a:defRPr>
            </a:pPr>
            <a:r>
              <a:t>4,879 样本</a:t>
            </a:r>
          </a:p>
        </p:txBody>
      </p:sp>
      <p:sp>
        <p:nvSpPr>
          <p:cNvPr id="19" name="Rectangle 18"/>
          <p:cNvSpPr/>
          <p:nvPr/>
        </p:nvSpPr>
        <p:spPr>
          <a:xfrm>
            <a:off x="5394959" y="3063240"/>
            <a:ext cx="123444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199" y="3200400"/>
            <a:ext cx="1965960" cy="365760"/>
          </a:xfrm>
          <a:prstGeom prst="rect">
            <a:avLst/>
          </a:prstGeom>
          <a:noFill/>
        </p:spPr>
        <p:txBody>
          <a:bodyPr wrap="square">
            <a:spAutoFit/>
          </a:bodyPr>
          <a:lstStyle/>
          <a:p>
            <a:pPr algn="ctr">
              <a:defRPr sz="1000" b="0">
                <a:solidFill>
                  <a:srgbClr val="EEEEEE"/>
                </a:solidFill>
                <a:latin typeface="Microsoft YaHei"/>
              </a:defRPr>
            </a:pPr>
            <a:r>
              <a:t>非RD亚型鉴别</a:t>
            </a:r>
            <a:br/>
            <a:r>
              <a:t>PVD临床诊断</a:t>
            </a:r>
          </a:p>
        </p:txBody>
      </p:sp>
      <p:sp>
        <p:nvSpPr>
          <p:cNvPr id="21" name="Rectangle 20"/>
          <p:cNvSpPr/>
          <p:nvPr/>
        </p:nvSpPr>
        <p:spPr>
          <a:xfrm>
            <a:off x="7269479" y="1828800"/>
            <a:ext cx="2148840" cy="2286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0919" y="1920240"/>
            <a:ext cx="1965960" cy="731520"/>
          </a:xfrm>
          <a:prstGeom prst="rect">
            <a:avLst/>
          </a:prstGeom>
          <a:noFill/>
        </p:spPr>
        <p:txBody>
          <a:bodyPr wrap="square">
            <a:spAutoFit/>
          </a:bodyPr>
          <a:lstStyle/>
          <a:p>
            <a:pPr algn="ctr">
              <a:defRPr sz="1600" b="1">
                <a:solidFill>
                  <a:srgbClr val="FFFFFF"/>
                </a:solidFill>
                <a:latin typeface="Microsoft YaHei"/>
              </a:defRPr>
            </a:pPr>
            <a:r>
              <a:t>PVD vs RD</a:t>
            </a:r>
            <a:br/>
            <a:r>
              <a:t>(病变对比)</a:t>
            </a:r>
          </a:p>
        </p:txBody>
      </p:sp>
      <p:sp>
        <p:nvSpPr>
          <p:cNvPr id="23" name="TextBox 22"/>
          <p:cNvSpPr txBox="1"/>
          <p:nvPr/>
        </p:nvSpPr>
        <p:spPr>
          <a:xfrm>
            <a:off x="7360919" y="2743200"/>
            <a:ext cx="1965960" cy="274320"/>
          </a:xfrm>
          <a:prstGeom prst="rect">
            <a:avLst/>
          </a:prstGeom>
          <a:noFill/>
        </p:spPr>
        <p:txBody>
          <a:bodyPr wrap="square">
            <a:spAutoFit/>
          </a:bodyPr>
          <a:lstStyle/>
          <a:p>
            <a:pPr algn="ctr">
              <a:defRPr sz="1300" b="0">
                <a:solidFill>
                  <a:srgbClr val="FFFFFF"/>
                </a:solidFill>
                <a:latin typeface="Microsoft YaHei"/>
              </a:defRPr>
            </a:pPr>
            <a:r>
              <a:t>1,148 样本</a:t>
            </a:r>
          </a:p>
        </p:txBody>
      </p:sp>
      <p:sp>
        <p:nvSpPr>
          <p:cNvPr id="24" name="Rectangle 23"/>
          <p:cNvSpPr/>
          <p:nvPr/>
        </p:nvSpPr>
        <p:spPr>
          <a:xfrm>
            <a:off x="7726679" y="3063240"/>
            <a:ext cx="123444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19" y="3200400"/>
            <a:ext cx="1965960" cy="365760"/>
          </a:xfrm>
          <a:prstGeom prst="rect">
            <a:avLst/>
          </a:prstGeom>
          <a:noFill/>
        </p:spPr>
        <p:txBody>
          <a:bodyPr wrap="square">
            <a:spAutoFit/>
          </a:bodyPr>
          <a:lstStyle/>
          <a:p>
            <a:pPr algn="ctr">
              <a:defRPr sz="1000" b="0">
                <a:solidFill>
                  <a:srgbClr val="EEEEEE"/>
                </a:solidFill>
                <a:latin typeface="Microsoft YaHei"/>
              </a:defRPr>
            </a:pPr>
            <a:r>
              <a:t>鉴别两种病变</a:t>
            </a:r>
            <a:br/>
            <a:r>
              <a:t>超声表现相似</a:t>
            </a:r>
          </a:p>
        </p:txBody>
      </p:sp>
      <p:sp>
        <p:nvSpPr>
          <p:cNvPr id="26" name="Rectangle 25"/>
          <p:cNvSpPr/>
          <p:nvPr/>
        </p:nvSpPr>
        <p:spPr>
          <a:xfrm>
            <a:off x="9601200" y="1828800"/>
            <a:ext cx="2148840" cy="2286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0" y="1920240"/>
            <a:ext cx="1965960" cy="731520"/>
          </a:xfrm>
          <a:prstGeom prst="rect">
            <a:avLst/>
          </a:prstGeom>
          <a:noFill/>
        </p:spPr>
        <p:txBody>
          <a:bodyPr wrap="square">
            <a:spAutoFit/>
          </a:bodyPr>
          <a:lstStyle/>
          <a:p>
            <a:pPr algn="ctr">
              <a:defRPr sz="1600" b="1">
                <a:solidFill>
                  <a:srgbClr val="FFFFFF"/>
                </a:solidFill>
                <a:latin typeface="Microsoft YaHei"/>
              </a:defRPr>
            </a:pPr>
            <a:r>
              <a:t>黄斑脱离 vs 完整</a:t>
            </a:r>
            <a:br/>
            <a:r>
              <a:t>(仅RD内部)</a:t>
            </a:r>
          </a:p>
        </p:txBody>
      </p:sp>
      <p:sp>
        <p:nvSpPr>
          <p:cNvPr id="28" name="TextBox 27"/>
          <p:cNvSpPr txBox="1"/>
          <p:nvPr/>
        </p:nvSpPr>
        <p:spPr>
          <a:xfrm>
            <a:off x="9692640" y="2743200"/>
            <a:ext cx="1965960" cy="274320"/>
          </a:xfrm>
          <a:prstGeom prst="rect">
            <a:avLst/>
          </a:prstGeom>
          <a:noFill/>
        </p:spPr>
        <p:txBody>
          <a:bodyPr wrap="square">
            <a:spAutoFit/>
          </a:bodyPr>
          <a:lstStyle/>
          <a:p>
            <a:pPr algn="ctr">
              <a:defRPr sz="1300" b="0">
                <a:solidFill>
                  <a:srgbClr val="FFFFFF"/>
                </a:solidFill>
                <a:latin typeface="Microsoft YaHei"/>
              </a:defRPr>
            </a:pPr>
            <a:r>
              <a:t>502 样本</a:t>
            </a:r>
          </a:p>
        </p:txBody>
      </p:sp>
      <p:sp>
        <p:nvSpPr>
          <p:cNvPr id="29" name="Rectangle 28"/>
          <p:cNvSpPr/>
          <p:nvPr/>
        </p:nvSpPr>
        <p:spPr>
          <a:xfrm>
            <a:off x="10058400" y="3063240"/>
            <a:ext cx="123444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0" y="3200400"/>
            <a:ext cx="1965960" cy="365760"/>
          </a:xfrm>
          <a:prstGeom prst="rect">
            <a:avLst/>
          </a:prstGeom>
          <a:noFill/>
        </p:spPr>
        <p:txBody>
          <a:bodyPr wrap="square">
            <a:spAutoFit/>
          </a:bodyPr>
          <a:lstStyle/>
          <a:p>
            <a:pPr algn="ctr">
              <a:defRPr sz="1000" b="0">
                <a:solidFill>
                  <a:srgbClr val="EEEEEE"/>
                </a:solidFill>
                <a:latin typeface="Microsoft YaHei"/>
              </a:defRPr>
            </a:pPr>
            <a:r>
              <a:t>RD患者手术决策</a:t>
            </a:r>
            <a:br/>
            <a:r>
              <a:t>关键预后判断</a:t>
            </a:r>
          </a:p>
        </p:txBody>
      </p:sp>
      <p:sp>
        <p:nvSpPr>
          <p:cNvPr id="31" name="Rectangle 30"/>
          <p:cNvSpPr/>
          <p:nvPr/>
        </p:nvSpPr>
        <p:spPr>
          <a:xfrm>
            <a:off x="457200" y="4389120"/>
            <a:ext cx="11247120" cy="16459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480560"/>
            <a:ext cx="10698480" cy="274320"/>
          </a:xfrm>
          <a:prstGeom prst="rect">
            <a:avLst/>
          </a:prstGeom>
          <a:noFill/>
        </p:spPr>
        <p:txBody>
          <a:bodyPr wrap="square">
            <a:spAutoFit/>
          </a:bodyPr>
          <a:lstStyle/>
          <a:p>
            <a:pPr algn="l">
              <a:defRPr sz="1800" b="1">
                <a:solidFill>
                  <a:srgbClr val="1B2A4A"/>
                </a:solidFill>
                <a:latin typeface="Microsoft YaHei"/>
              </a:defRPr>
            </a:pPr>
            <a:r>
              <a:t>Top-K 时间池化 (针对 PVD 任务优化)</a:t>
            </a:r>
          </a:p>
        </p:txBody>
      </p:sp>
      <p:sp>
        <p:nvSpPr>
          <p:cNvPr id="33" name="TextBox 32"/>
          <p:cNvSpPr txBox="1"/>
          <p:nvPr/>
        </p:nvSpPr>
        <p:spPr>
          <a:xfrm>
            <a:off x="731520" y="4846320"/>
            <a:ext cx="10698480" cy="1097280"/>
          </a:xfrm>
          <a:prstGeom prst="rect">
            <a:avLst/>
          </a:prstGeom>
          <a:noFill/>
        </p:spPr>
        <p:txBody>
          <a:bodyPr wrap="square">
            <a:spAutoFit/>
          </a:bodyPr>
          <a:lstStyle/>
          <a:p>
            <a:pPr>
              <a:spcAft>
                <a:spcPts val="650"/>
              </a:spcAft>
              <a:defRPr sz="1300" b="1">
                <a:solidFill>
                  <a:srgbClr val="2C3E50"/>
                </a:solidFill>
                <a:latin typeface="Microsoft YaHei"/>
              </a:defRPr>
            </a:pPr>
            <a:r>
              <a:t>• 引入选择性时间池化机制: 计算每帧特征的L2范数，保留前K%最重要的时间区域</a:t>
            </a:r>
          </a:p>
          <a:p>
            <a:pPr>
              <a:spcAft>
                <a:spcPts val="650"/>
              </a:spcAft>
              <a:defRPr sz="1300">
                <a:solidFill>
                  <a:srgbClr val="2C3E50"/>
                </a:solidFill>
                <a:latin typeface="Microsoft YaHei"/>
              </a:defRPr>
            </a:pPr>
            <a:r>
              <a:t>• normal_vs_pvd 任务额外探索 topk_ratio 参数 (30%/50%/70%)，找到最优时间区域选择比例</a:t>
            </a:r>
          </a:p>
          <a:p>
            <a:pPr>
              <a:spcAft>
                <a:spcPts val="650"/>
              </a:spcAft>
              <a:defRPr sz="1300">
                <a:solidFill>
                  <a:srgbClr val="2C3E50"/>
                </a:solidFill>
                <a:latin typeface="Microsoft YaHei"/>
              </a:defRPr>
            </a:pPr>
            <a:r>
              <a:t>• 与传统的全局平均池化(avg pooling)互补，可保留关键帧信息同时过滤噪声</a:t>
            </a:r>
          </a:p>
          <a:p>
            <a:pPr>
              <a:spcAft>
                <a:spcPts val="650"/>
              </a:spcAft>
              <a:defRPr sz="1300">
                <a:solidFill>
                  <a:srgbClr val="2C3E50"/>
                </a:solidFill>
                <a:latin typeface="Microsoft YaHei"/>
              </a:defRPr>
            </a:pPr>
            <a:r>
              <a:t>• 配置方式: 模型配置中设置 pooling=topk 及 topk_ratio 参数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实验结果 — 各任务最佳模型性能</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BENCHMARK RESULTS</a:t>
            </a:r>
          </a:p>
        </p:txBody>
      </p:sp>
      <p:sp>
        <p:nvSpPr>
          <p:cNvPr id="6" name="Rectangle 5"/>
          <p:cNvSpPr/>
          <p:nvPr/>
        </p:nvSpPr>
        <p:spPr>
          <a:xfrm>
            <a:off x="457200" y="1828800"/>
            <a:ext cx="411480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74519"/>
            <a:ext cx="3931920" cy="365760"/>
          </a:xfrm>
          <a:prstGeom prst="rect">
            <a:avLst/>
          </a:prstGeom>
          <a:noFill/>
        </p:spPr>
        <p:txBody>
          <a:bodyPr wrap="square">
            <a:spAutoFit/>
          </a:bodyPr>
          <a:lstStyle/>
          <a:p>
            <a:pPr algn="ctr">
              <a:defRPr sz="1300" b="1">
                <a:solidFill>
                  <a:srgbClr val="FFFFFF"/>
                </a:solidFill>
                <a:latin typeface="Microsoft YaHei"/>
              </a:defRPr>
            </a:pPr>
            <a:r>
              <a:t>任务</a:t>
            </a:r>
          </a:p>
        </p:txBody>
      </p:sp>
      <p:sp>
        <p:nvSpPr>
          <p:cNvPr id="8" name="Rectangle 7"/>
          <p:cNvSpPr/>
          <p:nvPr/>
        </p:nvSpPr>
        <p:spPr>
          <a:xfrm>
            <a:off x="4572000" y="1828800"/>
            <a:ext cx="256032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874519"/>
            <a:ext cx="2377439" cy="365760"/>
          </a:xfrm>
          <a:prstGeom prst="rect">
            <a:avLst/>
          </a:prstGeom>
          <a:noFill/>
        </p:spPr>
        <p:txBody>
          <a:bodyPr wrap="square">
            <a:spAutoFit/>
          </a:bodyPr>
          <a:lstStyle/>
          <a:p>
            <a:pPr algn="ctr">
              <a:defRPr sz="1300" b="1">
                <a:solidFill>
                  <a:srgbClr val="FFFFFF"/>
                </a:solidFill>
                <a:latin typeface="Microsoft YaHei"/>
              </a:defRPr>
            </a:pPr>
            <a:r>
              <a:t>最佳模型</a:t>
            </a:r>
          </a:p>
        </p:txBody>
      </p:sp>
      <p:sp>
        <p:nvSpPr>
          <p:cNvPr id="10" name="Rectangle 9"/>
          <p:cNvSpPr/>
          <p:nvPr/>
        </p:nvSpPr>
        <p:spPr>
          <a:xfrm>
            <a:off x="7132320" y="1828800"/>
            <a:ext cx="128016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59" y="1874519"/>
            <a:ext cx="1097280" cy="365760"/>
          </a:xfrm>
          <a:prstGeom prst="rect">
            <a:avLst/>
          </a:prstGeom>
          <a:noFill/>
        </p:spPr>
        <p:txBody>
          <a:bodyPr wrap="square">
            <a:spAutoFit/>
          </a:bodyPr>
          <a:lstStyle/>
          <a:p>
            <a:pPr algn="ctr">
              <a:defRPr sz="1300" b="1">
                <a:solidFill>
                  <a:srgbClr val="FFFFFF"/>
                </a:solidFill>
                <a:latin typeface="Microsoft YaHei"/>
              </a:defRPr>
            </a:pPr>
            <a:r>
              <a:t>准确率</a:t>
            </a:r>
          </a:p>
        </p:txBody>
      </p:sp>
      <p:sp>
        <p:nvSpPr>
          <p:cNvPr id="12" name="Rectangle 11"/>
          <p:cNvSpPr/>
          <p:nvPr/>
        </p:nvSpPr>
        <p:spPr>
          <a:xfrm>
            <a:off x="8412480" y="1828800"/>
            <a:ext cx="128016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19" y="1874519"/>
            <a:ext cx="1097280" cy="365760"/>
          </a:xfrm>
          <a:prstGeom prst="rect">
            <a:avLst/>
          </a:prstGeom>
          <a:noFill/>
        </p:spPr>
        <p:txBody>
          <a:bodyPr wrap="square">
            <a:spAutoFit/>
          </a:bodyPr>
          <a:lstStyle/>
          <a:p>
            <a:pPr algn="ctr">
              <a:defRPr sz="1300" b="1">
                <a:solidFill>
                  <a:srgbClr val="FFFFFF"/>
                </a:solidFill>
                <a:latin typeface="Microsoft YaHei"/>
              </a:defRPr>
            </a:pPr>
            <a:r>
              <a:t>敏感性</a:t>
            </a:r>
          </a:p>
        </p:txBody>
      </p:sp>
      <p:sp>
        <p:nvSpPr>
          <p:cNvPr id="14" name="Rectangle 13"/>
          <p:cNvSpPr/>
          <p:nvPr/>
        </p:nvSpPr>
        <p:spPr>
          <a:xfrm>
            <a:off x="9692640" y="1828800"/>
            <a:ext cx="128016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0" y="1874519"/>
            <a:ext cx="1097280" cy="365760"/>
          </a:xfrm>
          <a:prstGeom prst="rect">
            <a:avLst/>
          </a:prstGeom>
          <a:noFill/>
        </p:spPr>
        <p:txBody>
          <a:bodyPr wrap="square">
            <a:spAutoFit/>
          </a:bodyPr>
          <a:lstStyle/>
          <a:p>
            <a:pPr algn="ctr">
              <a:defRPr sz="1300" b="1">
                <a:solidFill>
                  <a:srgbClr val="FFFFFF"/>
                </a:solidFill>
                <a:latin typeface="Microsoft YaHei"/>
              </a:defRPr>
            </a:pPr>
            <a:r>
              <a:t>特异性</a:t>
            </a:r>
          </a:p>
        </p:txBody>
      </p:sp>
      <p:sp>
        <p:nvSpPr>
          <p:cNvPr id="16" name="Rectangle 15"/>
          <p:cNvSpPr/>
          <p:nvPr/>
        </p:nvSpPr>
        <p:spPr>
          <a:xfrm>
            <a:off x="10972800" y="1828800"/>
            <a:ext cx="1097280" cy="4572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64240" y="1874519"/>
            <a:ext cx="914400" cy="365760"/>
          </a:xfrm>
          <a:prstGeom prst="rect">
            <a:avLst/>
          </a:prstGeom>
          <a:noFill/>
        </p:spPr>
        <p:txBody>
          <a:bodyPr wrap="square">
            <a:spAutoFit/>
          </a:bodyPr>
          <a:lstStyle/>
          <a:p>
            <a:pPr algn="ctr">
              <a:defRPr sz="1300" b="1">
                <a:solidFill>
                  <a:srgbClr val="FFFFFF"/>
                </a:solidFill>
                <a:latin typeface="Microsoft YaHei"/>
              </a:defRPr>
            </a:pPr>
            <a:r>
              <a:t>F1</a:t>
            </a:r>
          </a:p>
        </p:txBody>
      </p:sp>
      <p:sp>
        <p:nvSpPr>
          <p:cNvPr id="18" name="Rectangle 17"/>
          <p:cNvSpPr/>
          <p:nvPr/>
        </p:nvSpPr>
        <p:spPr>
          <a:xfrm>
            <a:off x="457200" y="2331720"/>
            <a:ext cx="4114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377439"/>
            <a:ext cx="3931920" cy="365760"/>
          </a:xfrm>
          <a:prstGeom prst="rect">
            <a:avLst/>
          </a:prstGeom>
          <a:noFill/>
        </p:spPr>
        <p:txBody>
          <a:bodyPr wrap="square">
            <a:spAutoFit/>
          </a:bodyPr>
          <a:lstStyle/>
          <a:p>
            <a:pPr algn="ctr">
              <a:defRPr sz="1300" b="0">
                <a:solidFill>
                  <a:srgbClr val="2C3E50"/>
                </a:solidFill>
                <a:latin typeface="Microsoft YaHei"/>
              </a:defRPr>
            </a:pPr>
            <a:r>
              <a:t>non_rd_vs_rd</a:t>
            </a:r>
          </a:p>
        </p:txBody>
      </p:sp>
      <p:sp>
        <p:nvSpPr>
          <p:cNvPr id="20" name="Rectangle 19"/>
          <p:cNvSpPr/>
          <p:nvPr/>
        </p:nvSpPr>
        <p:spPr>
          <a:xfrm>
            <a:off x="4572000" y="2331720"/>
            <a:ext cx="25603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2377439"/>
            <a:ext cx="2377439" cy="365760"/>
          </a:xfrm>
          <a:prstGeom prst="rect">
            <a:avLst/>
          </a:prstGeom>
          <a:noFill/>
        </p:spPr>
        <p:txBody>
          <a:bodyPr wrap="square">
            <a:spAutoFit/>
          </a:bodyPr>
          <a:lstStyle/>
          <a:p>
            <a:pPr algn="ctr">
              <a:defRPr sz="1300" b="0">
                <a:solidFill>
                  <a:srgbClr val="2C3E50"/>
                </a:solidFill>
                <a:latin typeface="Microsoft YaHei"/>
              </a:defRPr>
            </a:pPr>
            <a:r>
              <a:t>ResNet3D</a:t>
            </a:r>
          </a:p>
        </p:txBody>
      </p:sp>
      <p:sp>
        <p:nvSpPr>
          <p:cNvPr id="22" name="Rectangle 21"/>
          <p:cNvSpPr/>
          <p:nvPr/>
        </p:nvSpPr>
        <p:spPr>
          <a:xfrm>
            <a:off x="7132320" y="2331720"/>
            <a:ext cx="12801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59" y="2377439"/>
            <a:ext cx="1097280" cy="365760"/>
          </a:xfrm>
          <a:prstGeom prst="rect">
            <a:avLst/>
          </a:prstGeom>
          <a:noFill/>
        </p:spPr>
        <p:txBody>
          <a:bodyPr wrap="square">
            <a:spAutoFit/>
          </a:bodyPr>
          <a:lstStyle/>
          <a:p>
            <a:pPr algn="ctr">
              <a:defRPr sz="1300" b="0">
                <a:solidFill>
                  <a:srgbClr val="2C3E50"/>
                </a:solidFill>
                <a:latin typeface="Microsoft YaHei"/>
              </a:defRPr>
            </a:pPr>
            <a:r>
              <a:t>97.4%</a:t>
            </a:r>
          </a:p>
        </p:txBody>
      </p:sp>
      <p:sp>
        <p:nvSpPr>
          <p:cNvPr id="24" name="Rectangle 23"/>
          <p:cNvSpPr/>
          <p:nvPr/>
        </p:nvSpPr>
        <p:spPr>
          <a:xfrm>
            <a:off x="8412480" y="2331720"/>
            <a:ext cx="12801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19" y="2377439"/>
            <a:ext cx="1097280" cy="365760"/>
          </a:xfrm>
          <a:prstGeom prst="rect">
            <a:avLst/>
          </a:prstGeom>
          <a:noFill/>
        </p:spPr>
        <p:txBody>
          <a:bodyPr wrap="square">
            <a:spAutoFit/>
          </a:bodyPr>
          <a:lstStyle/>
          <a:p>
            <a:pPr algn="ctr">
              <a:defRPr sz="1300" b="0">
                <a:solidFill>
                  <a:srgbClr val="2C3E50"/>
                </a:solidFill>
                <a:latin typeface="Microsoft YaHei"/>
              </a:defRPr>
            </a:pPr>
            <a:r>
              <a:t>93.9%</a:t>
            </a:r>
          </a:p>
        </p:txBody>
      </p:sp>
      <p:sp>
        <p:nvSpPr>
          <p:cNvPr id="26" name="Rectangle 25"/>
          <p:cNvSpPr/>
          <p:nvPr/>
        </p:nvSpPr>
        <p:spPr>
          <a:xfrm>
            <a:off x="9692640" y="2331720"/>
            <a:ext cx="12801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0" y="2377439"/>
            <a:ext cx="1097280" cy="365760"/>
          </a:xfrm>
          <a:prstGeom prst="rect">
            <a:avLst/>
          </a:prstGeom>
          <a:noFill/>
        </p:spPr>
        <p:txBody>
          <a:bodyPr wrap="square">
            <a:spAutoFit/>
          </a:bodyPr>
          <a:lstStyle/>
          <a:p>
            <a:pPr algn="ctr">
              <a:defRPr sz="1300" b="0">
                <a:solidFill>
                  <a:srgbClr val="2C3E50"/>
                </a:solidFill>
                <a:latin typeface="Microsoft YaHei"/>
              </a:defRPr>
            </a:pPr>
            <a:r>
              <a:t>97.8%</a:t>
            </a:r>
          </a:p>
        </p:txBody>
      </p:sp>
      <p:sp>
        <p:nvSpPr>
          <p:cNvPr id="28" name="Rectangle 27"/>
          <p:cNvSpPr/>
          <p:nvPr/>
        </p:nvSpPr>
        <p:spPr>
          <a:xfrm>
            <a:off x="10972800" y="2331720"/>
            <a:ext cx="10972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064240" y="2377439"/>
            <a:ext cx="914400" cy="365760"/>
          </a:xfrm>
          <a:prstGeom prst="rect">
            <a:avLst/>
          </a:prstGeom>
          <a:noFill/>
        </p:spPr>
        <p:txBody>
          <a:bodyPr wrap="square">
            <a:spAutoFit/>
          </a:bodyPr>
          <a:lstStyle/>
          <a:p>
            <a:pPr algn="ctr">
              <a:defRPr sz="1300" b="0">
                <a:solidFill>
                  <a:srgbClr val="2C3E50"/>
                </a:solidFill>
                <a:latin typeface="Microsoft YaHei"/>
              </a:defRPr>
            </a:pPr>
            <a:r>
              <a:t>—</a:t>
            </a:r>
          </a:p>
        </p:txBody>
      </p:sp>
      <p:sp>
        <p:nvSpPr>
          <p:cNvPr id="30" name="Rectangle 29"/>
          <p:cNvSpPr/>
          <p:nvPr/>
        </p:nvSpPr>
        <p:spPr>
          <a:xfrm>
            <a:off x="457200" y="2834640"/>
            <a:ext cx="411480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880360"/>
            <a:ext cx="3931920" cy="365760"/>
          </a:xfrm>
          <a:prstGeom prst="rect">
            <a:avLst/>
          </a:prstGeom>
          <a:noFill/>
        </p:spPr>
        <p:txBody>
          <a:bodyPr wrap="square">
            <a:spAutoFit/>
          </a:bodyPr>
          <a:lstStyle/>
          <a:p>
            <a:pPr algn="ctr">
              <a:defRPr sz="1300" b="0">
                <a:solidFill>
                  <a:srgbClr val="2C3E50"/>
                </a:solidFill>
                <a:latin typeface="Microsoft YaHei"/>
              </a:defRPr>
            </a:pPr>
            <a:r>
              <a:t>normal_vs_rd</a:t>
            </a:r>
          </a:p>
        </p:txBody>
      </p:sp>
      <p:sp>
        <p:nvSpPr>
          <p:cNvPr id="32" name="Rectangle 31"/>
          <p:cNvSpPr/>
          <p:nvPr/>
        </p:nvSpPr>
        <p:spPr>
          <a:xfrm>
            <a:off x="4572000" y="2834640"/>
            <a:ext cx="256032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40" y="2880360"/>
            <a:ext cx="2377439" cy="365760"/>
          </a:xfrm>
          <a:prstGeom prst="rect">
            <a:avLst/>
          </a:prstGeom>
          <a:noFill/>
        </p:spPr>
        <p:txBody>
          <a:bodyPr wrap="square">
            <a:spAutoFit/>
          </a:bodyPr>
          <a:lstStyle/>
          <a:p>
            <a:pPr algn="ctr">
              <a:defRPr sz="1300" b="0">
                <a:solidFill>
                  <a:srgbClr val="2C3E50"/>
                </a:solidFill>
                <a:latin typeface="Microsoft YaHei"/>
              </a:defRPr>
            </a:pPr>
            <a:r>
              <a:t>3D U-Net</a:t>
            </a:r>
          </a:p>
        </p:txBody>
      </p:sp>
      <p:sp>
        <p:nvSpPr>
          <p:cNvPr id="34" name="Rectangle 33"/>
          <p:cNvSpPr/>
          <p:nvPr/>
        </p:nvSpPr>
        <p:spPr>
          <a:xfrm>
            <a:off x="7132320" y="2834640"/>
            <a:ext cx="128016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23759" y="2880360"/>
            <a:ext cx="1097280" cy="365760"/>
          </a:xfrm>
          <a:prstGeom prst="rect">
            <a:avLst/>
          </a:prstGeom>
          <a:noFill/>
        </p:spPr>
        <p:txBody>
          <a:bodyPr wrap="square">
            <a:spAutoFit/>
          </a:bodyPr>
          <a:lstStyle/>
          <a:p>
            <a:pPr algn="ctr">
              <a:defRPr sz="1300" b="0">
                <a:solidFill>
                  <a:srgbClr val="2C3E50"/>
                </a:solidFill>
                <a:latin typeface="Microsoft YaHei"/>
              </a:defRPr>
            </a:pPr>
            <a:r>
              <a:t>99.1%</a:t>
            </a:r>
          </a:p>
        </p:txBody>
      </p:sp>
      <p:sp>
        <p:nvSpPr>
          <p:cNvPr id="36" name="Rectangle 35"/>
          <p:cNvSpPr/>
          <p:nvPr/>
        </p:nvSpPr>
        <p:spPr>
          <a:xfrm>
            <a:off x="8412480" y="2834640"/>
            <a:ext cx="128016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03919" y="2880360"/>
            <a:ext cx="1097280" cy="365760"/>
          </a:xfrm>
          <a:prstGeom prst="rect">
            <a:avLst/>
          </a:prstGeom>
          <a:noFill/>
        </p:spPr>
        <p:txBody>
          <a:bodyPr wrap="square">
            <a:spAutoFit/>
          </a:bodyPr>
          <a:lstStyle/>
          <a:p>
            <a:pPr algn="ctr">
              <a:defRPr sz="1300" b="0">
                <a:solidFill>
                  <a:srgbClr val="2C3E50"/>
                </a:solidFill>
                <a:latin typeface="Microsoft YaHei"/>
              </a:defRPr>
            </a:pPr>
            <a:r>
              <a:t>95.0%</a:t>
            </a:r>
          </a:p>
        </p:txBody>
      </p:sp>
      <p:sp>
        <p:nvSpPr>
          <p:cNvPr id="38" name="Rectangle 37"/>
          <p:cNvSpPr/>
          <p:nvPr/>
        </p:nvSpPr>
        <p:spPr>
          <a:xfrm>
            <a:off x="9692640" y="2834640"/>
            <a:ext cx="128016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84080" y="2880360"/>
            <a:ext cx="1097280" cy="365760"/>
          </a:xfrm>
          <a:prstGeom prst="rect">
            <a:avLst/>
          </a:prstGeom>
          <a:noFill/>
        </p:spPr>
        <p:txBody>
          <a:bodyPr wrap="square">
            <a:spAutoFit/>
          </a:bodyPr>
          <a:lstStyle/>
          <a:p>
            <a:pPr algn="ctr">
              <a:defRPr sz="1300" b="0">
                <a:solidFill>
                  <a:srgbClr val="2C3E50"/>
                </a:solidFill>
                <a:latin typeface="Microsoft YaHei"/>
              </a:defRPr>
            </a:pPr>
            <a:r>
              <a:t>99.6%</a:t>
            </a:r>
          </a:p>
        </p:txBody>
      </p:sp>
      <p:sp>
        <p:nvSpPr>
          <p:cNvPr id="40" name="Rectangle 39"/>
          <p:cNvSpPr/>
          <p:nvPr/>
        </p:nvSpPr>
        <p:spPr>
          <a:xfrm>
            <a:off x="10972800" y="2834640"/>
            <a:ext cx="109728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064240" y="2880360"/>
            <a:ext cx="914400" cy="365760"/>
          </a:xfrm>
          <a:prstGeom prst="rect">
            <a:avLst/>
          </a:prstGeom>
          <a:noFill/>
        </p:spPr>
        <p:txBody>
          <a:bodyPr wrap="square">
            <a:spAutoFit/>
          </a:bodyPr>
          <a:lstStyle/>
          <a:p>
            <a:pPr algn="ctr">
              <a:defRPr sz="1300" b="0">
                <a:solidFill>
                  <a:srgbClr val="2C3E50"/>
                </a:solidFill>
                <a:latin typeface="Microsoft YaHei"/>
              </a:defRPr>
            </a:pPr>
            <a:r>
              <a:t>—</a:t>
            </a:r>
          </a:p>
        </p:txBody>
      </p:sp>
      <p:sp>
        <p:nvSpPr>
          <p:cNvPr id="42" name="Rectangle 41"/>
          <p:cNvSpPr/>
          <p:nvPr/>
        </p:nvSpPr>
        <p:spPr>
          <a:xfrm>
            <a:off x="457200" y="3337560"/>
            <a:ext cx="4114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3383280"/>
            <a:ext cx="3931920" cy="365760"/>
          </a:xfrm>
          <a:prstGeom prst="rect">
            <a:avLst/>
          </a:prstGeom>
          <a:noFill/>
        </p:spPr>
        <p:txBody>
          <a:bodyPr wrap="square">
            <a:spAutoFit/>
          </a:bodyPr>
          <a:lstStyle/>
          <a:p>
            <a:pPr algn="ctr">
              <a:defRPr sz="1300" b="0">
                <a:solidFill>
                  <a:srgbClr val="2C3E50"/>
                </a:solidFill>
                <a:latin typeface="Microsoft YaHei"/>
              </a:defRPr>
            </a:pPr>
            <a:r>
              <a:t>normal_vs_pvd</a:t>
            </a:r>
          </a:p>
        </p:txBody>
      </p:sp>
      <p:sp>
        <p:nvSpPr>
          <p:cNvPr id="44" name="Rectangle 43"/>
          <p:cNvSpPr/>
          <p:nvPr/>
        </p:nvSpPr>
        <p:spPr>
          <a:xfrm>
            <a:off x="4572000" y="3337560"/>
            <a:ext cx="25603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3440" y="3383280"/>
            <a:ext cx="2377439" cy="365760"/>
          </a:xfrm>
          <a:prstGeom prst="rect">
            <a:avLst/>
          </a:prstGeom>
          <a:noFill/>
        </p:spPr>
        <p:txBody>
          <a:bodyPr wrap="square">
            <a:spAutoFit/>
          </a:bodyPr>
          <a:lstStyle/>
          <a:p>
            <a:pPr algn="ctr">
              <a:defRPr sz="1300" b="0">
                <a:solidFill>
                  <a:srgbClr val="2C3E50"/>
                </a:solidFill>
                <a:latin typeface="Microsoft YaHei"/>
              </a:defRPr>
            </a:pPr>
            <a:r>
              <a:t>3D U-Net (topk 30%)</a:t>
            </a:r>
          </a:p>
        </p:txBody>
      </p:sp>
      <p:sp>
        <p:nvSpPr>
          <p:cNvPr id="46" name="Rectangle 45"/>
          <p:cNvSpPr/>
          <p:nvPr/>
        </p:nvSpPr>
        <p:spPr>
          <a:xfrm>
            <a:off x="7132320" y="3337560"/>
            <a:ext cx="12801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59" y="3383280"/>
            <a:ext cx="1097280" cy="365760"/>
          </a:xfrm>
          <a:prstGeom prst="rect">
            <a:avLst/>
          </a:prstGeom>
          <a:noFill/>
        </p:spPr>
        <p:txBody>
          <a:bodyPr wrap="square">
            <a:spAutoFit/>
          </a:bodyPr>
          <a:lstStyle/>
          <a:p>
            <a:pPr algn="ctr">
              <a:defRPr sz="1300" b="0">
                <a:solidFill>
                  <a:srgbClr val="2C3E50"/>
                </a:solidFill>
                <a:latin typeface="Microsoft YaHei"/>
              </a:defRPr>
            </a:pPr>
            <a:r>
              <a:t>95.5%</a:t>
            </a:r>
          </a:p>
        </p:txBody>
      </p:sp>
      <p:sp>
        <p:nvSpPr>
          <p:cNvPr id="48" name="Rectangle 47"/>
          <p:cNvSpPr/>
          <p:nvPr/>
        </p:nvSpPr>
        <p:spPr>
          <a:xfrm>
            <a:off x="8412480" y="3337560"/>
            <a:ext cx="12801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03919" y="3383280"/>
            <a:ext cx="1097280" cy="365760"/>
          </a:xfrm>
          <a:prstGeom prst="rect">
            <a:avLst/>
          </a:prstGeom>
          <a:noFill/>
        </p:spPr>
        <p:txBody>
          <a:bodyPr wrap="square">
            <a:spAutoFit/>
          </a:bodyPr>
          <a:lstStyle/>
          <a:p>
            <a:pPr algn="ctr">
              <a:defRPr sz="1300" b="0">
                <a:solidFill>
                  <a:srgbClr val="2C3E50"/>
                </a:solidFill>
                <a:latin typeface="Microsoft YaHei"/>
              </a:defRPr>
            </a:pPr>
            <a:r>
              <a:t>80.7%</a:t>
            </a:r>
          </a:p>
        </p:txBody>
      </p:sp>
      <p:sp>
        <p:nvSpPr>
          <p:cNvPr id="50" name="Rectangle 49"/>
          <p:cNvSpPr/>
          <p:nvPr/>
        </p:nvSpPr>
        <p:spPr>
          <a:xfrm>
            <a:off x="9692640" y="3337560"/>
            <a:ext cx="12801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84080" y="3383280"/>
            <a:ext cx="1097280" cy="365760"/>
          </a:xfrm>
          <a:prstGeom prst="rect">
            <a:avLst/>
          </a:prstGeom>
          <a:noFill/>
        </p:spPr>
        <p:txBody>
          <a:bodyPr wrap="square">
            <a:spAutoFit/>
          </a:bodyPr>
          <a:lstStyle/>
          <a:p>
            <a:pPr algn="ctr">
              <a:defRPr sz="1300" b="0">
                <a:solidFill>
                  <a:srgbClr val="2C3E50"/>
                </a:solidFill>
                <a:latin typeface="Microsoft YaHei"/>
              </a:defRPr>
            </a:pPr>
            <a:r>
              <a:t>97.7%</a:t>
            </a:r>
          </a:p>
        </p:txBody>
      </p:sp>
      <p:sp>
        <p:nvSpPr>
          <p:cNvPr id="52" name="Rectangle 51"/>
          <p:cNvSpPr/>
          <p:nvPr/>
        </p:nvSpPr>
        <p:spPr>
          <a:xfrm>
            <a:off x="10972800" y="3337560"/>
            <a:ext cx="10972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064240" y="3383280"/>
            <a:ext cx="914400" cy="365760"/>
          </a:xfrm>
          <a:prstGeom prst="rect">
            <a:avLst/>
          </a:prstGeom>
          <a:noFill/>
        </p:spPr>
        <p:txBody>
          <a:bodyPr wrap="square">
            <a:spAutoFit/>
          </a:bodyPr>
          <a:lstStyle/>
          <a:p>
            <a:pPr algn="ctr">
              <a:defRPr sz="1300" b="0">
                <a:solidFill>
                  <a:srgbClr val="2C3E50"/>
                </a:solidFill>
                <a:latin typeface="Microsoft YaHei"/>
              </a:defRPr>
            </a:pPr>
            <a:r>
              <a:t>—</a:t>
            </a:r>
          </a:p>
        </p:txBody>
      </p:sp>
      <p:sp>
        <p:nvSpPr>
          <p:cNvPr id="54" name="Rectangle 53"/>
          <p:cNvSpPr/>
          <p:nvPr/>
        </p:nvSpPr>
        <p:spPr>
          <a:xfrm>
            <a:off x="457200" y="3840480"/>
            <a:ext cx="411480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 y="3886200"/>
            <a:ext cx="3931920" cy="365760"/>
          </a:xfrm>
          <a:prstGeom prst="rect">
            <a:avLst/>
          </a:prstGeom>
          <a:noFill/>
        </p:spPr>
        <p:txBody>
          <a:bodyPr wrap="square">
            <a:spAutoFit/>
          </a:bodyPr>
          <a:lstStyle/>
          <a:p>
            <a:pPr algn="ctr">
              <a:defRPr sz="1300" b="0">
                <a:solidFill>
                  <a:srgbClr val="2C3E50"/>
                </a:solidFill>
                <a:latin typeface="Microsoft YaHei"/>
              </a:defRPr>
            </a:pPr>
            <a:r>
              <a:t>pvd_vs_rd</a:t>
            </a:r>
          </a:p>
        </p:txBody>
      </p:sp>
      <p:sp>
        <p:nvSpPr>
          <p:cNvPr id="56" name="Rectangle 55"/>
          <p:cNvSpPr/>
          <p:nvPr/>
        </p:nvSpPr>
        <p:spPr>
          <a:xfrm>
            <a:off x="4572000" y="3840480"/>
            <a:ext cx="256032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63440" y="3886200"/>
            <a:ext cx="2377439" cy="365760"/>
          </a:xfrm>
          <a:prstGeom prst="rect">
            <a:avLst/>
          </a:prstGeom>
          <a:noFill/>
        </p:spPr>
        <p:txBody>
          <a:bodyPr wrap="square">
            <a:spAutoFit/>
          </a:bodyPr>
          <a:lstStyle/>
          <a:p>
            <a:pPr algn="ctr">
              <a:defRPr sz="1300" b="0">
                <a:solidFill>
                  <a:srgbClr val="2C3E50"/>
                </a:solidFill>
                <a:latin typeface="Microsoft YaHei"/>
              </a:defRPr>
            </a:pPr>
            <a:r>
              <a:t>UNet++</a:t>
            </a:r>
          </a:p>
        </p:txBody>
      </p:sp>
      <p:sp>
        <p:nvSpPr>
          <p:cNvPr id="58" name="Rectangle 57"/>
          <p:cNvSpPr/>
          <p:nvPr/>
        </p:nvSpPr>
        <p:spPr>
          <a:xfrm>
            <a:off x="7132320" y="3840480"/>
            <a:ext cx="128016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23759" y="3886200"/>
            <a:ext cx="1097280" cy="365760"/>
          </a:xfrm>
          <a:prstGeom prst="rect">
            <a:avLst/>
          </a:prstGeom>
          <a:noFill/>
        </p:spPr>
        <p:txBody>
          <a:bodyPr wrap="square">
            <a:spAutoFit/>
          </a:bodyPr>
          <a:lstStyle/>
          <a:p>
            <a:pPr algn="ctr">
              <a:defRPr sz="1300" b="0">
                <a:solidFill>
                  <a:srgbClr val="2C3E50"/>
                </a:solidFill>
                <a:latin typeface="Microsoft YaHei"/>
              </a:defRPr>
            </a:pPr>
            <a:r>
              <a:t>88.7%</a:t>
            </a:r>
          </a:p>
        </p:txBody>
      </p:sp>
      <p:sp>
        <p:nvSpPr>
          <p:cNvPr id="60" name="Rectangle 59"/>
          <p:cNvSpPr/>
          <p:nvPr/>
        </p:nvSpPr>
        <p:spPr>
          <a:xfrm>
            <a:off x="8412480" y="3840480"/>
            <a:ext cx="128016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03919" y="3886200"/>
            <a:ext cx="1097280" cy="365760"/>
          </a:xfrm>
          <a:prstGeom prst="rect">
            <a:avLst/>
          </a:prstGeom>
          <a:noFill/>
        </p:spPr>
        <p:txBody>
          <a:bodyPr wrap="square">
            <a:spAutoFit/>
          </a:bodyPr>
          <a:lstStyle/>
          <a:p>
            <a:pPr algn="ctr">
              <a:defRPr sz="1300" b="0">
                <a:solidFill>
                  <a:srgbClr val="2C3E50"/>
                </a:solidFill>
                <a:latin typeface="Microsoft YaHei"/>
              </a:defRPr>
            </a:pPr>
            <a:r>
              <a:t>92.1%</a:t>
            </a:r>
          </a:p>
        </p:txBody>
      </p:sp>
      <p:sp>
        <p:nvSpPr>
          <p:cNvPr id="62" name="Rectangle 61"/>
          <p:cNvSpPr/>
          <p:nvPr/>
        </p:nvSpPr>
        <p:spPr>
          <a:xfrm>
            <a:off x="9692640" y="3840480"/>
            <a:ext cx="128016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84080" y="3886200"/>
            <a:ext cx="1097280" cy="365760"/>
          </a:xfrm>
          <a:prstGeom prst="rect">
            <a:avLst/>
          </a:prstGeom>
          <a:noFill/>
        </p:spPr>
        <p:txBody>
          <a:bodyPr wrap="square">
            <a:spAutoFit/>
          </a:bodyPr>
          <a:lstStyle/>
          <a:p>
            <a:pPr algn="ctr">
              <a:defRPr sz="1300" b="0">
                <a:solidFill>
                  <a:srgbClr val="2C3E50"/>
                </a:solidFill>
                <a:latin typeface="Microsoft YaHei"/>
              </a:defRPr>
            </a:pPr>
            <a:r>
              <a:t>86.0%</a:t>
            </a:r>
          </a:p>
        </p:txBody>
      </p:sp>
      <p:sp>
        <p:nvSpPr>
          <p:cNvPr id="64" name="Rectangle 63"/>
          <p:cNvSpPr/>
          <p:nvPr/>
        </p:nvSpPr>
        <p:spPr>
          <a:xfrm>
            <a:off x="10972800" y="3840480"/>
            <a:ext cx="1097280" cy="4572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064240" y="3886200"/>
            <a:ext cx="914400" cy="365760"/>
          </a:xfrm>
          <a:prstGeom prst="rect">
            <a:avLst/>
          </a:prstGeom>
          <a:noFill/>
        </p:spPr>
        <p:txBody>
          <a:bodyPr wrap="square">
            <a:spAutoFit/>
          </a:bodyPr>
          <a:lstStyle/>
          <a:p>
            <a:pPr algn="ctr">
              <a:defRPr sz="1300" b="0">
                <a:solidFill>
                  <a:srgbClr val="2C3E50"/>
                </a:solidFill>
                <a:latin typeface="Microsoft YaHei"/>
              </a:defRPr>
            </a:pPr>
            <a:r>
              <a:t>—</a:t>
            </a:r>
          </a:p>
        </p:txBody>
      </p:sp>
      <p:sp>
        <p:nvSpPr>
          <p:cNvPr id="66" name="Rectangle 65"/>
          <p:cNvSpPr/>
          <p:nvPr/>
        </p:nvSpPr>
        <p:spPr>
          <a:xfrm>
            <a:off x="457200" y="4343400"/>
            <a:ext cx="4114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48640" y="4389120"/>
            <a:ext cx="3931920" cy="365760"/>
          </a:xfrm>
          <a:prstGeom prst="rect">
            <a:avLst/>
          </a:prstGeom>
          <a:noFill/>
        </p:spPr>
        <p:txBody>
          <a:bodyPr wrap="square">
            <a:spAutoFit/>
          </a:bodyPr>
          <a:lstStyle/>
          <a:p>
            <a:pPr algn="ctr">
              <a:defRPr sz="1300" b="0">
                <a:solidFill>
                  <a:srgbClr val="2C3E50"/>
                </a:solidFill>
                <a:latin typeface="Microsoft YaHei"/>
              </a:defRPr>
            </a:pPr>
            <a:r>
              <a:t>macula_detached_vs_intact</a:t>
            </a:r>
          </a:p>
        </p:txBody>
      </p:sp>
      <p:sp>
        <p:nvSpPr>
          <p:cNvPr id="68" name="Rectangle 67"/>
          <p:cNvSpPr/>
          <p:nvPr/>
        </p:nvSpPr>
        <p:spPr>
          <a:xfrm>
            <a:off x="4572000" y="4343400"/>
            <a:ext cx="25603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663440" y="4389120"/>
            <a:ext cx="2377439" cy="365760"/>
          </a:xfrm>
          <a:prstGeom prst="rect">
            <a:avLst/>
          </a:prstGeom>
          <a:noFill/>
        </p:spPr>
        <p:txBody>
          <a:bodyPr wrap="square">
            <a:spAutoFit/>
          </a:bodyPr>
          <a:lstStyle/>
          <a:p>
            <a:pPr algn="ctr">
              <a:defRPr sz="1300" b="0">
                <a:solidFill>
                  <a:srgbClr val="2C3E50"/>
                </a:solidFill>
                <a:latin typeface="Microsoft YaHei"/>
              </a:defRPr>
            </a:pPr>
            <a:r>
              <a:t>3D U-Net</a:t>
            </a:r>
          </a:p>
        </p:txBody>
      </p:sp>
      <p:sp>
        <p:nvSpPr>
          <p:cNvPr id="70" name="Rectangle 69"/>
          <p:cNvSpPr/>
          <p:nvPr/>
        </p:nvSpPr>
        <p:spPr>
          <a:xfrm>
            <a:off x="7132320" y="4343400"/>
            <a:ext cx="12801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23759" y="4389120"/>
            <a:ext cx="1097280" cy="365760"/>
          </a:xfrm>
          <a:prstGeom prst="rect">
            <a:avLst/>
          </a:prstGeom>
          <a:noFill/>
        </p:spPr>
        <p:txBody>
          <a:bodyPr wrap="square">
            <a:spAutoFit/>
          </a:bodyPr>
          <a:lstStyle/>
          <a:p>
            <a:pPr algn="ctr">
              <a:defRPr sz="1300" b="0">
                <a:solidFill>
                  <a:srgbClr val="2C3E50"/>
                </a:solidFill>
                <a:latin typeface="Microsoft YaHei"/>
              </a:defRPr>
            </a:pPr>
            <a:r>
              <a:t>88.2%</a:t>
            </a:r>
          </a:p>
        </p:txBody>
      </p:sp>
      <p:sp>
        <p:nvSpPr>
          <p:cNvPr id="72" name="Rectangle 71"/>
          <p:cNvSpPr/>
          <p:nvPr/>
        </p:nvSpPr>
        <p:spPr>
          <a:xfrm>
            <a:off x="8412480" y="4343400"/>
            <a:ext cx="12801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503919" y="4389120"/>
            <a:ext cx="1097280" cy="365760"/>
          </a:xfrm>
          <a:prstGeom prst="rect">
            <a:avLst/>
          </a:prstGeom>
          <a:noFill/>
        </p:spPr>
        <p:txBody>
          <a:bodyPr wrap="square">
            <a:spAutoFit/>
          </a:bodyPr>
          <a:lstStyle/>
          <a:p>
            <a:pPr algn="ctr">
              <a:defRPr sz="1300" b="0">
                <a:solidFill>
                  <a:srgbClr val="2C3E50"/>
                </a:solidFill>
                <a:latin typeface="Microsoft YaHei"/>
              </a:defRPr>
            </a:pPr>
            <a:r>
              <a:t>89.9%</a:t>
            </a:r>
          </a:p>
        </p:txBody>
      </p:sp>
      <p:sp>
        <p:nvSpPr>
          <p:cNvPr id="74" name="Rectangle 73"/>
          <p:cNvSpPr/>
          <p:nvPr/>
        </p:nvSpPr>
        <p:spPr>
          <a:xfrm>
            <a:off x="9692640" y="4343400"/>
            <a:ext cx="12801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784080" y="4389120"/>
            <a:ext cx="1097280" cy="365760"/>
          </a:xfrm>
          <a:prstGeom prst="rect">
            <a:avLst/>
          </a:prstGeom>
          <a:noFill/>
        </p:spPr>
        <p:txBody>
          <a:bodyPr wrap="square">
            <a:spAutoFit/>
          </a:bodyPr>
          <a:lstStyle/>
          <a:p>
            <a:pPr algn="ctr">
              <a:defRPr sz="1300" b="0">
                <a:solidFill>
                  <a:srgbClr val="2C3E50"/>
                </a:solidFill>
                <a:latin typeface="Microsoft YaHei"/>
              </a:defRPr>
            </a:pPr>
            <a:r>
              <a:t>87.0%</a:t>
            </a:r>
          </a:p>
        </p:txBody>
      </p:sp>
      <p:sp>
        <p:nvSpPr>
          <p:cNvPr id="76" name="Rectangle 75"/>
          <p:cNvSpPr/>
          <p:nvPr/>
        </p:nvSpPr>
        <p:spPr>
          <a:xfrm>
            <a:off x="10972800" y="4343400"/>
            <a:ext cx="10972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064240" y="4389120"/>
            <a:ext cx="914400" cy="365760"/>
          </a:xfrm>
          <a:prstGeom prst="rect">
            <a:avLst/>
          </a:prstGeom>
          <a:noFill/>
        </p:spPr>
        <p:txBody>
          <a:bodyPr wrap="square">
            <a:spAutoFit/>
          </a:bodyPr>
          <a:lstStyle/>
          <a:p>
            <a:pPr algn="ctr">
              <a:defRPr sz="1300" b="0">
                <a:solidFill>
                  <a:srgbClr val="2C3E50"/>
                </a:solidFill>
                <a:latin typeface="Microsoft YaHei"/>
              </a:defRPr>
            </a:pPr>
            <a:r>
              <a:t>—</a:t>
            </a:r>
          </a:p>
        </p:txBody>
      </p:sp>
      <p:sp>
        <p:nvSpPr>
          <p:cNvPr id="78" name="Rectangle 77"/>
          <p:cNvSpPr/>
          <p:nvPr/>
        </p:nvSpPr>
        <p:spPr>
          <a:xfrm>
            <a:off x="457200" y="4663440"/>
            <a:ext cx="11247120" cy="182880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31520" y="4754880"/>
            <a:ext cx="10698480" cy="274320"/>
          </a:xfrm>
          <a:prstGeom prst="rect">
            <a:avLst/>
          </a:prstGeom>
          <a:noFill/>
        </p:spPr>
        <p:txBody>
          <a:bodyPr wrap="square">
            <a:spAutoFit/>
          </a:bodyPr>
          <a:lstStyle/>
          <a:p>
            <a:pPr algn="l">
              <a:defRPr sz="1800" b="1">
                <a:solidFill>
                  <a:srgbClr val="1B2A4A"/>
                </a:solidFill>
                <a:latin typeface="Microsoft YaHei"/>
              </a:defRPr>
            </a:pPr>
            <a:r>
              <a:t>结果分析</a:t>
            </a:r>
          </a:p>
        </p:txBody>
      </p:sp>
      <p:sp>
        <p:nvSpPr>
          <p:cNvPr id="80" name="TextBox 79"/>
          <p:cNvSpPr txBox="1"/>
          <p:nvPr/>
        </p:nvSpPr>
        <p:spPr>
          <a:xfrm>
            <a:off x="731520" y="5120640"/>
            <a:ext cx="5029200" cy="1280160"/>
          </a:xfrm>
          <a:prstGeom prst="rect">
            <a:avLst/>
          </a:prstGeom>
          <a:noFill/>
        </p:spPr>
        <p:txBody>
          <a:bodyPr wrap="square">
            <a:spAutoFit/>
          </a:bodyPr>
          <a:lstStyle/>
          <a:p>
            <a:pPr>
              <a:spcAft>
                <a:spcPts val="600"/>
              </a:spcAft>
              <a:defRPr sz="1200" b="1">
                <a:solidFill>
                  <a:srgbClr val="2C3E50"/>
                </a:solidFill>
                <a:latin typeface="Microsoft YaHei"/>
              </a:defRPr>
            </a:pPr>
            <a:r>
              <a:t>• RD检测(non_rd_vs_rd): ResNet3D表现最佳(97.4%)</a:t>
            </a:r>
          </a:p>
          <a:p>
            <a:pPr>
              <a:spcAft>
                <a:spcPts val="600"/>
              </a:spcAft>
              <a:defRPr sz="1200">
                <a:solidFill>
                  <a:srgbClr val="2C3E50"/>
                </a:solidFill>
                <a:latin typeface="Microsoft YaHei"/>
              </a:defRPr>
            </a:pPr>
            <a:r>
              <a:t>  → 数据量大(5K+)使得CNN能够充分学习</a:t>
            </a:r>
          </a:p>
          <a:p>
            <a:pPr>
              <a:spcAft>
                <a:spcPts val="600"/>
              </a:spcAft>
              <a:defRPr sz="1200">
                <a:solidFill>
                  <a:srgbClr val="2C3E50"/>
                </a:solidFill>
                <a:latin typeface="Microsoft YaHei"/>
              </a:defRPr>
            </a:pPr>
            <a:r>
              <a:t>• 正常vs PVD: U-Net+TopK池化优于标准方案</a:t>
            </a:r>
          </a:p>
          <a:p>
            <a:pPr>
              <a:spcAft>
                <a:spcPts val="600"/>
              </a:spcAft>
              <a:defRPr sz="1200">
                <a:solidFill>
                  <a:srgbClr val="2C3E50"/>
                </a:solidFill>
                <a:latin typeface="Microsoft YaHei"/>
              </a:defRPr>
            </a:pPr>
            <a:r>
              <a:t>  → 选择性时间池化有效捕捉PVD的细微特征</a:t>
            </a:r>
          </a:p>
          <a:p>
            <a:pPr>
              <a:spcAft>
                <a:spcPts val="600"/>
              </a:spcAft>
              <a:defRPr sz="1200">
                <a:solidFill>
                  <a:srgbClr val="2C3E50"/>
                </a:solidFill>
                <a:latin typeface="Microsoft YaHei"/>
              </a:defRPr>
            </a:pPr>
            <a:r>
              <a:t>• PVD vs RD: 最难任务(88.7%),二者超声表现相似</a:t>
            </a:r>
          </a:p>
        </p:txBody>
      </p:sp>
      <p:sp>
        <p:nvSpPr>
          <p:cNvPr id="81" name="TextBox 80"/>
          <p:cNvSpPr txBox="1"/>
          <p:nvPr/>
        </p:nvSpPr>
        <p:spPr>
          <a:xfrm>
            <a:off x="6400800" y="5120640"/>
            <a:ext cx="5029200" cy="1280160"/>
          </a:xfrm>
          <a:prstGeom prst="rect">
            <a:avLst/>
          </a:prstGeom>
          <a:noFill/>
        </p:spPr>
        <p:txBody>
          <a:bodyPr wrap="square">
            <a:spAutoFit/>
          </a:bodyPr>
          <a:lstStyle/>
          <a:p>
            <a:pPr>
              <a:spcAft>
                <a:spcPts val="600"/>
              </a:spcAft>
              <a:defRPr sz="1200" b="1">
                <a:solidFill>
                  <a:srgbClr val="2C3E50"/>
                </a:solidFill>
                <a:latin typeface="Microsoft YaHei"/>
              </a:defRPr>
            </a:pPr>
            <a:r>
              <a:t>• 黄斑分类: U-Net最佳(88.2%),样本量有限(502)</a:t>
            </a:r>
          </a:p>
          <a:p>
            <a:pPr>
              <a:spcAft>
                <a:spcPts val="600"/>
              </a:spcAft>
              <a:defRPr sz="1200">
                <a:solidFill>
                  <a:srgbClr val="2C3E50"/>
                </a:solidFill>
                <a:latin typeface="Microsoft YaHei"/>
              </a:defRPr>
            </a:pPr>
            <a:r>
              <a:t>  → 数据增强和迁移学习的潜在空间大</a:t>
            </a:r>
          </a:p>
          <a:p>
            <a:pPr>
              <a:spcAft>
                <a:spcPts val="600"/>
              </a:spcAft>
              <a:defRPr sz="1200">
                <a:solidFill>
                  <a:srgbClr val="2C3E50"/>
                </a:solidFill>
                <a:latin typeface="Microsoft YaHei"/>
              </a:defRPr>
            </a:pPr>
            <a:r>
              <a:t>• 3D U-Net在3个任务上表现最佳,展现通用性</a:t>
            </a:r>
          </a:p>
          <a:p>
            <a:pPr>
              <a:spcAft>
                <a:spcPts val="600"/>
              </a:spcAft>
              <a:defRPr sz="1200">
                <a:solidFill>
                  <a:srgbClr val="2C3E50"/>
                </a:solidFill>
                <a:latin typeface="Microsoft YaHei"/>
              </a:defRPr>
            </a:pPr>
            <a:r>
              <a:t>• UNet++在小样本任务(PVD vs RD)中表现突出</a:t>
            </a:r>
          </a:p>
          <a:p>
            <a:pPr>
              <a:spcAft>
                <a:spcPts val="600"/>
              </a:spcAft>
              <a:defRPr sz="1200">
                <a:solidFill>
                  <a:srgbClr val="2C3E50"/>
                </a:solidFill>
                <a:latin typeface="Microsoft YaHei"/>
              </a:defRPr>
            </a:pPr>
            <a:r>
              <a:t>• Transformer模型在数据量充足时具有竞争力</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模型设计与技术创新</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MODEL DESIGN &amp; INNOVATIONS</a:t>
            </a:r>
          </a:p>
        </p:txBody>
      </p:sp>
      <p:sp>
        <p:nvSpPr>
          <p:cNvPr id="6" name="Rectangle 5"/>
          <p:cNvSpPr/>
          <p:nvPr/>
        </p:nvSpPr>
        <p:spPr>
          <a:xfrm>
            <a:off x="457200" y="1645920"/>
            <a:ext cx="2697480" cy="34747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37360"/>
            <a:ext cx="2423160" cy="365760"/>
          </a:xfrm>
          <a:prstGeom prst="rect">
            <a:avLst/>
          </a:prstGeom>
          <a:noFill/>
        </p:spPr>
        <p:txBody>
          <a:bodyPr wrap="square">
            <a:spAutoFit/>
          </a:bodyPr>
          <a:lstStyle/>
          <a:p>
            <a:pPr algn="l">
              <a:defRPr sz="1800" b="1">
                <a:solidFill>
                  <a:srgbClr val="2E86C1"/>
                </a:solidFill>
                <a:latin typeface="Microsoft YaHei"/>
              </a:defRPr>
            </a:pPr>
            <a:r>
              <a:t>3D视频分析</a:t>
            </a:r>
          </a:p>
        </p:txBody>
      </p:sp>
      <p:sp>
        <p:nvSpPr>
          <p:cNvPr id="8" name="Rectangle 7"/>
          <p:cNvSpPr/>
          <p:nvPr/>
        </p:nvSpPr>
        <p:spPr>
          <a:xfrm>
            <a:off x="594360" y="2103120"/>
            <a:ext cx="13716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86000"/>
            <a:ext cx="2423160" cy="2743200"/>
          </a:xfrm>
          <a:prstGeom prst="rect">
            <a:avLst/>
          </a:prstGeom>
          <a:noFill/>
        </p:spPr>
        <p:txBody>
          <a:bodyPr wrap="square">
            <a:spAutoFit/>
          </a:bodyPr>
          <a:lstStyle/>
          <a:p>
            <a:pPr>
              <a:spcAft>
                <a:spcPts val="960"/>
              </a:spcAft>
              <a:defRPr sz="1200">
                <a:solidFill>
                  <a:srgbClr val="2C3E50"/>
                </a:solidFill>
                <a:latin typeface="Microsoft YaHei"/>
              </a:defRPr>
            </a:pPr>
            <a:r>
              <a:t>利用完整视频序列而非单帧图像</a:t>
            </a:r>
          </a:p>
          <a:p>
            <a:pPr>
              <a:spcAft>
                <a:spcPts val="960"/>
              </a:spcAft>
              <a:defRPr sz="1200">
                <a:solidFill>
                  <a:srgbClr val="2C3E50"/>
                </a:solidFill>
                <a:latin typeface="Microsoft YaHei"/>
              </a:defRPr>
            </a:pPr>
            <a:r>
              <a:t>同时捕获空间特征(视网膜结构)和时序特征(动态变化)</a:t>
            </a:r>
          </a:p>
          <a:p>
            <a:pPr>
              <a:spcAft>
                <a:spcPts val="960"/>
              </a:spcAft>
              <a:defRPr sz="1200">
                <a:solidFill>
                  <a:srgbClr val="2C3E50"/>
                </a:solidFill>
                <a:latin typeface="Microsoft YaHei"/>
              </a:defRPr>
            </a:pPr>
            <a:r>
              <a:t>输入尺寸 96×128×128 覆盖关键时空信息</a:t>
            </a:r>
          </a:p>
        </p:txBody>
      </p:sp>
      <p:sp>
        <p:nvSpPr>
          <p:cNvPr id="10" name="Rectangle 9"/>
          <p:cNvSpPr/>
          <p:nvPr/>
        </p:nvSpPr>
        <p:spPr>
          <a:xfrm>
            <a:off x="3337560" y="1645920"/>
            <a:ext cx="2697480" cy="34747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1737360"/>
            <a:ext cx="2423160" cy="365760"/>
          </a:xfrm>
          <a:prstGeom prst="rect">
            <a:avLst/>
          </a:prstGeom>
          <a:noFill/>
        </p:spPr>
        <p:txBody>
          <a:bodyPr wrap="square">
            <a:spAutoFit/>
          </a:bodyPr>
          <a:lstStyle/>
          <a:p>
            <a:pPr algn="l">
              <a:defRPr sz="1800" b="1">
                <a:solidFill>
                  <a:srgbClr val="2E86C1"/>
                </a:solidFill>
                <a:latin typeface="Microsoft YaHei"/>
              </a:defRPr>
            </a:pPr>
            <a:r>
              <a:t>编码器-分类器解耦</a:t>
            </a:r>
          </a:p>
        </p:txBody>
      </p:sp>
      <p:sp>
        <p:nvSpPr>
          <p:cNvPr id="12" name="Rectangle 11"/>
          <p:cNvSpPr/>
          <p:nvPr/>
        </p:nvSpPr>
        <p:spPr>
          <a:xfrm>
            <a:off x="3474720" y="2103120"/>
            <a:ext cx="13716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2286000"/>
            <a:ext cx="2423160" cy="2743200"/>
          </a:xfrm>
          <a:prstGeom prst="rect">
            <a:avLst/>
          </a:prstGeom>
          <a:noFill/>
        </p:spPr>
        <p:txBody>
          <a:bodyPr wrap="square">
            <a:spAutoFit/>
          </a:bodyPr>
          <a:lstStyle/>
          <a:p>
            <a:pPr>
              <a:spcAft>
                <a:spcPts val="960"/>
              </a:spcAft>
              <a:defRPr sz="1200">
                <a:solidFill>
                  <a:srgbClr val="2C3E50"/>
                </a:solidFill>
                <a:latin typeface="Microsoft YaHei"/>
              </a:defRPr>
            </a:pPr>
            <a:r>
              <a:t>编码器: 提取3D特征图 (B,C,D,H,W)</a:t>
            </a:r>
          </a:p>
          <a:p>
            <a:pPr>
              <a:spcAft>
                <a:spcPts val="960"/>
              </a:spcAft>
              <a:defRPr sz="1200">
                <a:solidFill>
                  <a:srgbClr val="2C3E50"/>
                </a:solidFill>
                <a:latin typeface="Microsoft YaHei"/>
              </a:defRPr>
            </a:pPr>
            <a:r>
              <a:t>分类头: AdaptiveAvgPool3D 或 TopK Pooling</a:t>
            </a:r>
          </a:p>
          <a:p>
            <a:pPr>
              <a:spcAft>
                <a:spcPts val="960"/>
              </a:spcAft>
              <a:defRPr sz="1200">
                <a:solidFill>
                  <a:srgbClr val="2C3E50"/>
                </a:solidFill>
                <a:latin typeface="Microsoft YaHei"/>
              </a:defRPr>
            </a:pPr>
            <a:r>
              <a:t>灵活组合不同编码器与池化策略</a:t>
            </a:r>
          </a:p>
        </p:txBody>
      </p:sp>
      <p:sp>
        <p:nvSpPr>
          <p:cNvPr id="14" name="Rectangle 13"/>
          <p:cNvSpPr/>
          <p:nvPr/>
        </p:nvSpPr>
        <p:spPr>
          <a:xfrm>
            <a:off x="6217920" y="1645920"/>
            <a:ext cx="2697480" cy="34747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737360"/>
            <a:ext cx="2423160" cy="365760"/>
          </a:xfrm>
          <a:prstGeom prst="rect">
            <a:avLst/>
          </a:prstGeom>
          <a:noFill/>
        </p:spPr>
        <p:txBody>
          <a:bodyPr wrap="square">
            <a:spAutoFit/>
          </a:bodyPr>
          <a:lstStyle/>
          <a:p>
            <a:pPr algn="l">
              <a:defRPr sz="1800" b="1">
                <a:solidFill>
                  <a:srgbClr val="2E86C1"/>
                </a:solidFill>
                <a:latin typeface="Microsoft YaHei"/>
              </a:defRPr>
            </a:pPr>
            <a:r>
              <a:t>选择性时间池化</a:t>
            </a:r>
          </a:p>
        </p:txBody>
      </p:sp>
      <p:sp>
        <p:nvSpPr>
          <p:cNvPr id="16" name="Rectangle 15"/>
          <p:cNvSpPr/>
          <p:nvPr/>
        </p:nvSpPr>
        <p:spPr>
          <a:xfrm>
            <a:off x="6355080" y="2103120"/>
            <a:ext cx="13716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286000"/>
            <a:ext cx="2423160" cy="2743200"/>
          </a:xfrm>
          <a:prstGeom prst="rect">
            <a:avLst/>
          </a:prstGeom>
          <a:noFill/>
        </p:spPr>
        <p:txBody>
          <a:bodyPr wrap="square">
            <a:spAutoFit/>
          </a:bodyPr>
          <a:lstStyle/>
          <a:p>
            <a:pPr>
              <a:spcAft>
                <a:spcPts val="960"/>
              </a:spcAft>
              <a:defRPr sz="1200">
                <a:solidFill>
                  <a:srgbClr val="2C3E50"/>
                </a:solidFill>
                <a:latin typeface="Microsoft YaHei"/>
              </a:defRPr>
            </a:pPr>
            <a:r>
              <a:t>TopK Pooling: 按L2范数选择最重要时间帧</a:t>
            </a:r>
          </a:p>
          <a:p>
            <a:pPr>
              <a:spcAft>
                <a:spcPts val="960"/>
              </a:spcAft>
              <a:defRPr sz="1200">
                <a:solidFill>
                  <a:srgbClr val="2C3E50"/>
                </a:solidFill>
                <a:latin typeface="Microsoft YaHei"/>
              </a:defRPr>
            </a:pPr>
            <a:r>
              <a:t>自适应K值: k = ceil(D × topk_ratio)</a:t>
            </a:r>
          </a:p>
          <a:p>
            <a:pPr>
              <a:spcAft>
                <a:spcPts val="960"/>
              </a:spcAft>
              <a:defRPr sz="1200">
                <a:solidFill>
                  <a:srgbClr val="2C3E50"/>
                </a:solidFill>
                <a:latin typeface="Microsoft YaHei"/>
              </a:defRPr>
            </a:pPr>
            <a:r>
              <a:t>特别适合PVD等需要关注特定帧的任务</a:t>
            </a:r>
          </a:p>
        </p:txBody>
      </p:sp>
      <p:sp>
        <p:nvSpPr>
          <p:cNvPr id="18" name="Rectangle 17"/>
          <p:cNvSpPr/>
          <p:nvPr/>
        </p:nvSpPr>
        <p:spPr>
          <a:xfrm>
            <a:off x="9098280" y="1645920"/>
            <a:ext cx="2697480" cy="3474720"/>
          </a:xfrm>
          <a:prstGeom prst="rect">
            <a:avLst/>
          </a:prstGeom>
          <a:solidFill>
            <a:srgbClr val="F2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1737360"/>
            <a:ext cx="2423160" cy="365760"/>
          </a:xfrm>
          <a:prstGeom prst="rect">
            <a:avLst/>
          </a:prstGeom>
          <a:noFill/>
        </p:spPr>
        <p:txBody>
          <a:bodyPr wrap="square">
            <a:spAutoFit/>
          </a:bodyPr>
          <a:lstStyle/>
          <a:p>
            <a:pPr algn="l">
              <a:defRPr sz="1800" b="1">
                <a:solidFill>
                  <a:srgbClr val="2E86C1"/>
                </a:solidFill>
                <a:latin typeface="Microsoft YaHei"/>
              </a:defRPr>
            </a:pPr>
            <a:r>
              <a:t>多架构统一框架</a:t>
            </a:r>
          </a:p>
        </p:txBody>
      </p:sp>
      <p:sp>
        <p:nvSpPr>
          <p:cNvPr id="20" name="Rectangle 19"/>
          <p:cNvSpPr/>
          <p:nvPr/>
        </p:nvSpPr>
        <p:spPr>
          <a:xfrm>
            <a:off x="9235440" y="2103120"/>
            <a:ext cx="13716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2286000"/>
            <a:ext cx="2423160" cy="2743200"/>
          </a:xfrm>
          <a:prstGeom prst="rect">
            <a:avLst/>
          </a:prstGeom>
          <a:noFill/>
        </p:spPr>
        <p:txBody>
          <a:bodyPr wrap="square">
            <a:spAutoFit/>
          </a:bodyPr>
          <a:lstStyle/>
          <a:p>
            <a:pPr>
              <a:spcAft>
                <a:spcPts val="960"/>
              </a:spcAft>
              <a:defRPr sz="1200">
                <a:solidFill>
                  <a:srgbClr val="2C3E50"/>
                </a:solidFill>
                <a:latin typeface="Microsoft YaHei"/>
              </a:defRPr>
            </a:pPr>
            <a:r>
              <a:t>Factory模式 + Hydra配置驱动</a:t>
            </a:r>
          </a:p>
          <a:p>
            <a:pPr>
              <a:spcAft>
                <a:spcPts val="960"/>
              </a:spcAft>
              <a:defRPr sz="1200">
                <a:solidFill>
                  <a:srgbClr val="2C3E50"/>
                </a:solidFill>
                <a:latin typeface="Microsoft YaHei"/>
              </a:defRPr>
            </a:pPr>
            <a:r>
              <a:t>一行命令切换模型: model=resnet3d|vnet|vit|...</a:t>
            </a:r>
          </a:p>
          <a:p>
            <a:pPr>
              <a:spcAft>
                <a:spcPts val="960"/>
              </a:spcAft>
              <a:defRPr sz="1200">
                <a:solidFill>
                  <a:srgbClr val="2C3E50"/>
                </a:solidFill>
                <a:latin typeface="Microsoft YaHei"/>
              </a:defRPr>
            </a:pPr>
            <a:r>
              <a:t>统一的训练/评估/推理接口</a:t>
            </a:r>
          </a:p>
        </p:txBody>
      </p:sp>
      <p:sp>
        <p:nvSpPr>
          <p:cNvPr id="22" name="Rectangle 21"/>
          <p:cNvSpPr/>
          <p:nvPr/>
        </p:nvSpPr>
        <p:spPr>
          <a:xfrm>
            <a:off x="457200" y="5394960"/>
            <a:ext cx="11247120" cy="1097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486400"/>
            <a:ext cx="10698480" cy="274320"/>
          </a:xfrm>
          <a:prstGeom prst="rect">
            <a:avLst/>
          </a:prstGeom>
          <a:noFill/>
        </p:spPr>
        <p:txBody>
          <a:bodyPr wrap="square">
            <a:spAutoFit/>
          </a:bodyPr>
          <a:lstStyle/>
          <a:p>
            <a:pPr algn="l">
              <a:defRPr sz="1600" b="1">
                <a:solidFill>
                  <a:srgbClr val="FFFFFF"/>
                </a:solidFill>
                <a:latin typeface="Microsoft YaHei"/>
              </a:defRPr>
            </a:pPr>
            <a:r>
              <a:t>代码架构: Hydra + PyTorch Lightning</a:t>
            </a:r>
          </a:p>
        </p:txBody>
      </p:sp>
      <p:sp>
        <p:nvSpPr>
          <p:cNvPr id="24" name="TextBox 23"/>
          <p:cNvSpPr txBox="1"/>
          <p:nvPr/>
        </p:nvSpPr>
        <p:spPr>
          <a:xfrm>
            <a:off x="731520" y="5806440"/>
            <a:ext cx="10698480" cy="548640"/>
          </a:xfrm>
          <a:prstGeom prst="rect">
            <a:avLst/>
          </a:prstGeom>
          <a:noFill/>
        </p:spPr>
        <p:txBody>
          <a:bodyPr wrap="square">
            <a:spAutoFit/>
          </a:bodyPr>
          <a:lstStyle/>
          <a:p>
            <a:pPr algn="l">
              <a:defRPr sz="1200" b="0">
                <a:solidFill>
                  <a:srgbClr val="BBBBBB"/>
                </a:solidFill>
                <a:latin typeface="Microsoft YaHei"/>
              </a:defRPr>
            </a:pPr>
            <a:r>
              <a:t>配置层(Hydra) → 数据模块(ERDESDataModule) → 模型模块(ModelModule+BCEWithLogitsLoss) → Trainer(Lightning) → 日志(TensorBoard)</a:t>
            </a:r>
            <a:br/>
            <a:r>
              <a:t>一行启动训练: python erdes/train.py experiment=non_rd_vs_rd/unetplusplus trainer=gpu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创新贡献与展望</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CONTRIBUTIONS &amp; FUTURE WORK</a:t>
            </a:r>
          </a:p>
        </p:txBody>
      </p:sp>
      <p:sp>
        <p:nvSpPr>
          <p:cNvPr id="6" name="TextBox 5"/>
          <p:cNvSpPr txBox="1"/>
          <p:nvPr/>
        </p:nvSpPr>
        <p:spPr>
          <a:xfrm>
            <a:off x="731520" y="1645920"/>
            <a:ext cx="5029200" cy="365760"/>
          </a:xfrm>
          <a:prstGeom prst="rect">
            <a:avLst/>
          </a:prstGeom>
          <a:noFill/>
        </p:spPr>
        <p:txBody>
          <a:bodyPr wrap="square">
            <a:spAutoFit/>
          </a:bodyPr>
          <a:lstStyle/>
          <a:p>
            <a:pPr algn="l">
              <a:defRPr sz="2000" b="1">
                <a:solidFill>
                  <a:srgbClr val="1B2A4A"/>
                </a:solidFill>
                <a:latin typeface="Microsoft YaHei"/>
              </a:defRPr>
            </a:pPr>
            <a:r>
              <a:t>主要贡献</a:t>
            </a:r>
          </a:p>
        </p:txBody>
      </p:sp>
      <p:sp>
        <p:nvSpPr>
          <p:cNvPr id="7" name="TextBox 6"/>
          <p:cNvSpPr txBox="1"/>
          <p:nvPr/>
        </p:nvSpPr>
        <p:spPr>
          <a:xfrm>
            <a:off x="731520" y="2011680"/>
            <a:ext cx="5029200" cy="3657600"/>
          </a:xfrm>
          <a:prstGeom prst="rect">
            <a:avLst/>
          </a:prstGeom>
          <a:noFill/>
        </p:spPr>
        <p:txBody>
          <a:bodyPr wrap="square">
            <a:spAutoFit/>
          </a:bodyPr>
          <a:lstStyle/>
          <a:p>
            <a:pPr>
              <a:spcAft>
                <a:spcPts val="390"/>
              </a:spcAft>
              <a:defRPr sz="1300">
                <a:solidFill>
                  <a:srgbClr val="2C3E50"/>
                </a:solidFill>
                <a:latin typeface="Microsoft YaHei"/>
              </a:defRPr>
            </a:pPr>
            <a:r>
              <a:t>1. 首个眼部超声视频开放基准数据集</a:t>
            </a:r>
          </a:p>
          <a:p>
            <a:pPr>
              <a:spcAft>
                <a:spcPts val="390"/>
              </a:spcAft>
              <a:defRPr sz="1300">
                <a:solidFill>
                  <a:srgbClr val="2C3E50"/>
                </a:solidFill>
                <a:latin typeface="Microsoft YaHei"/>
              </a:defRPr>
            </a:pPr>
            <a:r>
              <a:t>   5,381个视频片段，多种病理类型，标准化划分</a:t>
            </a:r>
          </a:p>
          <a:p>
            <a:pPr>
              <a:spcAft>
                <a:spcPts val="390"/>
              </a:spcAft>
              <a:defRPr sz="1300">
                <a:solidFill>
                  <a:srgbClr val="2C3E50"/>
                </a:solidFill>
                <a:latin typeface="Microsoft YaHei"/>
              </a:defRPr>
            </a:pPr>
          </a:p>
          <a:p>
            <a:pPr>
              <a:spcAft>
                <a:spcPts val="390"/>
              </a:spcAft>
              <a:defRPr sz="1300">
                <a:solidFill>
                  <a:srgbClr val="2C3E50"/>
                </a:solidFill>
                <a:latin typeface="Microsoft YaHei"/>
              </a:defRPr>
            </a:pPr>
            <a:r>
              <a:t>2. 全面的3D深度学习基准评估</a:t>
            </a:r>
          </a:p>
          <a:p>
            <a:pPr>
              <a:spcAft>
                <a:spcPts val="390"/>
              </a:spcAft>
              <a:defRPr sz="1300">
                <a:solidFill>
                  <a:srgbClr val="2C3E50"/>
                </a:solidFill>
                <a:latin typeface="Microsoft YaHei"/>
              </a:defRPr>
            </a:pPr>
            <a:r>
              <a:t>   8种架构 × 5个任务 = 全面性能基准</a:t>
            </a:r>
          </a:p>
          <a:p>
            <a:pPr>
              <a:spcAft>
                <a:spcPts val="390"/>
              </a:spcAft>
              <a:defRPr sz="1300">
                <a:solidFill>
                  <a:srgbClr val="2C3E50"/>
                </a:solidFill>
                <a:latin typeface="Microsoft YaHei"/>
              </a:defRPr>
            </a:pPr>
          </a:p>
          <a:p>
            <a:pPr>
              <a:spcAft>
                <a:spcPts val="390"/>
              </a:spcAft>
              <a:defRPr sz="1300">
                <a:solidFill>
                  <a:srgbClr val="2C3E50"/>
                </a:solidFill>
                <a:latin typeface="Microsoft YaHei"/>
              </a:defRPr>
            </a:pPr>
            <a:r>
              <a:t>3. 贴近临床的两阶段诊断流程</a:t>
            </a:r>
          </a:p>
          <a:p>
            <a:pPr>
              <a:spcAft>
                <a:spcPts val="390"/>
              </a:spcAft>
              <a:defRPr sz="1300">
                <a:solidFill>
                  <a:srgbClr val="2C3E50"/>
                </a:solidFill>
                <a:latin typeface="Microsoft YaHei"/>
              </a:defRPr>
            </a:pPr>
            <a:r>
              <a:t>   RD筛查 → 黄斑评估，模拟真实诊疗路径</a:t>
            </a:r>
          </a:p>
          <a:p>
            <a:pPr>
              <a:spcAft>
                <a:spcPts val="390"/>
              </a:spcAft>
              <a:defRPr sz="1300">
                <a:solidFill>
                  <a:srgbClr val="2C3E50"/>
                </a:solidFill>
                <a:latin typeface="Microsoft YaHei"/>
              </a:defRPr>
            </a:pPr>
          </a:p>
          <a:p>
            <a:pPr>
              <a:spcAft>
                <a:spcPts val="390"/>
              </a:spcAft>
              <a:defRPr sz="1300">
                <a:solidFill>
                  <a:srgbClr val="2C3E50"/>
                </a:solidFill>
                <a:latin typeface="Microsoft YaHei"/>
              </a:defRPr>
            </a:pPr>
            <a:r>
              <a:t>4. 完整的开源工具链</a:t>
            </a:r>
          </a:p>
          <a:p>
            <a:pPr>
              <a:spcAft>
                <a:spcPts val="390"/>
              </a:spcAft>
              <a:defRPr sz="1300">
                <a:solidFill>
                  <a:srgbClr val="2C3E50"/>
                </a:solidFill>
                <a:latin typeface="Microsoft YaHei"/>
              </a:defRPr>
            </a:pPr>
            <a:r>
              <a:t>   数据集 + 预训练权重 + 训练/推理代码</a:t>
            </a:r>
          </a:p>
        </p:txBody>
      </p:sp>
      <p:sp>
        <p:nvSpPr>
          <p:cNvPr id="8" name="TextBox 7"/>
          <p:cNvSpPr txBox="1"/>
          <p:nvPr/>
        </p:nvSpPr>
        <p:spPr>
          <a:xfrm>
            <a:off x="6400800" y="1645920"/>
            <a:ext cx="5029200" cy="365760"/>
          </a:xfrm>
          <a:prstGeom prst="rect">
            <a:avLst/>
          </a:prstGeom>
          <a:noFill/>
        </p:spPr>
        <p:txBody>
          <a:bodyPr wrap="square">
            <a:spAutoFit/>
          </a:bodyPr>
          <a:lstStyle/>
          <a:p>
            <a:pPr algn="l">
              <a:defRPr sz="2000" b="1">
                <a:solidFill>
                  <a:srgbClr val="1B2A4A"/>
                </a:solidFill>
                <a:latin typeface="Microsoft YaHei"/>
              </a:defRPr>
            </a:pPr>
            <a:r>
              <a:t>未来方向</a:t>
            </a:r>
          </a:p>
        </p:txBody>
      </p:sp>
      <p:sp>
        <p:nvSpPr>
          <p:cNvPr id="9" name="TextBox 8"/>
          <p:cNvSpPr txBox="1"/>
          <p:nvPr/>
        </p:nvSpPr>
        <p:spPr>
          <a:xfrm>
            <a:off x="6400800" y="2011680"/>
            <a:ext cx="5029200" cy="3657600"/>
          </a:xfrm>
          <a:prstGeom prst="rect">
            <a:avLst/>
          </a:prstGeom>
          <a:noFill/>
        </p:spPr>
        <p:txBody>
          <a:bodyPr wrap="square">
            <a:spAutoFit/>
          </a:bodyPr>
          <a:lstStyle/>
          <a:p>
            <a:pPr>
              <a:spcAft>
                <a:spcPts val="390"/>
              </a:spcAft>
              <a:defRPr sz="1300">
                <a:solidFill>
                  <a:srgbClr val="2C3E50"/>
                </a:solidFill>
                <a:latin typeface="Microsoft YaHei"/>
              </a:defRPr>
            </a:pPr>
            <a:r>
              <a:t>1. 多中心数据验证</a:t>
            </a:r>
          </a:p>
          <a:p>
            <a:pPr>
              <a:spcAft>
                <a:spcPts val="390"/>
              </a:spcAft>
              <a:defRPr sz="1300">
                <a:solidFill>
                  <a:srgbClr val="2C3E50"/>
                </a:solidFill>
                <a:latin typeface="Microsoft YaHei"/>
              </a:defRPr>
            </a:pPr>
            <a:r>
              <a:t>   扩展数据集覆盖不同设备、人群、扫查角度</a:t>
            </a:r>
          </a:p>
          <a:p>
            <a:pPr>
              <a:spcAft>
                <a:spcPts val="390"/>
              </a:spcAft>
              <a:defRPr sz="1300">
                <a:solidFill>
                  <a:srgbClr val="2C3E50"/>
                </a:solidFill>
                <a:latin typeface="Microsoft YaHei"/>
              </a:defRPr>
            </a:pPr>
          </a:p>
          <a:p>
            <a:pPr>
              <a:spcAft>
                <a:spcPts val="390"/>
              </a:spcAft>
              <a:defRPr sz="1300">
                <a:solidFill>
                  <a:srgbClr val="2C3E50"/>
                </a:solidFill>
                <a:latin typeface="Microsoft YaHei"/>
              </a:defRPr>
            </a:pPr>
            <a:r>
              <a:t>2. 多任务联合学习</a:t>
            </a:r>
          </a:p>
          <a:p>
            <a:pPr>
              <a:spcAft>
                <a:spcPts val="390"/>
              </a:spcAft>
              <a:defRPr sz="1300">
                <a:solidFill>
                  <a:srgbClr val="2C3E50"/>
                </a:solidFill>
                <a:latin typeface="Microsoft YaHei"/>
              </a:defRPr>
            </a:pPr>
            <a:r>
              <a:t>   同时预测RD、PVD、黄斑状态等多标签输出</a:t>
            </a:r>
          </a:p>
          <a:p>
            <a:pPr>
              <a:spcAft>
                <a:spcPts val="390"/>
              </a:spcAft>
              <a:defRPr sz="1300">
                <a:solidFill>
                  <a:srgbClr val="2C3E50"/>
                </a:solidFill>
                <a:latin typeface="Microsoft YaHei"/>
              </a:defRPr>
            </a:pPr>
          </a:p>
          <a:p>
            <a:pPr>
              <a:spcAft>
                <a:spcPts val="390"/>
              </a:spcAft>
              <a:defRPr sz="1300">
                <a:solidFill>
                  <a:srgbClr val="2C3E50"/>
                </a:solidFill>
                <a:latin typeface="Microsoft YaHei"/>
              </a:defRPr>
            </a:pPr>
            <a:r>
              <a:t>3. 可解释性增强</a:t>
            </a:r>
          </a:p>
          <a:p>
            <a:pPr>
              <a:spcAft>
                <a:spcPts val="390"/>
              </a:spcAft>
              <a:defRPr sz="1300">
                <a:solidFill>
                  <a:srgbClr val="2C3E50"/>
                </a:solidFill>
                <a:latin typeface="Microsoft YaHei"/>
              </a:defRPr>
            </a:pPr>
            <a:r>
              <a:t>   引入注意力可视化，定位关键帧和关键区域</a:t>
            </a:r>
          </a:p>
          <a:p>
            <a:pPr>
              <a:spcAft>
                <a:spcPts val="390"/>
              </a:spcAft>
              <a:defRPr sz="1300">
                <a:solidFill>
                  <a:srgbClr val="2C3E50"/>
                </a:solidFill>
                <a:latin typeface="Microsoft YaHei"/>
              </a:defRPr>
            </a:pPr>
          </a:p>
          <a:p>
            <a:pPr>
              <a:spcAft>
                <a:spcPts val="390"/>
              </a:spcAft>
              <a:defRPr sz="1300">
                <a:solidFill>
                  <a:srgbClr val="2C3E50"/>
                </a:solidFill>
                <a:latin typeface="Microsoft YaHei"/>
              </a:defRPr>
            </a:pPr>
            <a:r>
              <a:t>4. 临床部署与前瞻性验证</a:t>
            </a:r>
          </a:p>
          <a:p>
            <a:pPr>
              <a:spcAft>
                <a:spcPts val="390"/>
              </a:spcAft>
              <a:defRPr sz="1300">
                <a:solidFill>
                  <a:srgbClr val="2C3E50"/>
                </a:solidFill>
                <a:latin typeface="Microsoft YaHei"/>
              </a:defRPr>
            </a:pPr>
            <a:r>
              <a:t>   模型轻量化 + 实时推理 + 前瞻性临床试验</a:t>
            </a:r>
          </a:p>
          <a:p>
            <a:pPr>
              <a:spcAft>
                <a:spcPts val="390"/>
              </a:spcAft>
              <a:defRPr sz="1300">
                <a:solidFill>
                  <a:srgbClr val="2C3E50"/>
                </a:solidFill>
                <a:latin typeface="Microsoft YaHei"/>
              </a:defRPr>
            </a:pPr>
          </a:p>
          <a:p>
            <a:pPr>
              <a:spcAft>
                <a:spcPts val="390"/>
              </a:spcAft>
              <a:defRPr sz="1300">
                <a:solidFill>
                  <a:srgbClr val="2C3E50"/>
                </a:solidFill>
                <a:latin typeface="Microsoft YaHei"/>
              </a:defRPr>
            </a:pPr>
            <a:r>
              <a:t>5. 自监督预训练</a:t>
            </a:r>
          </a:p>
          <a:p>
            <a:pPr>
              <a:spcAft>
                <a:spcPts val="390"/>
              </a:spcAft>
              <a:defRPr sz="1300">
                <a:solidFill>
                  <a:srgbClr val="2C3E50"/>
                </a:solidFill>
                <a:latin typeface="Microsoft YaHei"/>
              </a:defRPr>
            </a:pPr>
            <a:r>
              <a:t>   利用大量无标签超声视频进行预训练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1097280"/>
            <a:ext cx="10332720" cy="731520"/>
          </a:xfrm>
          <a:prstGeom prst="rect">
            <a:avLst/>
          </a:prstGeom>
          <a:noFill/>
        </p:spPr>
        <p:txBody>
          <a:bodyPr wrap="square">
            <a:spAutoFit/>
          </a:bodyPr>
          <a:lstStyle/>
          <a:p>
            <a:pPr algn="ctr">
              <a:defRPr sz="3600" b="1">
                <a:solidFill>
                  <a:srgbClr val="FFFFFF"/>
                </a:solidFill>
                <a:latin typeface="Microsoft YaHei"/>
              </a:defRPr>
            </a:pPr>
            <a:r>
              <a:t>总结  SUMMARY</a:t>
            </a:r>
          </a:p>
        </p:txBody>
      </p:sp>
      <p:sp>
        <p:nvSpPr>
          <p:cNvPr id="3" name="Rectangle 2"/>
          <p:cNvSpPr/>
          <p:nvPr/>
        </p:nvSpPr>
        <p:spPr>
          <a:xfrm>
            <a:off x="4572000" y="1828800"/>
            <a:ext cx="301752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2286000"/>
            <a:ext cx="9418320" cy="548640"/>
          </a:xfrm>
          <a:prstGeom prst="rect">
            <a:avLst/>
          </a:prstGeom>
          <a:solidFill>
            <a:srgbClr val="24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2331720"/>
            <a:ext cx="365760" cy="365760"/>
          </a:xfrm>
          <a:prstGeom prst="rect">
            <a:avLst/>
          </a:prstGeom>
          <a:noFill/>
        </p:spPr>
        <p:txBody>
          <a:bodyPr wrap="square">
            <a:spAutoFit/>
          </a:bodyPr>
          <a:lstStyle/>
          <a:p>
            <a:pPr algn="l">
              <a:defRPr sz="2200" b="1">
                <a:solidFill>
                  <a:srgbClr val="17A589"/>
                </a:solidFill>
                <a:latin typeface="Microsoft YaHei"/>
              </a:defRPr>
            </a:pPr>
            <a:r>
              <a:t>01</a:t>
            </a:r>
          </a:p>
        </p:txBody>
      </p:sp>
      <p:sp>
        <p:nvSpPr>
          <p:cNvPr id="6" name="TextBox 5"/>
          <p:cNvSpPr txBox="1"/>
          <p:nvPr/>
        </p:nvSpPr>
        <p:spPr>
          <a:xfrm>
            <a:off x="2103120" y="2377440"/>
            <a:ext cx="8503920" cy="365760"/>
          </a:xfrm>
          <a:prstGeom prst="rect">
            <a:avLst/>
          </a:prstGeom>
          <a:noFill/>
        </p:spPr>
        <p:txBody>
          <a:bodyPr wrap="square">
            <a:spAutoFit/>
          </a:bodyPr>
          <a:lstStyle/>
          <a:p>
            <a:pPr algn="l">
              <a:defRPr sz="1400" b="0">
                <a:solidFill>
                  <a:srgbClr val="DDDDDD"/>
                </a:solidFill>
                <a:latin typeface="Microsoft YaHei"/>
              </a:defRPr>
            </a:pPr>
            <a:r>
              <a:t>基于眼部超声视频的3D深度学习，实现视网膜脱离(RD)的自动检测和黄斑状态评估</a:t>
            </a:r>
          </a:p>
        </p:txBody>
      </p:sp>
      <p:sp>
        <p:nvSpPr>
          <p:cNvPr id="7" name="Rectangle 6"/>
          <p:cNvSpPr/>
          <p:nvPr/>
        </p:nvSpPr>
        <p:spPr>
          <a:xfrm>
            <a:off x="1371600" y="3017520"/>
            <a:ext cx="9418320" cy="548640"/>
          </a:xfrm>
          <a:prstGeom prst="rect">
            <a:avLst/>
          </a:prstGeom>
          <a:solidFill>
            <a:srgbClr val="24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3063239"/>
            <a:ext cx="365760" cy="365760"/>
          </a:xfrm>
          <a:prstGeom prst="rect">
            <a:avLst/>
          </a:prstGeom>
          <a:noFill/>
        </p:spPr>
        <p:txBody>
          <a:bodyPr wrap="square">
            <a:spAutoFit/>
          </a:bodyPr>
          <a:lstStyle/>
          <a:p>
            <a:pPr algn="l">
              <a:defRPr sz="2200" b="1">
                <a:solidFill>
                  <a:srgbClr val="17A589"/>
                </a:solidFill>
                <a:latin typeface="Microsoft YaHei"/>
              </a:defRPr>
            </a:pPr>
            <a:r>
              <a:t>02</a:t>
            </a:r>
          </a:p>
        </p:txBody>
      </p:sp>
      <p:sp>
        <p:nvSpPr>
          <p:cNvPr id="9" name="TextBox 8"/>
          <p:cNvSpPr txBox="1"/>
          <p:nvPr/>
        </p:nvSpPr>
        <p:spPr>
          <a:xfrm>
            <a:off x="2103120" y="3108960"/>
            <a:ext cx="8503920" cy="365760"/>
          </a:xfrm>
          <a:prstGeom prst="rect">
            <a:avLst/>
          </a:prstGeom>
          <a:noFill/>
        </p:spPr>
        <p:txBody>
          <a:bodyPr wrap="square">
            <a:spAutoFit/>
          </a:bodyPr>
          <a:lstStyle/>
          <a:p>
            <a:pPr algn="l">
              <a:defRPr sz="1400" b="0">
                <a:solidFill>
                  <a:srgbClr val="DDDDDD"/>
                </a:solidFill>
                <a:latin typeface="Microsoft YaHei"/>
              </a:defRPr>
            </a:pPr>
            <a:r>
              <a:t>ERDES: 首个开放基准数据集 (5,381个视频片段)，覆盖多种病理类型</a:t>
            </a:r>
          </a:p>
        </p:txBody>
      </p:sp>
      <p:sp>
        <p:nvSpPr>
          <p:cNvPr id="10" name="Rectangle 9"/>
          <p:cNvSpPr/>
          <p:nvPr/>
        </p:nvSpPr>
        <p:spPr>
          <a:xfrm>
            <a:off x="1371600" y="3749039"/>
            <a:ext cx="9418320" cy="548640"/>
          </a:xfrm>
          <a:prstGeom prst="rect">
            <a:avLst/>
          </a:prstGeom>
          <a:solidFill>
            <a:srgbClr val="24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3794759"/>
            <a:ext cx="365760" cy="365760"/>
          </a:xfrm>
          <a:prstGeom prst="rect">
            <a:avLst/>
          </a:prstGeom>
          <a:noFill/>
        </p:spPr>
        <p:txBody>
          <a:bodyPr wrap="square">
            <a:spAutoFit/>
          </a:bodyPr>
          <a:lstStyle/>
          <a:p>
            <a:pPr algn="l">
              <a:defRPr sz="2200" b="1">
                <a:solidFill>
                  <a:srgbClr val="17A589"/>
                </a:solidFill>
                <a:latin typeface="Microsoft YaHei"/>
              </a:defRPr>
            </a:pPr>
            <a:r>
              <a:t>03</a:t>
            </a:r>
          </a:p>
        </p:txBody>
      </p:sp>
      <p:sp>
        <p:nvSpPr>
          <p:cNvPr id="12" name="TextBox 11"/>
          <p:cNvSpPr txBox="1"/>
          <p:nvPr/>
        </p:nvSpPr>
        <p:spPr>
          <a:xfrm>
            <a:off x="2103120" y="3840479"/>
            <a:ext cx="8503920" cy="365760"/>
          </a:xfrm>
          <a:prstGeom prst="rect">
            <a:avLst/>
          </a:prstGeom>
          <a:noFill/>
        </p:spPr>
        <p:txBody>
          <a:bodyPr wrap="square">
            <a:spAutoFit/>
          </a:bodyPr>
          <a:lstStyle/>
          <a:p>
            <a:pPr algn="l">
              <a:defRPr sz="1400" b="0">
                <a:solidFill>
                  <a:srgbClr val="DDDDDD"/>
                </a:solidFill>
                <a:latin typeface="Microsoft YaHei"/>
              </a:defRPr>
            </a:pPr>
            <a:r>
              <a:t>两阶段级联诊断流程：RD筛查(97.4%准确率) → 黄斑分类(88.2%准确率)</a:t>
            </a:r>
          </a:p>
        </p:txBody>
      </p:sp>
      <p:sp>
        <p:nvSpPr>
          <p:cNvPr id="13" name="Rectangle 12"/>
          <p:cNvSpPr/>
          <p:nvPr/>
        </p:nvSpPr>
        <p:spPr>
          <a:xfrm>
            <a:off x="1371600" y="4480560"/>
            <a:ext cx="9418320" cy="548640"/>
          </a:xfrm>
          <a:prstGeom prst="rect">
            <a:avLst/>
          </a:prstGeom>
          <a:solidFill>
            <a:srgbClr val="24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4526280"/>
            <a:ext cx="365760" cy="365760"/>
          </a:xfrm>
          <a:prstGeom prst="rect">
            <a:avLst/>
          </a:prstGeom>
          <a:noFill/>
        </p:spPr>
        <p:txBody>
          <a:bodyPr wrap="square">
            <a:spAutoFit/>
          </a:bodyPr>
          <a:lstStyle/>
          <a:p>
            <a:pPr algn="l">
              <a:defRPr sz="2200" b="1">
                <a:solidFill>
                  <a:srgbClr val="17A589"/>
                </a:solidFill>
                <a:latin typeface="Microsoft YaHei"/>
              </a:defRPr>
            </a:pPr>
            <a:r>
              <a:t>04</a:t>
            </a:r>
          </a:p>
        </p:txBody>
      </p:sp>
      <p:sp>
        <p:nvSpPr>
          <p:cNvPr id="15" name="TextBox 14"/>
          <p:cNvSpPr txBox="1"/>
          <p:nvPr/>
        </p:nvSpPr>
        <p:spPr>
          <a:xfrm>
            <a:off x="2103120" y="4572000"/>
            <a:ext cx="8503920" cy="365760"/>
          </a:xfrm>
          <a:prstGeom prst="rect">
            <a:avLst/>
          </a:prstGeom>
          <a:noFill/>
        </p:spPr>
        <p:txBody>
          <a:bodyPr wrap="square">
            <a:spAutoFit/>
          </a:bodyPr>
          <a:lstStyle/>
          <a:p>
            <a:pPr algn="l">
              <a:defRPr sz="1400" b="0">
                <a:solidFill>
                  <a:srgbClr val="DDDDDD"/>
                </a:solidFill>
                <a:latin typeface="Microsoft YaHei"/>
              </a:defRPr>
            </a:pPr>
            <a:r>
              <a:t>8种3D架构系统评估，3D U-Net在多个任务上表现最佳</a:t>
            </a:r>
          </a:p>
        </p:txBody>
      </p:sp>
      <p:sp>
        <p:nvSpPr>
          <p:cNvPr id="16" name="Rectangle 15"/>
          <p:cNvSpPr/>
          <p:nvPr/>
        </p:nvSpPr>
        <p:spPr>
          <a:xfrm>
            <a:off x="1371600" y="5212080"/>
            <a:ext cx="9418320" cy="548640"/>
          </a:xfrm>
          <a:prstGeom prst="rect">
            <a:avLst/>
          </a:prstGeom>
          <a:solidFill>
            <a:srgbClr val="24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54480" y="5257800"/>
            <a:ext cx="365760" cy="365760"/>
          </a:xfrm>
          <a:prstGeom prst="rect">
            <a:avLst/>
          </a:prstGeom>
          <a:noFill/>
        </p:spPr>
        <p:txBody>
          <a:bodyPr wrap="square">
            <a:spAutoFit/>
          </a:bodyPr>
          <a:lstStyle/>
          <a:p>
            <a:pPr algn="l">
              <a:defRPr sz="2200" b="1">
                <a:solidFill>
                  <a:srgbClr val="17A589"/>
                </a:solidFill>
                <a:latin typeface="Microsoft YaHei"/>
              </a:defRPr>
            </a:pPr>
            <a:r>
              <a:t>05</a:t>
            </a:r>
          </a:p>
        </p:txBody>
      </p:sp>
      <p:sp>
        <p:nvSpPr>
          <p:cNvPr id="18" name="TextBox 17"/>
          <p:cNvSpPr txBox="1"/>
          <p:nvPr/>
        </p:nvSpPr>
        <p:spPr>
          <a:xfrm>
            <a:off x="2103120" y="5303520"/>
            <a:ext cx="8503920" cy="365760"/>
          </a:xfrm>
          <a:prstGeom prst="rect">
            <a:avLst/>
          </a:prstGeom>
          <a:noFill/>
        </p:spPr>
        <p:txBody>
          <a:bodyPr wrap="square">
            <a:spAutoFit/>
          </a:bodyPr>
          <a:lstStyle/>
          <a:p>
            <a:pPr algn="l">
              <a:defRPr sz="1400" b="0">
                <a:solidFill>
                  <a:srgbClr val="DDDDDD"/>
                </a:solidFill>
                <a:latin typeface="Microsoft YaHei"/>
              </a:defRPr>
            </a:pPr>
            <a:r>
              <a:t>Top-K选择性时间池化有效提升PVD相关任务的分类性能</a:t>
            </a:r>
          </a:p>
        </p:txBody>
      </p:sp>
      <p:sp>
        <p:nvSpPr>
          <p:cNvPr id="19" name="Rectangle 18"/>
          <p:cNvSpPr/>
          <p:nvPr/>
        </p:nvSpPr>
        <p:spPr>
          <a:xfrm>
            <a:off x="1371600" y="5943600"/>
            <a:ext cx="9418320" cy="548640"/>
          </a:xfrm>
          <a:prstGeom prst="rect">
            <a:avLst/>
          </a:prstGeom>
          <a:solidFill>
            <a:srgbClr val="243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54480" y="5989320"/>
            <a:ext cx="365760" cy="365760"/>
          </a:xfrm>
          <a:prstGeom prst="rect">
            <a:avLst/>
          </a:prstGeom>
          <a:noFill/>
        </p:spPr>
        <p:txBody>
          <a:bodyPr wrap="square">
            <a:spAutoFit/>
          </a:bodyPr>
          <a:lstStyle/>
          <a:p>
            <a:pPr algn="l">
              <a:defRPr sz="2200" b="1">
                <a:solidFill>
                  <a:srgbClr val="17A589"/>
                </a:solidFill>
                <a:latin typeface="Microsoft YaHei"/>
              </a:defRPr>
            </a:pPr>
            <a:r>
              <a:t>06</a:t>
            </a:r>
          </a:p>
        </p:txBody>
      </p:sp>
      <p:sp>
        <p:nvSpPr>
          <p:cNvPr id="21" name="TextBox 20"/>
          <p:cNvSpPr txBox="1"/>
          <p:nvPr/>
        </p:nvSpPr>
        <p:spPr>
          <a:xfrm>
            <a:off x="2103120" y="6035040"/>
            <a:ext cx="8503920" cy="365760"/>
          </a:xfrm>
          <a:prstGeom prst="rect">
            <a:avLst/>
          </a:prstGeom>
          <a:noFill/>
        </p:spPr>
        <p:txBody>
          <a:bodyPr wrap="square">
            <a:spAutoFit/>
          </a:bodyPr>
          <a:lstStyle/>
          <a:p>
            <a:pPr algn="l">
              <a:defRPr sz="1400" b="0">
                <a:solidFill>
                  <a:srgbClr val="DDDDDD"/>
                </a:solidFill>
                <a:latin typeface="Microsoft YaHei"/>
              </a:defRPr>
            </a:pPr>
            <a:r>
              <a:t>完整开源：数据集、预训练权重、训练/推理代码均公开可用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640080"/>
          </a:xfrm>
          <a:prstGeom prst="rect">
            <a:avLst/>
          </a:prstGeom>
          <a:noFill/>
        </p:spPr>
        <p:txBody>
          <a:bodyPr wrap="square">
            <a:spAutoFit/>
          </a:bodyPr>
          <a:lstStyle/>
          <a:p>
            <a:pPr algn="l">
              <a:defRPr sz="3200" b="1">
                <a:solidFill>
                  <a:srgbClr val="FFFFFF"/>
                </a:solidFill>
                <a:latin typeface="Microsoft YaHei"/>
              </a:defRPr>
            </a:pPr>
            <a:r>
              <a:t>参考文献与资源</a:t>
            </a:r>
          </a:p>
        </p:txBody>
      </p:sp>
      <p:sp>
        <p:nvSpPr>
          <p:cNvPr id="4" name="Rectangle 3"/>
          <p:cNvSpPr/>
          <p:nvPr/>
        </p:nvSpPr>
        <p:spPr>
          <a:xfrm>
            <a:off x="731520" y="1005840"/>
            <a:ext cx="1828800" cy="3810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365760"/>
          </a:xfrm>
          <a:prstGeom prst="rect">
            <a:avLst/>
          </a:prstGeom>
          <a:noFill/>
        </p:spPr>
        <p:txBody>
          <a:bodyPr wrap="square">
            <a:spAutoFit/>
          </a:bodyPr>
          <a:lstStyle/>
          <a:p>
            <a:pPr algn="l">
              <a:defRPr sz="1400" b="0">
                <a:solidFill>
                  <a:srgbClr val="BBBBBB"/>
                </a:solidFill>
                <a:latin typeface="Microsoft YaHei"/>
              </a:defRPr>
            </a:pPr>
            <a:r>
              <a:t>REFERENCES &amp; RESOURCES</a:t>
            </a:r>
          </a:p>
        </p:txBody>
      </p:sp>
      <p:sp>
        <p:nvSpPr>
          <p:cNvPr id="6" name="TextBox 5"/>
          <p:cNvSpPr txBox="1"/>
          <p:nvPr/>
        </p:nvSpPr>
        <p:spPr>
          <a:xfrm>
            <a:off x="731520" y="1645920"/>
            <a:ext cx="10698480" cy="4389120"/>
          </a:xfrm>
          <a:prstGeom prst="rect">
            <a:avLst/>
          </a:prstGeom>
          <a:noFill/>
        </p:spPr>
        <p:txBody>
          <a:bodyPr wrap="square">
            <a:spAutoFit/>
          </a:bodyPr>
          <a:lstStyle/>
          <a:p>
            <a:pPr>
              <a:spcAft>
                <a:spcPts val="960"/>
              </a:spcAft>
              <a:defRPr sz="1200">
                <a:solidFill>
                  <a:srgbClr val="2C3E50"/>
                </a:solidFill>
                <a:latin typeface="Microsoft YaHei"/>
              </a:defRPr>
            </a:pPr>
            <a:r>
              <a:t>[1] ERDES: Eye Retinal DEtachment UltraSound — An Open Video Dataset and Deep Learning Benchmark. arXiv: 2508.04735, 2025.</a:t>
            </a:r>
          </a:p>
          <a:p>
            <a:pPr>
              <a:spcAft>
                <a:spcPts val="960"/>
              </a:spcAft>
              <a:defRPr sz="1200">
                <a:solidFill>
                  <a:srgbClr val="2C3E50"/>
                </a:solidFill>
                <a:latin typeface="Microsoft YaHei"/>
              </a:defRPr>
            </a:pPr>
            <a:r>
              <a:t>[2] Çiçek et al. 3D U-Net: Learning Dense Volumetric Segmentation from Sparse Annotation. MICCAI 2016.</a:t>
            </a:r>
          </a:p>
          <a:p>
            <a:pPr>
              <a:spcAft>
                <a:spcPts val="960"/>
              </a:spcAft>
              <a:defRPr sz="1200">
                <a:solidFill>
                  <a:srgbClr val="2C3E50"/>
                </a:solidFill>
                <a:latin typeface="Microsoft YaHei"/>
              </a:defRPr>
            </a:pPr>
            <a:r>
              <a:t>[3] Zhou et al. UNet++: Redesigning Skip Connections to Exploit Multiscale Features. IEEE TMI 2020.</a:t>
            </a:r>
          </a:p>
          <a:p>
            <a:pPr>
              <a:spcAft>
                <a:spcPts val="960"/>
              </a:spcAft>
              <a:defRPr sz="1200">
                <a:solidFill>
                  <a:srgbClr val="2C3E50"/>
                </a:solidFill>
                <a:latin typeface="Microsoft YaHei"/>
              </a:defRPr>
            </a:pPr>
            <a:r>
              <a:t>[4] Milletari et al. V-Net: Fully Convolutional Neural Networks for Volumetric Medical Image Segmentation. 3DV 2016.</a:t>
            </a:r>
          </a:p>
          <a:p>
            <a:pPr>
              <a:spcAft>
                <a:spcPts val="960"/>
              </a:spcAft>
              <a:defRPr sz="1200">
                <a:solidFill>
                  <a:srgbClr val="2C3E50"/>
                </a:solidFill>
                <a:latin typeface="Microsoft YaHei"/>
              </a:defRPr>
            </a:pPr>
            <a:r>
              <a:t>[5] Hatamizadeh et al. Swin UNETR: Swin Transformers for Semantic Segmentation of Brain Tumors in MRI Images. 2022.</a:t>
            </a:r>
          </a:p>
          <a:p>
            <a:pPr>
              <a:spcAft>
                <a:spcPts val="960"/>
              </a:spcAft>
              <a:defRPr sz="1200">
                <a:solidFill>
                  <a:srgbClr val="2C3E50"/>
                </a:solidFill>
                <a:latin typeface="Microsoft YaHei"/>
              </a:defRPr>
            </a:pPr>
            <a:r>
              <a:t>[6] Hatamizadeh et al. UNETR: Transformers for 3D Medical Image Segmentation. WACV 2022.</a:t>
            </a:r>
          </a:p>
          <a:p>
            <a:pPr>
              <a:spcAft>
                <a:spcPts val="960"/>
              </a:spcAft>
              <a:defRPr sz="1200">
                <a:solidFill>
                  <a:srgbClr val="2C3E50"/>
                </a:solidFill>
                <a:latin typeface="Microsoft YaHei"/>
              </a:defRPr>
            </a:pPr>
            <a:r>
              <a:t>[7] He et al. Deep Residual Learning for Image Recognition. CVPR 2016.</a:t>
            </a:r>
          </a:p>
          <a:p>
            <a:pPr>
              <a:spcAft>
                <a:spcPts val="960"/>
              </a:spcAft>
              <a:defRPr sz="1200">
                <a:solidFill>
                  <a:srgbClr val="2C3E50"/>
                </a:solidFill>
                <a:latin typeface="Microsoft YaHei"/>
              </a:defRPr>
            </a:pPr>
            <a:r>
              <a:t>[8] Hu et al. Squeeze-and-Excitation Networks. CVPR 2018.</a:t>
            </a:r>
          </a:p>
          <a:p>
            <a:pPr>
              <a:spcAft>
                <a:spcPts val="960"/>
              </a:spcAft>
              <a:defRPr sz="1200">
                <a:solidFill>
                  <a:srgbClr val="2C3E50"/>
                </a:solidFill>
                <a:latin typeface="Microsoft YaHei"/>
              </a:defRPr>
            </a:pPr>
            <a:r>
              <a:t>[9] Dosovitskiy et al. An Image is Worth 16x16 Words: Transformers for Image Recognition at Scale. ICLR 2021.</a:t>
            </a:r>
          </a:p>
        </p:txBody>
      </p:sp>
      <p:sp>
        <p:nvSpPr>
          <p:cNvPr id="7" name="Rectangle 6"/>
          <p:cNvSpPr/>
          <p:nvPr/>
        </p:nvSpPr>
        <p:spPr>
          <a:xfrm>
            <a:off x="457200" y="5029200"/>
            <a:ext cx="11247120" cy="13716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120640"/>
            <a:ext cx="10698480" cy="274320"/>
          </a:xfrm>
          <a:prstGeom prst="rect">
            <a:avLst/>
          </a:prstGeom>
          <a:noFill/>
        </p:spPr>
        <p:txBody>
          <a:bodyPr wrap="square">
            <a:spAutoFit/>
          </a:bodyPr>
          <a:lstStyle/>
          <a:p>
            <a:pPr algn="l">
              <a:defRPr sz="1800" b="1">
                <a:solidFill>
                  <a:srgbClr val="FFFFFF"/>
                </a:solidFill>
                <a:latin typeface="Microsoft YaHei"/>
              </a:defRPr>
            </a:pPr>
            <a:r>
              <a:t>项目资源</a:t>
            </a:r>
          </a:p>
        </p:txBody>
      </p:sp>
      <p:sp>
        <p:nvSpPr>
          <p:cNvPr id="9" name="TextBox 8"/>
          <p:cNvSpPr txBox="1"/>
          <p:nvPr/>
        </p:nvSpPr>
        <p:spPr>
          <a:xfrm>
            <a:off x="731520" y="5486400"/>
            <a:ext cx="10698480" cy="822960"/>
          </a:xfrm>
          <a:prstGeom prst="rect">
            <a:avLst/>
          </a:prstGeom>
          <a:noFill/>
        </p:spPr>
        <p:txBody>
          <a:bodyPr wrap="square">
            <a:spAutoFit/>
          </a:bodyPr>
          <a:lstStyle/>
          <a:p>
            <a:pPr>
              <a:spcAft>
                <a:spcPts val="1040"/>
              </a:spcAft>
              <a:defRPr sz="1300" b="1">
                <a:solidFill>
                  <a:srgbClr val="CCCCCC"/>
                </a:solidFill>
                <a:latin typeface="Microsoft YaHei"/>
              </a:defRPr>
            </a:pPr>
            <a:r>
              <a:t>项目主页: https://osupcvlab.github.io/ERDES/    数据集: HuggingFace (pcvlab/erdes) / Zenodo    模型权重: HuggingFace / Zenodo</a:t>
            </a:r>
          </a:p>
          <a:p>
            <a:pPr>
              <a:spcAft>
                <a:spcPts val="1040"/>
              </a:spcAft>
              <a:defRPr sz="1300">
                <a:solidFill>
                  <a:srgbClr val="CCCCCC"/>
                </a:solidFill>
                <a:latin typeface="Microsoft YaHei"/>
              </a:defRPr>
            </a:pPr>
            <a:r>
              <a:t>代码仓库: github.com/OSUPCVLab/ERDES    YOLOv8眼球检测: HuggingFace (pcvlab/yolov8_ocular_ultrasound_globe_detection)</a:t>
            </a:r>
          </a:p>
        </p:txBody>
      </p:sp>
      <p:sp>
        <p:nvSpPr>
          <p:cNvPr id="10" name="TextBox 9"/>
          <p:cNvSpPr txBox="1"/>
          <p:nvPr/>
        </p:nvSpPr>
        <p:spPr>
          <a:xfrm>
            <a:off x="914400" y="6217920"/>
            <a:ext cx="10332720" cy="548640"/>
          </a:xfrm>
          <a:prstGeom prst="rect">
            <a:avLst/>
          </a:prstGeom>
          <a:noFill/>
        </p:spPr>
        <p:txBody>
          <a:bodyPr wrap="square">
            <a:spAutoFit/>
          </a:bodyPr>
          <a:lstStyle/>
          <a:p>
            <a:pPr algn="ctr">
              <a:defRPr sz="2800" b="1">
                <a:solidFill>
                  <a:srgbClr val="1B2A4A"/>
                </a:solidFill>
                <a:latin typeface="Microsoft YaHei"/>
              </a:defRPr>
            </a:pPr>
            <a:r>
              <a:t>谢谢！欢迎提问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